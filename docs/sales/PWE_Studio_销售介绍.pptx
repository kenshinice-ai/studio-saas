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5887489c24032" /><Relationship Type="http://schemas.openxmlformats.org/officeDocument/2006/relationships/extended-properties" Target="/docProps/app.xml" Id="R9dd98908ee37410b" /><Relationship Type="http://schemas.openxmlformats.org/officeDocument/2006/relationships/officeDocument" Target="/ppt/presentation.xml" Id="R86706820f6b8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2b20a5f0c748df"/>
  </p:sldMasterIdLst>
  <p:notesMasterIdLst>
    <p:notesMasterId xmlns:r="http://schemas.openxmlformats.org/officeDocument/2006/relationships" r:id="Rb17e84c6569d4698"/>
  </p:notesMasterIdLst>
  <p:sldIdLst>
    <p:sldId xmlns:r="http://schemas.openxmlformats.org/officeDocument/2006/relationships" id="256" r:id="R4888732682024eaa"/>
    <p:sldId xmlns:r="http://schemas.openxmlformats.org/officeDocument/2006/relationships" id="257" r:id="R15edc54423734500"/>
    <p:sldId xmlns:r="http://schemas.openxmlformats.org/officeDocument/2006/relationships" id="258" r:id="Rd432f1c85906474e"/>
    <p:sldId xmlns:r="http://schemas.openxmlformats.org/officeDocument/2006/relationships" id="259" r:id="Rc275ce9edace452e"/>
    <p:sldId xmlns:r="http://schemas.openxmlformats.org/officeDocument/2006/relationships" id="260" r:id="R0bbce01842314e50"/>
    <p:sldId xmlns:r="http://schemas.openxmlformats.org/officeDocument/2006/relationships" id="261" r:id="R63b59d77d8534af0"/>
    <p:sldId xmlns:r="http://schemas.openxmlformats.org/officeDocument/2006/relationships" id="262" r:id="Rc6d3e93a849e4aa1"/>
    <p:sldId xmlns:r="http://schemas.openxmlformats.org/officeDocument/2006/relationships" id="263" r:id="R3864a8e109fd4671"/>
    <p:sldId xmlns:r="http://schemas.openxmlformats.org/officeDocument/2006/relationships" id="264" r:id="R9e6ece1d12a54403"/>
    <p:sldId xmlns:r="http://schemas.openxmlformats.org/officeDocument/2006/relationships" id="265" r:id="Rd911b598dfb04c5f"/>
    <p:sldId xmlns:r="http://schemas.openxmlformats.org/officeDocument/2006/relationships" id="266" r:id="R92ce274b27b54659"/>
    <p:sldId xmlns:r="http://schemas.openxmlformats.org/officeDocument/2006/relationships" id="267" r:id="R0032ec9a9c414fbf"/>
    <p:sldId xmlns:r="http://schemas.openxmlformats.org/officeDocument/2006/relationships" id="268" r:id="Rfa4ee595a7d9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1c90f4c64143f4" /><Relationship Type="http://schemas.openxmlformats.org/officeDocument/2006/relationships/slideMaster" Target="/ppt/slideMasters/slideMaster1.xml" Id="R992b20a5f0c748df" /><Relationship Type="http://schemas.openxmlformats.org/officeDocument/2006/relationships/notesMaster" Target="/ppt/notesMasters/notesMaster1.xml" Id="Rb17e84c6569d4698" /><Relationship Type="http://schemas.openxmlformats.org/officeDocument/2006/relationships/presProps" Target="/ppt/presProps.xml" Id="Rfa1581979d3a4422" /><Relationship Type="http://schemas.openxmlformats.org/officeDocument/2006/relationships/viewProps" Target="/ppt/viewProps.xml" Id="R5a917fff87184593" /><Relationship Type="http://schemas.openxmlformats.org/officeDocument/2006/relationships/tableStyles" Target="/ppt/tableStyles.xml" Id="R6f689d4910304434" /><Relationship Type="http://schemas.openxmlformats.org/officeDocument/2006/relationships/slide" Target="/ppt/slides/slide1.xml" Id="R4888732682024eaa" /><Relationship Type="http://schemas.openxmlformats.org/officeDocument/2006/relationships/slide" Target="/ppt/slides/slide2.xml" Id="R15edc54423734500" /><Relationship Type="http://schemas.openxmlformats.org/officeDocument/2006/relationships/slide" Target="/ppt/slides/slide3.xml" Id="Rd432f1c85906474e" /><Relationship Type="http://schemas.openxmlformats.org/officeDocument/2006/relationships/slide" Target="/ppt/slides/slide4.xml" Id="Rc275ce9edace452e" /><Relationship Type="http://schemas.openxmlformats.org/officeDocument/2006/relationships/slide" Target="/ppt/slides/slide5.xml" Id="R0bbce01842314e50" /><Relationship Type="http://schemas.openxmlformats.org/officeDocument/2006/relationships/slide" Target="/ppt/slides/slide6.xml" Id="R63b59d77d8534af0" /><Relationship Type="http://schemas.openxmlformats.org/officeDocument/2006/relationships/slide" Target="/ppt/slides/slide7.xml" Id="Rc6d3e93a849e4aa1" /><Relationship Type="http://schemas.openxmlformats.org/officeDocument/2006/relationships/slide" Target="/ppt/slides/slide8.xml" Id="R3864a8e109fd4671" /><Relationship Type="http://schemas.openxmlformats.org/officeDocument/2006/relationships/slide" Target="/ppt/slides/slide9.xml" Id="R9e6ece1d12a54403" /><Relationship Type="http://schemas.openxmlformats.org/officeDocument/2006/relationships/slide" Target="/ppt/slides/slide10.xml" Id="Rd911b598dfb04c5f" /><Relationship Type="http://schemas.openxmlformats.org/officeDocument/2006/relationships/slide" Target="/ppt/slides/slide11.xml" Id="R92ce274b27b54659" /><Relationship Type="http://schemas.openxmlformats.org/officeDocument/2006/relationships/slide" Target="/ppt/slides/slide12.xml" Id="R0032ec9a9c414fbf" /><Relationship Type="http://schemas.openxmlformats.org/officeDocument/2006/relationships/slide" Target="/ppt/slides/slide13.xml" Id="Rfa4ee595a7d9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ec449f6df645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PWE Studio Family">
      <a:dk1>
        <a:srgbClr val="000000"/>
      </a:dk1>
      <a:lt1>
        <a:srgbClr val="FFFFFF"/>
      </a:lt1>
      <a:dk2>
        <a:srgbClr val="16233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5B335"/>
      </a:accent4>
      <a:accent5>
        <a:srgbClr val="5B9BD5"/>
      </a:accent5>
      <a:accent6>
        <a:srgbClr val="70AD47"/>
      </a:accent6>
      <a:hlink>
        <a:srgbClr val="2563EB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WE Studio Famil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b76771cb4e4a50" /><Relationship Type="http://schemas.openxmlformats.org/officeDocument/2006/relationships/notesMaster" Target="/ppt/notesMasters/notesMaster1.xml" Id="R5a8d1d8396df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542e1cfe3c458d" /><Relationship Type="http://schemas.openxmlformats.org/officeDocument/2006/relationships/notesMaster" Target="/ppt/notesMasters/notesMaster1.xml" Id="Rc5cec05d144e48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33296a969446c0" /><Relationship Type="http://schemas.openxmlformats.org/officeDocument/2006/relationships/notesMaster" Target="/ppt/notesMasters/notesMaster1.xml" Id="Raae88a35445d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45a4544e443e6" /><Relationship Type="http://schemas.openxmlformats.org/officeDocument/2006/relationships/notesMaster" Target="/ppt/notesMasters/notesMaster1.xml" Id="R3558db8d80ac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d47cb99c5454e" /><Relationship Type="http://schemas.openxmlformats.org/officeDocument/2006/relationships/notesMaster" Target="/ppt/notesMasters/notesMaster1.xml" Id="Ra1dc1a62314f42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929651c4b043b8" /><Relationship Type="http://schemas.openxmlformats.org/officeDocument/2006/relationships/notesMaster" Target="/ppt/notesMasters/notesMaster1.xml" Id="R3466e92edda5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1b9316682432a" /><Relationship Type="http://schemas.openxmlformats.org/officeDocument/2006/relationships/notesMaster" Target="/ppt/notesMasters/notesMaster1.xml" Id="Rab1eb973ae124a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72522468714cc3" /><Relationship Type="http://schemas.openxmlformats.org/officeDocument/2006/relationships/notesMaster" Target="/ppt/notesMasters/notesMaster1.xml" Id="Rdf3d5f24bc8d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33dcb6d45149ec" /><Relationship Type="http://schemas.openxmlformats.org/officeDocument/2006/relationships/notesMaster" Target="/ppt/notesMasters/notesMaster1.xml" Id="R459d6f0073ef43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6b52a41d434b68" /><Relationship Type="http://schemas.openxmlformats.org/officeDocument/2006/relationships/notesMaster" Target="/ppt/notesMasters/notesMaster1.xml" Id="R188c78e5e62c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97876f257a4e10" /><Relationship Type="http://schemas.openxmlformats.org/officeDocument/2006/relationships/notesMaster" Target="/ppt/notesMasters/notesMaster1.xml" Id="R7608256a1d1444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b9d347c12248a8" /><Relationship Type="http://schemas.openxmlformats.org/officeDocument/2006/relationships/notesMaster" Target="/ppt/notesMasters/notesMaster1.xml" Id="R497caa40d2ca4e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cd779756fa4639" /><Relationship Type="http://schemas.openxmlformats.org/officeDocument/2006/relationships/notesMaster" Target="/ppt/notesMasters/notesMaster1.xml" Id="R5e69dd04ced4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 BRAND ASSETS/brand-tokens.json</a:t>
            </a:r>
          </a:p>
          <a:p xmlns:a="http://schemas.openxmlformats.org/drawingml/2006/main">
            <a:r>
              <a:t>- 01 BRAND ASSETS/logo/lockup-C-on-navy.svg</a:t>
            </a:r>
          </a:p>
          <a:p xmlns:a="http://schemas.openxmlformats.org/drawingml/2006/main">
            <a:r>
              <a:t>- docs/design/brand/render_assets.py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共情页:先让对方点头——每张卡都是被偷走的时间或信任。四个痛点对应后面四个能力页(询问→家庭端,对账→账本,纸条→权限留痕,作品墙→门户+品牌)。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架构页:四个界面职责分明——获客(门户/报名)、运营(CMS)、品牌(Studio Admin)。平台控制台顺带引出隐私卖点。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卖点:官网不是模板站,是和运营打通的获客入口——报名直接进 CMS 审核队列,来源自动归因。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对比微信接龙:字段完整、防刷防重、有审核队列。转为学员后自动进入课时体系,是和 Excel 最大的差别。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核心差异:课时是账本不是格子。Excel 里数字可以被覆盖,这里每一笔都是流水+审计,家长质疑时可以逐条对账。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面向店主的安心感:钱和课时的动作全部有角色边界+审计。七种角色开箱即用,老师看不到财务,前台不能退费。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演示钩子:现场选行业模板,10 秒换一套主题。强调不写定制代码也能像定制——这是 setup 费能落地的原因之一。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前台最大的时间黑洞是重复答疑。访问码自助区把「还剩几节课」变成家长自己查,同时是隐私安全的:短会话+可撤销。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回答「数据安全吗」:三层——租户隔离(201 项测试)、角色权限+审计、未成年人同意链。平台方自己也被审计,这点别家很少做到。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锚定:Studio 99 是主推档。Setup 费用当场解释为「替你把系统装好、数据搬好、人教会」——见下一页流程。所有价格均为澳元。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化解 setup fee 异议:这不是软件费,是交付服务费——配置、迁移、培训都是人力交付。迁移只保留核心数据,干净上线。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 BRAND ASSETS/brand-tokens.json</a:t>
            </a:r>
          </a:p>
          <a:p xmlns:a="http://schemas.openxmlformats.org/drawingml/2006/main">
            <a:r>
              <a:t>- 01 BRAND ASSETS/logo/lockup-C-on-navy.svg</a:t>
            </a:r>
          </a:p>
          <a:p xmlns:a="http://schemas.openxmlformats.org/drawingml/2006/main">
            <a:r>
              <a:t>- docs/design/brand/render_assets.py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992ab7bc5424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34acb70a94330" /><Relationship Type="http://schemas.openxmlformats.org/officeDocument/2006/relationships/slideLayout" Target="/ppt/slideLayouts/slideLayout1.xml" Id="Re810a018bc924d5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0a018bc924d5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8d722bd334dc9" /><Relationship Type="http://schemas.openxmlformats.org/officeDocument/2006/relationships/image" Target="/ppt/media/image.png" Id="R3387ed0219e54338" /><Relationship Type="http://schemas.openxmlformats.org/officeDocument/2006/relationships/image" Target="/ppt/media/image2.png" Id="Rdc3b9567799c486f" /><Relationship Type="http://schemas.openxmlformats.org/officeDocument/2006/relationships/notesSlide" Target="/ppt/notesSlides/notesSlide1.xml" Id="R8059e841c8a7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b125300cd4ee6" /><Relationship Type="http://schemas.openxmlformats.org/officeDocument/2006/relationships/image" Target="/ppt/media/image3.png" Id="R66fb5340eedc41bb" /><Relationship Type="http://schemas.openxmlformats.org/officeDocument/2006/relationships/image" Target="/ppt/media/image4.png" Id="R30197a5a19e84ee7" /><Relationship Type="http://schemas.openxmlformats.org/officeDocument/2006/relationships/image" Target="/ppt/media/image5.png" Id="R6803c0abd8444be2" /><Relationship Type="http://schemas.openxmlformats.org/officeDocument/2006/relationships/image" Target="/ppt/media/image6.png" Id="R69beeb28a0534cd9" /><Relationship Type="http://schemas.openxmlformats.org/officeDocument/2006/relationships/notesSlide" Target="/ppt/notesSlides/notesSlide2.xml" Id="Rd8540bf641da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db923b1f4676" /><Relationship Type="http://schemas.openxmlformats.org/officeDocument/2006/relationships/image" Target="/ppt/media/image7.png" Id="R9b8bc27e39314bce" /><Relationship Type="http://schemas.openxmlformats.org/officeDocument/2006/relationships/image" Target="/ppt/media/image8.png" Id="Rd8c3c3da616d4b19" /><Relationship Type="http://schemas.openxmlformats.org/officeDocument/2006/relationships/image" Target="/ppt/media/image9.png" Id="Ref7d51cddc534cee" /><Relationship Type="http://schemas.openxmlformats.org/officeDocument/2006/relationships/image" Target="/ppt/media/image10.png" Id="R5f1f3bb21ab54437" /><Relationship Type="http://schemas.openxmlformats.org/officeDocument/2006/relationships/image" Target="/ppt/media/image11.png" Id="Rc6f3948235094962" /><Relationship Type="http://schemas.openxmlformats.org/officeDocument/2006/relationships/notesSlide" Target="/ppt/notesSlides/notesSlide3.xml" Id="Rfb6bd685902e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668a7538e4627" /><Relationship Type="http://schemas.openxmlformats.org/officeDocument/2006/relationships/image" Target="/ppt/media/image12.png" Id="Redac7d2aa1064ad7" /><Relationship Type="http://schemas.openxmlformats.org/officeDocument/2006/relationships/notesSlide" Target="/ppt/notesSlides/notesSlide4.xml" Id="R1072d9d972064e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bdf7d81d04b13" /><Relationship Type="http://schemas.openxmlformats.org/officeDocument/2006/relationships/image" Target="/ppt/media/image13.png" Id="R544a87dda03444b1" /><Relationship Type="http://schemas.openxmlformats.org/officeDocument/2006/relationships/image" Target="/ppt/media/image14.png" Id="R73bb732e6f164147" /><Relationship Type="http://schemas.openxmlformats.org/officeDocument/2006/relationships/image" Target="/ppt/media/image15.png" Id="R731e97be611e4f3c" /><Relationship Type="http://schemas.openxmlformats.org/officeDocument/2006/relationships/image" Target="/ppt/media/image16.png" Id="R6dd42e9cce824ac2" /><Relationship Type="http://schemas.openxmlformats.org/officeDocument/2006/relationships/notesSlide" Target="/ppt/notesSlides/notesSlide5.xml" Id="R0a14ae6c27d34e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1cc5323ff4cce" /><Relationship Type="http://schemas.openxmlformats.org/officeDocument/2006/relationships/image" Target="/ppt/media/image17.png" Id="R9bf18ab689724b20" /><Relationship Type="http://schemas.openxmlformats.org/officeDocument/2006/relationships/image" Target="/ppt/media/image18.png" Id="R7ea340c108304ad1" /><Relationship Type="http://schemas.openxmlformats.org/officeDocument/2006/relationships/notesSlide" Target="/ppt/notesSlides/notesSlide6.xml" Id="Rba788197c6c0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53b69854943b3" /><Relationship Type="http://schemas.openxmlformats.org/officeDocument/2006/relationships/image" Target="/ppt/media/image19.png" Id="R4353113d94a54842" /><Relationship Type="http://schemas.openxmlformats.org/officeDocument/2006/relationships/image" Target="/ppt/media/image20.png" Id="Ree5cb2a6391045c9" /><Relationship Type="http://schemas.openxmlformats.org/officeDocument/2006/relationships/image" Target="/ppt/media/image21.png" Id="R7e01eaff6cb346f5" /><Relationship Type="http://schemas.openxmlformats.org/officeDocument/2006/relationships/notesSlide" Target="/ppt/notesSlides/notesSlide7.xml" Id="R187422af946e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5622655c94036" /><Relationship Type="http://schemas.openxmlformats.org/officeDocument/2006/relationships/notesSlide" Target="/ppt/notesSlides/notesSlide8.xml" Id="R59bc70045c8148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24590c2b74438" /><Relationship Type="http://schemas.openxmlformats.org/officeDocument/2006/relationships/notesSlide" Target="/ppt/notesSlides/notesSlide9.xml" Id="Ra2af170540de4c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b3b5db4404f6d" /><Relationship Type="http://schemas.openxmlformats.org/officeDocument/2006/relationships/notesSlide" Target="/ppt/notesSlides/notesSlide10.xml" Id="R415228dc93704b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cbdb5fdc4c0b" /><Relationship Type="http://schemas.openxmlformats.org/officeDocument/2006/relationships/notesSlide" Target="/ppt/notesSlides/notesSlide11.xml" Id="Rd208821c846e43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cb952476b4a3e" /><Relationship Type="http://schemas.openxmlformats.org/officeDocument/2006/relationships/image" Target="/ppt/media/image22.png" Id="R9f877e28735e4ffe" /><Relationship Type="http://schemas.openxmlformats.org/officeDocument/2006/relationships/image" Target="/ppt/media/image23.png" Id="Rb469306608f04a98" /><Relationship Type="http://schemas.openxmlformats.org/officeDocument/2006/relationships/image" Target="/ppt/media/image24.png" Id="Rbf63d3a670614378" /><Relationship Type="http://schemas.openxmlformats.org/officeDocument/2006/relationships/image" Target="/ppt/media/image25.png" Id="R84500521e5284828" /><Relationship Type="http://schemas.openxmlformats.org/officeDocument/2006/relationships/notesSlide" Target="/ppt/notesSlides/notesSlide12.xml" Id="Rc562a855d8de4d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7d76a5d524273" /><Relationship Type="http://schemas.openxmlformats.org/officeDocument/2006/relationships/image" Target="/ppt/media/image26.png" Id="Rc7717a766cf04b25" /><Relationship Type="http://schemas.openxmlformats.org/officeDocument/2006/relationships/image" Target="/ppt/media/image27.png" Id="R1476b74b7b5a4ae8" /><Relationship Type="http://schemas.openxmlformats.org/officeDocument/2006/relationships/notesSlide" Target="/ppt/notesSlides/notesSlide13.xml" Id="R310d23442db4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2A9690-566C-4CDE-B775-CE67FCC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960120"/>
            <a:ext cx="1737360" cy="173736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94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2645126-6E1B-4A29-A937-E20FEFF0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2880360"/>
            <a:ext cx="777240" cy="77724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70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0A43E6-B52C-4017-855F-EC015FB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931920"/>
            <a:ext cx="384048" cy="384048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55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E0065D-3E12-4BA6-B078-2725AFE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1840"/>
            <a:ext cx="237744" cy="237744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45000"/>
            </a:srgbClr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7ed0219e54338"/>
          <a:stretch xmlns:a="http://schemas.openxmlformats.org/drawingml/2006/main"/>
        </p:blipFill>
        <p:spPr>
          <a:xfrm xmlns:a="http://schemas.openxmlformats.org/drawingml/2006/main" flipH="0" flipV="0">
            <a:off x="822960" y="777240"/>
            <a:ext cx="2651760" cy="67288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8346B16-0407-41B6-8CE0-42F9416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8778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把时间还给创作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9D366E1-ED96-4661-87C4-55C3B32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CBD5E1"/>
                </a:solidFill>
                <a:latin typeface="Arial"/>
                <a:ea typeface="Arial"/>
                <a:cs typeface="Arial"/>
              </a:rPr>
              <a:t>官网获客 · 在线报名 · 课时账本 · 品牌门面 —— 琐事交给系统,你回到教室与作品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A8FB5C-8CB0-455D-86D4-55128990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41648"/>
            <a:ext cx="8961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创意工作室的一体化操作系统 · 面向美术 / 音乐 / 舞蹈工作室与培训机构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D54994-E167-4328-BB1B-0EBFA79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120140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3901F8-9FF2-49AA-9923-C4B1CB7B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1201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多租户隔离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314C81A-745C-47EE-8990-38DBF84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0640"/>
            <a:ext cx="978408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C882B88-76AF-41F7-9BA3-DDDF9EEB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0640"/>
            <a:ext cx="97840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中英双语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5429D1D-FED7-4F76-9B0A-B091569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8" y="5120640"/>
            <a:ext cx="1970532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D9FEF32-55FA-41E3-8C40-CD440212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8" y="5120640"/>
            <a:ext cx="19705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四个界面 · 一个后台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3CBF534-4E76-4DD1-9656-D4F064D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20640"/>
            <a:ext cx="1261872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925F745-5B4C-4ADA-8163-683D2865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20640"/>
            <a:ext cx="12618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v7.8.0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FFC8200-5FE1-46CD-8EE3-EFA3F13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6364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PWE Studio · 销售介绍 · 2026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b9567799c486f"/>
          <a:stretch xmlns:a="http://schemas.openxmlformats.org/drawingml/2006/main"/>
        </p:blipFill>
        <p:spPr>
          <a:xfrm xmlns:a="http://schemas.openxmlformats.org/drawingml/2006/main">
            <a:off x="8763000" y="5963841"/>
            <a:ext cx="2590800" cy="607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0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E3C5C3-B1A3-4B11-AC11-0906895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28A32C-8EB0-403B-B23C-222DF0CE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现状与痛点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4CC4F8-B732-4D69-9DE0-D277181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你的才华,不该耗在台账和聊天记录里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C7F573-D83D-47CA-BD22-7C934B6D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7F19B12-CEB3-4C06-8969-EF33DB4B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416052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6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开工作室,是因为热爱创作与教学。</a:t>
            </a:r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没有人是为了对账、催费、翻聊天记录才创业的。可行政琐事每天都在偷时间——偷走的,本该属于作品和学生。</a:t>
            </a:r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40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“一个老师,三四个工具,没有一个是为工作室设计的。”</a:t>
            </a:r>
          </a:p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把琐事交出去,把时间拿回来。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BE2181-7754-4D45-A215-4816238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558E7E-E968-4702-85DC-456C430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3591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b5340eedc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8859" y="248277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80E7A2-50B2-4A1B-8240-85A9046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7744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被打断的排练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A2C28F1-5846-4FB6-B74C-512AC0FE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01752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『还剩几节课?』一句询问,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要翻三个月的群记录才答得上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B93551-199E-4C3F-874E-E196629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10312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8EB01EE-D2DE-446D-8745-F296BB3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591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97a5a19e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6419" y="248277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3319601-618C-4B36-BEBE-8C1FFCB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37744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深夜的对账表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71C71C3-E8E0-4031-8C79-4646B9A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1752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白天上课,晚上核 Excel,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吃掉的是备课和新作品的时间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B7E083C-D786-4482-86C0-E7671876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1B39BDC-7E80-4231-817A-52E2EE8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3708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3c0abd8444b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8859" y="449445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4A2CD976-CB76-40F8-B70D-036611F1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38912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经不起丢的纸条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551294B-9106-4178-9C3D-E151D07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2920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收据在抽屉、承诺在口头,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家长的信任不该系在一张纸上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98F58032-F986-4A07-877F-6C8116E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11480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CFA11C0E-7F0E-46B2-8440-4852620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eeb28a053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6419" y="449445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D1CEB2B-D604-4DCE-A71B-105F464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8912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看不见的作品墙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04E5DDE9-723F-4F1C-9D47-E8C5388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502920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作品攒了一屋子,线上无处可看,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新学员只能靠转介绍</a:t>
            </a:r>
          </a:p>
        </p:txBody>
      </p:sp>
    </p:spTree>
    <p:extLst>
      <p:ext uri="{BB962C8B-B14F-4D97-AF65-F5344CB8AC3E}">
        <p14:creationId xmlns:p14="http://schemas.microsoft.com/office/powerpoint/2010/main" val="1665797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D971B3-922C-4E35-8173-348F359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04FEED-7165-454B-8E30-36FFB734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产品总览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D94F1C-E70F-4AC3-8AFF-18A5E1A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台前是你的品牌,幕后是一个系统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C152E3-1639-4D62-9688-712FFBD0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C3866D2-CD77-4054-A837-02531572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A4CE78-EDE6-4C2F-97AD-A2C95C8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bc27e39314b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809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194D1A0-FA46-46E1-AE40-1538701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门户 Portal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29EB7B-A561-4538-BC5B-8BBD641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5AB6814-BC88-4A18-B8C7-0E8185C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公开官网:课程 · 作品集 · FAQ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页内直接报名,不跳转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学员自助区入口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2791A9-3197-42D2-BDF8-DB6D82B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0563E3-8203-470B-845C-9862FFAC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3c3da616d4b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1593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6263AF6-0F8E-4790-82BA-9A6FE88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快速报名 Register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D7C0BB3-37A6-44F8-A30F-18548B0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/&lt;机构名&gt;/register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CE7E40-5515-4939-AD04-15A300CC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独立报名页,可扫码直达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机构自定义报名问题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与门户共用同一审核流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C31E7DD-3752-495F-8E25-01D9E59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2DF18F4-C036-45B7-BDEA-2B84B11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d51cddc53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5377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710EBA34-3B57-4407-A1E2-BA2CD39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运营 CMS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DDC9BF04-88AA-4BD9-B728-FD27CC4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/&lt;机构名&gt;/cms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C6499FC5-5629-4D46-9931-66022AA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 · 排课 · 签到 · 课时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收退费 · 报名审核 · 日志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作品集与数据统计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DBBF541-18ED-457E-B184-D6E474C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6B94FC70-A55A-49A4-AE41-7C36064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f3bb21ab5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9161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B67D39E-4A2A-4BDE-A3FA-D51902D2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品牌工作台 Studio Admin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4D08D27C-0D17-4DA7-AAC0-B91B5BE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/&lt;机构名&gt;/studio-admin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59C3B4F-5537-495D-B526-9A50B54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Logo · 配色 · 双语文案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报名字段配置与预览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草稿 → 发布 → 版本回滚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AC73118-C98A-4AD7-A535-7BF087A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91672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75B3F4EB-CC77-43E2-9DB6-705A354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55A"/>
          </a:solidFill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39482350949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817" y="529949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E0E556C9-496C-49E5-B01B-6CBF30FC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01768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 Admin · 商业控制台(平台侧)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CBB73B64-F39C-44CE-9B15-4D0B457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85816"/>
            <a:ext cx="9784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租户开通 / 套餐与账单 / 用量监控 / 审计日志 —— 平台方不接触学员敏感数据,进店必须走留痕的支持模式</a:t>
            </a:r>
          </a:p>
        </p:txBody>
      </p:sp>
    </p:spTree>
    <p:extLst>
      <p:ext uri="{BB962C8B-B14F-4D97-AF65-F5344CB8AC3E}">
        <p14:creationId xmlns:p14="http://schemas.microsoft.com/office/powerpoint/2010/main" val="1450200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FB38D9-923C-412D-A020-77D5E980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6E3187-3D4C-4351-8F83-7592438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获客 · 门户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98EEA8-1811-462B-912A-7ADD8B9B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把作品挂上网,把报名开进门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A954F3-2B99-4D79-81BB-5D4A959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19D7CA-9C41-4464-8615-C48DB9D8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94360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自带公开官网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课程介绍、师资与作品集、FAQ、联系方式,开通即上线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页内报名,零跳转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访客在官网内直接完成报名,减少流失;也可用独立报名页扫码直达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中英双语一键切换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所有公开文案双语维护,面向多语言家庭的社区尤其有效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来源可追踪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报名自动记录来源渠道与 UTM 参数,知道每个学员从哪里来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学员自助区入口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老学员凭访问码自助查询,减少前台重复答疑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4CBFFD2-BF56-43C0-9698-095A818A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37360"/>
            <a:ext cx="470916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0" dist="38100" dir="5400000" sx="100000" sy="100000" kx="0" ky="0" algn="bl" rotWithShape="0">
              <a:srgbClr val="0F172A">
                <a:alpha val="14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C28EED1-3E5D-45C9-A846-1EC1112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37360"/>
            <a:ext cx="47091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FAB498-F645-49E2-87C1-D086B88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C674DA-4273-4F2D-BE04-0D88BE4B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46E1CA2-428E-45C7-A2A3-BF7E010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0A3B7B-0839-48DD-B486-B2DE0B2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5648"/>
            <a:ext cx="3108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yourstudio.example — 门户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DF5912-092A-44D2-A0DC-AD0039F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251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D735412-941D-4FF3-8E3C-839EE6F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45059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让每个孩子爱上创作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A00031-50AD-4E47-8FE2-926AC78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98064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Where every child learns to create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37C2B7-3E9B-4DD7-B788-F538AD3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127248"/>
            <a:ext cx="114300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3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0A61D0-5C43-489E-B404-09482C6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127248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立即报名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29CAC3-9750-4C44-A5BD-9632FED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A4DDB-3CF9-4114-B73C-291FDF7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AF82E6-86D1-449F-83BE-6DC9617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少儿美术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6E179B1-4447-4A4F-89C0-A164222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ED44034-340B-4029-81D2-836B068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D5E3CE-253D-40F4-AFE8-0B32963D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素描进阶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CB471C-E728-4BBA-AF90-C938C4A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B96FE4E-BF9D-4299-B147-ACD7419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2D3C11-3192-4AF6-BEF4-CC44B2B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创意手工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21A44FF-3D31-4BAD-95C8-E4927CF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93792"/>
            <a:ext cx="42519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C7E02E-1C0A-4FE0-BAD9-B1C50D60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c7d2aa1064a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0" y="54589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53E7B6E-D475-4C8A-878E-3337788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266944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学员自助区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E1729"/>
                </a:solidFill>
                <a:latin typeface="Arial"/>
                <a:ea typeface="Arial"/>
                <a:cs typeface="Arial"/>
              </a:rPr>
              <a:t>姓名 + 手机号 + 访问码,查课时与作品集</a:t>
            </a:r>
          </a:p>
        </p:txBody>
      </p:sp>
    </p:spTree>
    <p:extLst>
      <p:ext uri="{BB962C8B-B14F-4D97-AF65-F5344CB8AC3E}">
        <p14:creationId xmlns:p14="http://schemas.microsoft.com/office/powerpoint/2010/main" val="373718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B4C3A7-A46F-4CEB-B83B-48A1BDB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83E80A-8928-4717-A3C4-4B7A76C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获客 · 报名审核漏斗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3FF55E-A351-4146-8B0F-0CEAEBB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从询价到开课,不乱一个节拍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33DDF7-62A3-444C-8BDD-077B253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A9D8BB-C34C-4B29-8D50-5E348C7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BFEFB3-27E7-40E2-BEBA-E90877A9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提交报名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892685-33CF-4DD4-9F9C-F0654BA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门户或独立报名页,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字段由机构自定义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DDB2BD-E086-431D-BD80-2D4A7CC0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233D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6CB46A-E564-4520-A761-A444FDC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自动把关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2F3427-9531-49AE-8D25-003998B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限流防刷 + 蜜罐反机器人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+ 重复报名检测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65758C-F712-40FA-A7CC-A110B43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5A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FB57C5-FFFC-4899-92BB-FC4632D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人工审核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1CDFBC4-FB29-4BA7-B89B-8821423B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CMS 待审队列,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通过 / 拒绝一目了然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956D03-6F50-4FD8-802D-3870D4A2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C0732E-C3AE-4F93-84A8-C47D52A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04 转为学员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6CB693-2AC0-48F4-811C-D57335A2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一键建档,进入课时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与签到体系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FCA293-5CF6-4B35-9D5E-8B72E22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7178040" cy="19202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D37DB3-5E22-4850-BC1D-91B6F23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自动把关,把垃圾流量挡在门外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15607D-5820-4CA6-BFB3-E7510D29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a87dda034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3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F64263-FD1D-4ABF-A683-DB25E46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限流防刷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同一 IP 每分钟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最多 5 次提交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B727F34-EE6F-415C-AB26-9606450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b732e6f16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355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F47CB2C-EC2C-4EA5-ACFC-8171CC4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蜜罐字段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机器人提交被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静默丢弃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DCE7E145-9C7F-4F5E-B259-08CA7A6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e97be611e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27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C4E96C96-CE43-4A74-BDD5-213D890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重复检测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疑似重复报名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自动提示,避免重复建档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3DB435D-D842-4BEF-99DD-599BAEE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0520"/>
            <a:ext cx="3639312" cy="19202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CBE71421-CB5D-4C5E-9DD4-029E3A1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982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55A"/>
          </a:solidFill>
        </p:spPr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42e9cce82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4192" y="451713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49D107DD-940C-4F2E-9644-579601BF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946904"/>
            <a:ext cx="31089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全程留痕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谁审核、何时通过或拒绝,全部写入审计日志;来源与渠道随学员档案沉淀。</a:t>
            </a:r>
          </a:p>
        </p:txBody>
      </p:sp>
    </p:spTree>
    <p:extLst>
      <p:ext uri="{BB962C8B-B14F-4D97-AF65-F5344CB8AC3E}">
        <p14:creationId xmlns:p14="http://schemas.microsoft.com/office/powerpoint/2010/main" val="1047020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EA3358-3859-4D3B-BA99-455825B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6161E1-5D68-4EA9-B238-B97C312F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运营 · CMS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024778-7658-4A41-A3B7-8C3E2D7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每一节课的去向,像五线谱一样清晰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D56AB3-B82C-4A52-821A-A1B180E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EA6BAE-E3DC-4CE9-9888-C3CC3D3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440680" cy="452628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755F4A-37EA-4303-A63C-BD2EB15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93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18ab68972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587" y="211701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293C91-B320-437F-B13E-01518CCA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011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今日排课与签到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1CD3D77-AAC4-44A3-8CD7-A013539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4FD43-3A5A-4DB5-AA24-1EE185A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529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F3F23B-5634-4F55-A092-077051A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43200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小雨 · 少儿美术 16:00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929D6CD-9901-4D6F-B5CA-E5D4FA3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已签到 · 扣 1 课时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CA8CFA5-B364-4604-A967-4BF06F60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10712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637E6DE-89FC-47EC-8B08-DD1D02C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661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5C2E830-DBAC-4513-8661-D5CB386B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Lucas · 素描进阶 16:00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8E78399-87B6-4FA2-9C7A-E0FBCAA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564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已签到 · 扣 1 课时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5BF91DB-05DB-4447-AB73-80F9FA6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23944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D7D0F04-F0A5-4ED4-9B74-4DF65305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27939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52CBE5B-40E1-4149-B6E8-9FBC09A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69664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朵朵 · 创意手工 17:30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8F399F5-FC20-4393-9762-F4DA202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696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B45309"/>
                </a:solidFill>
                <a:latin typeface="Arial"/>
                <a:ea typeface="Arial"/>
                <a:cs typeface="Arial"/>
              </a:rPr>
              <a:t>余额不足 · 已拦截并提醒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25898AF-DEA9-4BB6-807A-D5AA7A5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4892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7000" indent="-1270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签到自动扣减课时,余额不足当场拦截</a:t>
            </a:r>
          </a:p>
          <a:p xmlns:a="http://schemas.openxmlformats.org/drawingml/2006/main">
            <a:pPr marL="127000" indent="-1270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老师用平板即可点名,前台无需二次录入</a:t>
            </a:r>
          </a:p>
          <a:p xmlns:a="http://schemas.openxmlformats.org/drawingml/2006/main">
            <a:pPr marL="127000" indent="-127000"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缺勤 / 补课情况在日志中可追溯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4727F65-418C-434E-B191-DBF033A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76672" cy="452628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FB9F-DDAE-4D40-91F1-2B54B30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6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340c108304a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1587" y="211701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31E95B1-A430-42C6-B562-EF1B1F3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011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课时账本(流水式)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2976569-2307-4E34-A1E6-F07B6C3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734056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03-02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C758568-0FC7-4AD8-9A1E-328C62D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34056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购买 10 次课包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8246165-1830-4135-AFDE-87C1435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734056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+10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CFD7C96E-74D8-4F8A-9E64-24F99B7E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00CC88F-C208-4735-96C2-DB0183B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00984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03-09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7B80845-1E80-47DB-8ED2-10B7DB7D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00984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到店签到(少儿美术)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D002E2F-819C-47F9-9A21-C3A76B5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300984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3BAF412-6F1B-4FE0-BEAD-466A962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31336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FD0AECB-1F7C-4081-B095-DCEF937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67912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03-16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E013D27-BFC9-4F62-AA50-B0632FC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867912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到店签到(少儿美术)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27EBBC3-6289-480D-BD3C-2F1986E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867912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C8DA495-B273-4FF3-ADB0-139412C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98264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BD4646C-51FC-402D-A1A0-6CA893E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43484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04-01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0409B29-2AB8-4CB8-93AC-D139567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34840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退费冲减 · 店长操作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A038F3F-B12B-4FD1-851F-A6A141CE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443484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−3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AFD4FF1F-DA91-4F73-BCCC-6AA0F05B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38928"/>
            <a:ext cx="482803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C1057778-74E8-4623-B3CB-F749C94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212080"/>
            <a:ext cx="44622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8350F"/>
                </a:solidFill>
                <a:latin typeface="Arial"/>
                <a:ea typeface="Arial"/>
                <a:cs typeface="Arial"/>
              </a:rPr>
              <a:t>余额 = 每一笔流水之和。不是一个可以随手改掉的数字,每次变动都记录操作人、时间与原因。</a:t>
            </a:r>
          </a:p>
        </p:txBody>
      </p:sp>
    </p:spTree>
    <p:extLst>
      <p:ext uri="{BB962C8B-B14F-4D97-AF65-F5344CB8AC3E}">
        <p14:creationId xmlns:p14="http://schemas.microsoft.com/office/powerpoint/2010/main" val="57081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F5ED52-D49F-42CD-A51A-C467899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1D16E0-551F-4F5D-8B02-987CE8D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运营 · 收费与退费管控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CBCCE53-4663-4647-9E94-6CE4CC0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钱上的规矩写进系统,不写在人情里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5D5DF3-6156-4CC2-958F-BDA1A88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27" name="Table 0"/>
          <p:cNvGraphicFramePr/>
          <p:nvPr/>
        </p:nvGraphicFramePr>
        <p:xfrm>
          <a:off xmlns:a="http://schemas.openxmlformats.org/drawingml/2006/main" x="548640" y="1783080"/>
          <a:ext xmlns:a="http://schemas.openxmlformats.org/drawingml/2006/main" cx="11091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4952"/>
                <a:gridCol w="1609344"/>
                <a:gridCol w="1609344"/>
                <a:gridCol w="1609344"/>
                <a:gridCol w="1609344"/>
                <a:gridCol w="1609344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操作 / 角色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店主 owner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店长 manager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老师 teacher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前台 front desk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员工 staff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收费与课时录入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课时退费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作品集对外分享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数据导出 / 经营报表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系统设置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B306F7-B3D1-42D4-BC60-DE4C7EB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C670B38-085D-4D1D-8B51-244EF42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3113d94a5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357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B18FE28-8663-43E7-98CC-683D5DB3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高危动作系统级上锁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退费与对外分享仅限店主/店长,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权限写死在后端,前端绕不过</a:t>
            </a: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34B89FB-07EC-4646-A27D-B819D10F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D387D0D-5F58-4014-BABF-811044C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cb2a63910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6973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66EC2E5-478B-45DB-AF1A-1439B2BB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前台能收不能退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前台可录入收费与课时,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退费必须升级到管理层</a:t>
            </a:r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3B7D1879-A371-4E2D-8FFD-14560E04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CAB51D1-F3A2-456F-B17E-3427C11C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1eaff6cb3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2589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DF772E3-D46C-481C-9F65-3B2CDC3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每一步有审计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谁在何时退了几节课,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审计日志一查便知</a:t>
            </a:r>
          </a:p>
        </p:txBody>
      </p:sp>
    </p:spTree>
    <p:extLst>
      <p:ext uri="{BB962C8B-B14F-4D97-AF65-F5344CB8AC3E}">
        <p14:creationId xmlns:p14="http://schemas.microsoft.com/office/powerpoint/2010/main" val="1172402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AB4FB0-2DEF-4715-B778-06118E1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A5B4E5-E6A9-4A2E-B346-30FBE5F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品牌 · 个性化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BFE8831-9A85-423E-AF34-14EB7E9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你的品牌在台前，平台在幕后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0C0782D-E2C5-409E-AD3E-C4FFE6A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39A620-CDFB-417F-A500-BC357D09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85216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/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四角星 · 创造力的起点</a:t>
            </a:r>
          </a:p>
          <a:p xmlns:a="http://schemas.openxmlformats.org/drawingml/2006/main">
            <a:pPr marL="48"/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从一个清晰的创意原点出发，把想法带进真实的教学与作品。</a:t>
            </a:r>
          </a:p>
          <a:p xmlns:a="http://schemas.openxmlformats.org/drawingml/2006/main">
            <a:pPr marL="0"/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三根羽片 · 成长 / 上升 / 可能性</a:t>
            </a:r>
          </a:p>
          <a:p xmlns:a="http://schemas.openxmlformats.org/drawingml/2006/main">
            <a:pPr marL="48"/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三层向上展开，比例源自黄金分割序列 136 : 84 : 52。</a:t>
            </a:r>
          </a:p>
          <a:p xmlns:a="http://schemas.openxmlformats.org/drawingml/2006/main">
            <a:pPr marL="0"/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你的品牌在台前</a:t>
            </a:r>
          </a:p>
          <a:p xmlns:a="http://schemas.openxmlformats.org/drawingml/2006/main">
            <a:pPr marL="48"/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Studio Admin / CMS / Portal / Register 均显示租户 Logo 与名称。</a:t>
            </a:r>
          </a:p>
          <a:p xmlns:a="http://schemas.openxmlformats.org/drawingml/2006/main">
            <a:pPr marL="0"/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平台不抢左上角</a:t>
            </a:r>
          </a:p>
          <a:p xmlns:a="http://schemas.openxmlformats.org/drawingml/2006/main">
            <a:pPr marL="48"/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没有 Logo 时只显示工作室名称，不用平台或制作方标识代替。</a:t>
            </a:r>
          </a:p>
          <a:p xmlns:a="http://schemas.openxmlformats.org/drawingml/2006/main">
            <a:pPr marL="0"/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低调制作方署名</a:t>
            </a:r>
          </a:p>
          <a:p xmlns:a="http://schemas.openxmlformats.org/drawingml/2006/main">
            <a:pPr marL="48"/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页脚仅保留 Powered by Paradise Production，不干扰客户品牌。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CAAB6C-4EB5-41CF-A108-C3390C42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83080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CEA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9E69E9B-2960-4FA8-BB09-01C2A8F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0665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985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E0E216-D1DC-4F8E-A379-0F95ECF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1929384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陶土工坊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BF52F22-067D-4ACC-A3DF-009C0C6C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2286000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47AADE-0205-440D-90C4-A7B9E8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83080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FEA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BC3106-6BE5-44F3-99FB-14DBC7C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665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F74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E92840-6BE4-43C0-AF35-3DE9D1F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1929384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复古印刷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2A5F3E-B4A3-4BA4-A405-744A90B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286000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97DE3F4-D3C0-4F9D-ACAC-F9B075E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898648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EEE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89F7B4-1384-43B9-A94D-372E68D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8211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944A40-F927-42F3-9942-84EABC7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3044952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黑白纸墨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B56AA8-048C-4308-B963-C39250C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340156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40255F-5581-4C65-8AFE-7237A8E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8648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9EFF3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4A8E3D4-9EFD-4A3F-9C12-29863D3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18211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5BF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FDFA74-56FB-4D09-8EA0-B1D36E3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044952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静谧海港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90AEAF-6196-4693-8E5F-BE3A88E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40156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9306BFF-CC5C-4D09-BA78-56BCE99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14216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BF2E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705F1A-707E-4F17-A49A-D97D48A7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2976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E7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14AB2B-5BC4-4F16-829B-3497402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4160520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雪松林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9FB6B03-550F-4AC1-8629-5AAE18F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4517136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8018C9B-2550-435B-9604-C210699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4216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A1046F4-C5FD-481C-8C86-1250E1A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2976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DB8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2782CB-73FD-45EB-8445-2B08EBF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160520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独奏紫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32AF56E-A5A2-403A-B4BB-DEDA9DB8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517136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4E604A-B9F7-4F9F-A236-EEB5D216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129784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AED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39D3DEE-7E3C-45C8-9616-9F05F89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4132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88D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8B2A5A9-D7C0-46BD-942C-165DC896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76088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排练玫瑰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4BC7B16-FB14-4669-BCFB-37810B5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632704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21AA55D-3D6E-4CFD-9195-EFBBB58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9784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180B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686E6C9-CBC8-4A17-BDD5-2D9F2F2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4132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926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82DCD95-7347-4E59-8AC4-FA8AA39D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276088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街机青柠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0973F19-A18C-4A2C-916E-EC4C10A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632704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0A996"/>
                </a:solidFill>
                <a:latin typeface="Arial"/>
                <a:ea typeface="Arial"/>
                <a:cs typeface="Arial"/>
              </a:rPr>
              <a:t>深色模式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5E654F5-B82F-4AAD-B070-D331577C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626364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Arial"/>
                <a:ea typeface="Arial"/>
                <a:cs typeface="Arial"/>
              </a:rPr>
              <a:t>↑ 内置主题实拍色 · 全部通过 WCAG AA 对比度校验</a:t>
            </a:r>
          </a:p>
        </p:txBody>
      </p:sp>
    </p:spTree>
    <p:extLst>
      <p:ext uri="{BB962C8B-B14F-4D97-AF65-F5344CB8AC3E}">
        <p14:creationId xmlns:p14="http://schemas.microsoft.com/office/powerpoint/2010/main" val="192895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023498-1F50-41F7-AD6A-2546FD22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156394-08AB-45FF-980C-3EDD2E3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家庭端 · 自助查询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643B8C-54E8-410A-8548-0FEBB25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家长看到的不是数字,是孩子的成长轨迹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7F992B-F9F2-461F-9411-2455D06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AD6ABD-E84F-43CC-B10C-F96D352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621792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一个访问码,查清所有事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机构签发 6 位访问码,家长用 姓名 + 手机号 + 访问码 登入自助区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无需注册、无需下载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手机浏览器直接用,对家长零门槛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课时余额与消课记录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还剩几次课、每次课扣在哪一天,一目了然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孩子的作品集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机构上传的作品与成长记录,家长随时可看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安全的短时会话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会话一小时自动过期;访问码可随时撤销重发,错试有锁定保护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626224-322B-4A68-AD2A-4884D27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600200"/>
            <a:ext cx="2880360" cy="4663440"/>
          </a:xfrm>
          <a:prstGeom xmlns:a="http://schemas.openxmlformats.org/drawingml/2006/main" prst="roundRect">
            <a:avLst>
              <a:gd name="adj" fmla="val 6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1729"/>
            </a:solidFill>
            <a:prstDash val="solid"/>
          </a:ln>
          <a:effectLst xmlns:a="http://schemas.openxmlformats.org/drawingml/2006/main">
            <a:outerShdw blurRad="127000" dist="38100" dir="5400000" sx="100000" sy="100000" kx="0" ky="0" algn="bl" rotWithShape="0">
              <a:srgbClr val="0F172A">
                <a:alpha val="15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9663AA2-139E-4987-98CD-5B918ADA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728216"/>
            <a:ext cx="868680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9F731E-7FD7-427D-8BD5-CB1799C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84248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学员中心 · Student Area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2A021B7-A482-467D-8024-CB0F5B68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77440"/>
            <a:ext cx="23317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57D8C8-B680-45FA-A7A8-6895E23E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6888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5B3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FA3581-DE87-428F-AAF2-83C05D89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24328"/>
            <a:ext cx="1234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剩余课时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4A3B8"/>
                </a:solidFill>
                <a:latin typeface="Arial"/>
                <a:ea typeface="Arial"/>
                <a:cs typeface="Arial"/>
              </a:rPr>
              <a:t>少儿美术 · 10 次卡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2E3FEB1-6C6A-4721-9C09-CB8A2F7B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4845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最近消课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FFAD61-F8D6-4324-9157-91DD660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941064"/>
            <a:ext cx="233172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763D60-E30F-4BCC-909A-34746AA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41064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03-16 周六 16:00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55100C-E2F9-4B0F-A7A6-3CECDCF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1064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E5A6368-0C9C-41DD-B4D1-540CAA9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398264"/>
            <a:ext cx="233172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9712DE-17CB-47F8-A8E9-D76A5E9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398264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03-09 周六 16:00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107516-0467-43AB-96EE-21A352F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98264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EF6AC7-F6CB-49AE-BF67-E54FE9A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946904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作品集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A52F014-A6A1-46E4-96D9-AC06324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CE9985">
              <a:alpha val="75000"/>
            </a:srgbClr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9DE0E6B-0739-4A28-B40D-5B43F03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77ABCF">
              <a:alpha val="75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53B60FE-F3AE-4A22-BA0C-46283F1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59E0B">
              <a:alpha val="75000"/>
            </a:srgbClr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AF0ECB4-97DA-4B70-867A-E1DAF6D0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6FB48F">
              <a:alpha val="75000"/>
            </a:srgbClr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847B7B-64F8-4D80-8666-E4C5B93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6583680" cy="86868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C260C68-4602-4D78-A087-973F7D13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61264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8350F"/>
                </a:solidFill>
                <a:latin typeface="Arial"/>
                <a:ea typeface="Arial"/>
                <a:cs typeface="Arial"/>
              </a:rPr>
              <a:t>省下来的,是前台每天几十次的重复报数;留下来的,是家长随时翻得到的成长记录。</a:t>
            </a:r>
          </a:p>
        </p:txBody>
      </p:sp>
    </p:spTree>
    <p:extLst>
      <p:ext uri="{BB962C8B-B14F-4D97-AF65-F5344CB8AC3E}">
        <p14:creationId xmlns:p14="http://schemas.microsoft.com/office/powerpoint/2010/main" val="1664019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9A4BB-C2BB-4070-B73D-2B118DF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FC5A0A-47A6-48C6-9F75-922DB4A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数据安全与隐私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1DE05D-3951-48E0-A0ED-54E473E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孩子的作品与隐私,像原作一样保管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623FE2-BCB2-474E-94FC-A34A4D1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B0B362-DB71-42EC-B3DF-A3F51E3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5E969C-CAA5-4A68-B36C-DB9278D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2AB549-8C88-4F94-9174-3AFC2B1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201 项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403AC5-0F40-49CE-985C-085ED20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002536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租户隔离自动化检查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4E3BB-83E3-4D29-A39E-ACF19A0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15768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每家机构的数据严格隔离,跨店访问必须失败——每次发版 201 项隔离测试全绿才允许上线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AF71B2-4B52-4AD3-BD0E-85C97570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691640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0D664CA-9F37-4B63-895A-8F8B60A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965960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B335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9763574-97BD-46C7-A7C4-6CB2497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965960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同意链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6B6E9C-E1D4-4FE6-9188-254CD75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02536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未成年人照片保护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C8FE0C-A95D-4CC5-A34D-F766B16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15768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作品公开须记录监护人同意;同意与撤回是只增不改的事件链,撤回立即从公开区下线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4BC42F2-747F-4411-BBF9-86B1884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87368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F602E45-7B3C-4782-A958-F84989F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F5C870-B39B-4E34-8AC3-02F3EDA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全程留痕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5B4E26F-68E8-41C6-B417-84F0A73B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398264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平台方进店必须亮牌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7A886D-9C9B-42F5-9EB7-0114048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1496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平台人员查看机构数据必须开启支持模式:填写原因、写入审计日志、页面横幅明示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B127841-80D9-4D4F-8A3E-F37A86D9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087368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D5C6373-B26F-4C16-9C29-A5ABC15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361688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6F6C4B3-1FC0-41E3-AD10-B87B21D5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361688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1–90 天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7EC87BF-EB21-4118-BE62-02D03053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398264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分享链接强制到期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ABF7C25-6E5B-4838-BE6E-48748DD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111496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作品集对外分享链接必须设定有效期,可随时撤销;失效链接立即拒绝访问</a:t>
            </a:r>
          </a:p>
        </p:txBody>
      </p:sp>
    </p:spTree>
    <p:extLst>
      <p:ext uri="{BB962C8B-B14F-4D97-AF65-F5344CB8AC3E}">
        <p14:creationId xmlns:p14="http://schemas.microsoft.com/office/powerpoint/2010/main" val="803534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CCFB62-8383-4288-9D6C-B22DBBB7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E6FA7D-ED57-43B6-B099-F4185A3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定价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3B31C4-C514-441F-B180-AAE7BCB4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透明定价,随工作室一起成长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CC2FF92-57AB-4575-9B0C-19501FD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822960" y="1691640"/>
          <a:ext xmlns:a="http://schemas.openxmlformats.org/drawingml/2006/main" cx="1054303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0712"/>
                <a:gridCol w="23774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73152" marR="73152" marT="36576" marB="3657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Starter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 49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Studio · 推荐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AUD 99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Growth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 199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学员上限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团队账号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存储空间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2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10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50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公开官网 + 在线报名 + 作品集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邮件通知模板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数据导出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优先支持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适合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个人老师 / 起步工作室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主力档 · 成熟单店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多校区 / 扩张期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AEED542-B489-4CA9-B2CE-DA35F81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70448"/>
            <a:ext cx="1054303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42C0D62-F61A-4A8C-9CB3-780EEB7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58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一次性 Setup 服务费 AUD 299–999:</a:t>
            </a:r>
            <a:r>
              <a:rPr sz="1150">
                <a:solidFill>
                  <a:srgbClr val="92400E"/>
                </a:solidFill>
                <a:latin typeface="Arial"/>
                <a:ea typeface="Arial"/>
                <a:cs typeface="Arial"/>
              </a:rPr>
              <a:t>  品牌配置 + 数据迁移 + 团队培训,按机构规模与迁移量一次报价,上线即可用。</a:t>
            </a:r>
          </a:p>
        </p:txBody>
      </p:sp>
    </p:spTree>
    <p:extLst>
      <p:ext uri="{BB962C8B-B14F-4D97-AF65-F5344CB8AC3E}">
        <p14:creationId xmlns:p14="http://schemas.microsoft.com/office/powerpoint/2010/main" val="621846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B11BE3-088C-4B61-8CA2-ACEB0A3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B233D1-4BDA-4DD5-9B73-32F8424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上线流程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EEBD63-040E-475A-AFC9-7E3A3EE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从签约到开幕,只需四步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6B3ECB-8DDF-46B6-8C3A-D34CDAAC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64CBF29-5BF6-4966-80F5-2F498C6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103120"/>
            <a:ext cx="8503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73C7E8-7ECF-4228-A73F-57901CA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7878B1-00F1-4105-B01F-C9B8B95C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83EE6E-B6C7-4CC8-883C-730C8F4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501B29-46C4-4A2D-B6D2-5C6C35B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77e28735e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27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759DFA-1E9F-40D1-84CF-38B6E622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品牌配置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CF5658-F7C9-45AE-B5F8-649499C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套用行业模板,配好 Logo、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配色、双语文案与报名问题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645C887-293D-43FA-BEC4-D7EFE5E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FBF2ADD-FC08-42D2-91E8-8ED4B1DF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C21336F-B723-4EF9-A923-152DA57C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91DCF3C-1082-414E-A068-C0B5B9F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9306608f04a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091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550EE1C-84BF-426C-B4A0-10F7CDB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数据导入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81D5D5F-7308-4FCF-930D-B063ED4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学员名单与课时余额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从 Excel 一次性迁入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9FB1B66-34E6-4DEA-ACA0-DFBF7D5E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AEC220F-8238-4867-A55E-D4820DB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8692A27-AF42-4E19-B3E2-A53BD98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1762A3CF-19B5-4681-9774-49546BF8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3d3a67061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555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D7F8DAEE-7196-420A-9943-D382642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团队培训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F3A5AFD-EDBF-4D1B-8B7B-76AD157F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按角色各教各的:前台收费、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老师签到、店长看账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3F4603A-DAD7-4363-8D99-21F17564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961A286-C89E-4731-8192-B33263D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F34E2323-B8FC-42DC-8AB1-A39128E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142FCC04-6D36-46D5-B134-22E9C196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00521e528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019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46677E37-E0C9-4785-A453-4318163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正式上线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C825B628-3D04-40A5-B495-ACFA512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官网、报名、运营同日切换,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上线首周伴随支持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2027B2AF-4705-4DEB-9467-75624DE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77724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33038D96-925B-4E41-A508-5819D43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四步全部包含在一次性 Setup 服务费内(AUD 299–999)。</a:t>
            </a: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  机构不需要懂技术:你提供名单和素材,我们负责让系统开门迎客。</a:t>
            </a:r>
          </a:p>
        </p:txBody>
      </p:sp>
    </p:spTree>
    <p:extLst>
      <p:ext uri="{BB962C8B-B14F-4D97-AF65-F5344CB8AC3E}">
        <p14:creationId xmlns:p14="http://schemas.microsoft.com/office/powerpoint/2010/main" val="250519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53DEBC-E6C6-433C-B8A9-6D123D33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22960"/>
            <a:ext cx="1371600" cy="137160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9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E29ED7-2AE0-44D6-BFF3-0250949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2377440"/>
            <a:ext cx="640080" cy="6400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6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4CF123-9680-4B4E-A082-858A70F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651760"/>
            <a:ext cx="320040" cy="32004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50000"/>
            </a:srgbClr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17a766cf04b25"/>
          <a:stretch xmlns:a="http://schemas.openxmlformats.org/drawingml/2006/main"/>
        </p:blipFill>
        <p:spPr>
          <a:xfrm xmlns:a="http://schemas.openxmlformats.org/drawingml/2006/main" flipH="0" flipV="0">
            <a:off x="822960" y="777240"/>
            <a:ext cx="2103120" cy="533667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494DFD5-5418-4C70-A12F-BCB3AB7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9601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管理退到幕后,作品站上台前。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D5BE4E2-2DD3-4F79-86D1-608D2199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8778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BD5E1"/>
                </a:solidFill>
                <a:latin typeface="Arial"/>
                <a:ea typeface="Arial"/>
                <a:cs typeface="Arial"/>
              </a:rPr>
              <a:t>预约一次 30 分钟演示:用你工作室的名字、作品和课程,现场生成一个可预览的门户。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97D1814-D339-4ADD-B463-08A19B4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76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57759A-BE9E-4210-A3F6-A6B4EC1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062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在线演示环境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studiosaas.cc.cd(试点环境,按需开放)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4196E0E-C900-4271-943C-044CF44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646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DBFAB13-FA06-4A04-BD13-72419AC5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73168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商务联系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请通过演示邀约渠道联系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65FE12-9210-4FC0-A0E0-DA5424C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3153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06EA52-927F-4C85-BE08-8616FF7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0096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试点合作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首批机构享受上线陪跑与优先反馈通道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B106EDA-398A-4DAF-A160-D5D49D1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6364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PWE Studio · 把时间还给创作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6b74b7b5a4ae8"/>
          <a:stretch xmlns:a="http://schemas.openxmlformats.org/drawingml/2006/main"/>
        </p:blipFill>
        <p:spPr>
          <a:xfrm xmlns:a="http://schemas.openxmlformats.org/drawingml/2006/main">
            <a:off x="8763000" y="5963841"/>
            <a:ext cx="2590800" cy="607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89122"/>
      </p:ext>
    </p:extLst>
  </p:cSld>
</p:sld>
</file>

<file path=ppt/theme/theme1.xml><?xml version="1.0" encoding="utf-8"?>
<a:theme xmlns:a="http://schemas.openxmlformats.org/drawingml/2006/main" name="Office Theme">
  <a:themeElements>
    <a:clrScheme name="PWE Studio Family">
      <a:dk1>
        <a:srgbClr val="000000"/>
      </a:dk1>
      <a:lt1>
        <a:srgbClr val="FFFFFF"/>
      </a:lt1>
      <a:dk2>
        <a:srgbClr val="16233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5B335"/>
      </a:accent4>
      <a:accent5>
        <a:srgbClr val="5B9BD5"/>
      </a:accent5>
      <a:accent6>
        <a:srgbClr val="70AD47"/>
      </a:accent6>
      <a:hlink>
        <a:srgbClr val="2563EB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WE Studio Famil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2026-07-28T13:25:01.8210000Z</dcterms:created>
  <dcterms:modified xsi:type="dcterms:W3CDTF">2026-07-28T13:25:01.8210000Z</dcterms:modified>
</coreProperties>
</file>