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c345887489c24032" /><Relationship Type="http://schemas.openxmlformats.org/officeDocument/2006/relationships/extended-properties" Target="/docProps/app.xml" Id="R9dd98908ee37410b" /><Relationship Type="http://schemas.openxmlformats.org/officeDocument/2006/relationships/officeDocument" Target="/ppt/presentation.xml" Id="R86706820f6b8419a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992b20a5f0c748df"/>
  </p:sldMasterIdLst>
  <p:notesMasterIdLst>
    <p:notesMasterId xmlns:r="http://schemas.openxmlformats.org/officeDocument/2006/relationships" r:id="Rb17e84c6569d4698"/>
  </p:notesMasterIdLst>
  <p:sldIdLst>
    <p:sldId xmlns:r="http://schemas.openxmlformats.org/officeDocument/2006/relationships" id="256" r:id="R4888732682024eaa"/>
    <p:sldId xmlns:r="http://schemas.openxmlformats.org/officeDocument/2006/relationships" id="257" r:id="R15edc54423734500"/>
    <p:sldId xmlns:r="http://schemas.openxmlformats.org/officeDocument/2006/relationships" id="258" r:id="Rd432f1c85906474e"/>
    <p:sldId xmlns:r="http://schemas.openxmlformats.org/officeDocument/2006/relationships" id="259" r:id="Rc275ce9edace452e"/>
    <p:sldId xmlns:r="http://schemas.openxmlformats.org/officeDocument/2006/relationships" id="260" r:id="R0bbce01842314e50"/>
    <p:sldId xmlns:r="http://schemas.openxmlformats.org/officeDocument/2006/relationships" id="261" r:id="R63b59d77d8534af0"/>
    <p:sldId xmlns:r="http://schemas.openxmlformats.org/officeDocument/2006/relationships" id="262" r:id="Rc6d3e93a849e4aa1"/>
    <p:sldId xmlns:r="http://schemas.openxmlformats.org/officeDocument/2006/relationships" id="263" r:id="R3864a8e109fd4671"/>
    <p:sldId xmlns:r="http://schemas.openxmlformats.org/officeDocument/2006/relationships" id="264" r:id="R9e6ece1d12a54403"/>
    <p:sldId xmlns:r="http://schemas.openxmlformats.org/officeDocument/2006/relationships" id="265" r:id="Rd911b598dfb04c5f"/>
    <p:sldId xmlns:r="http://schemas.openxmlformats.org/officeDocument/2006/relationships" id="266" r:id="R92ce274b27b54659"/>
    <p:sldId xmlns:r="http://schemas.openxmlformats.org/officeDocument/2006/relationships" id="267" r:id="R0032ec9a9c414fbf"/>
    <p:sldId xmlns:r="http://schemas.openxmlformats.org/officeDocument/2006/relationships" id="268" r:id="Rfa4ee595a7d94822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 snapToObjects="1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041c90f4c64143f4" /><Relationship Type="http://schemas.openxmlformats.org/officeDocument/2006/relationships/slideMaster" Target="/ppt/slideMasters/slideMaster1.xml" Id="R992b20a5f0c748df" /><Relationship Type="http://schemas.openxmlformats.org/officeDocument/2006/relationships/notesMaster" Target="/ppt/notesMasters/notesMaster1.xml" Id="Rb17e84c6569d4698" /><Relationship Type="http://schemas.openxmlformats.org/officeDocument/2006/relationships/presProps" Target="/ppt/presProps.xml" Id="Rfa1581979d3a4422" /><Relationship Type="http://schemas.openxmlformats.org/officeDocument/2006/relationships/viewProps" Target="/ppt/viewProps.xml" Id="R5a917fff87184593" /><Relationship Type="http://schemas.openxmlformats.org/officeDocument/2006/relationships/tableStyles" Target="/ppt/tableStyles.xml" Id="R6f689d4910304434" /><Relationship Type="http://schemas.openxmlformats.org/officeDocument/2006/relationships/slide" Target="/ppt/slides/slide1.xml" Id="R4888732682024eaa" /><Relationship Type="http://schemas.openxmlformats.org/officeDocument/2006/relationships/slide" Target="/ppt/slides/slide2.xml" Id="R15edc54423734500" /><Relationship Type="http://schemas.openxmlformats.org/officeDocument/2006/relationships/slide" Target="/ppt/slides/slide3.xml" Id="Rd432f1c85906474e" /><Relationship Type="http://schemas.openxmlformats.org/officeDocument/2006/relationships/slide" Target="/ppt/slides/slide4.xml" Id="Rc275ce9edace452e" /><Relationship Type="http://schemas.openxmlformats.org/officeDocument/2006/relationships/slide" Target="/ppt/slides/slide5.xml" Id="R0bbce01842314e50" /><Relationship Type="http://schemas.openxmlformats.org/officeDocument/2006/relationships/slide" Target="/ppt/slides/slide6.xml" Id="R63b59d77d8534af0" /><Relationship Type="http://schemas.openxmlformats.org/officeDocument/2006/relationships/slide" Target="/ppt/slides/slide7.xml" Id="Rc6d3e93a849e4aa1" /><Relationship Type="http://schemas.openxmlformats.org/officeDocument/2006/relationships/slide" Target="/ppt/slides/slide8.xml" Id="R3864a8e109fd4671" /><Relationship Type="http://schemas.openxmlformats.org/officeDocument/2006/relationships/slide" Target="/ppt/slides/slide9.xml" Id="R9e6ece1d12a54403" /><Relationship Type="http://schemas.openxmlformats.org/officeDocument/2006/relationships/slide" Target="/ppt/slides/slide10.xml" Id="Rd911b598dfb04c5f" /><Relationship Type="http://schemas.openxmlformats.org/officeDocument/2006/relationships/slide" Target="/ppt/slides/slide11.xml" Id="R92ce274b27b54659" /><Relationship Type="http://schemas.openxmlformats.org/officeDocument/2006/relationships/slide" Target="/ppt/slides/slide12.xml" Id="R0032ec9a9c414fbf" /><Relationship Type="http://schemas.openxmlformats.org/officeDocument/2006/relationships/slide" Target="/ppt/slides/slide13.xml" Id="Rfa4ee595a7d94822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f8ec449f6df6453e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Office Theme">
  <a:themeElements>
    <a:clrScheme name="PWE Studio Family">
      <a:dk1>
        <a:srgbClr val="000000"/>
      </a:dk1>
      <a:lt1>
        <a:srgbClr val="FFFFFF"/>
      </a:lt1>
      <a:dk2>
        <a:srgbClr val="16233D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5B335"/>
      </a:accent4>
      <a:accent5>
        <a:srgbClr val="5B9BD5"/>
      </a:accent5>
      <a:accent6>
        <a:srgbClr val="70AD47"/>
      </a:accent6>
      <a:hlink>
        <a:srgbClr val="2563EB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PWE Studio Family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d8b76771cb4e4a50" /><Relationship Type="http://schemas.openxmlformats.org/officeDocument/2006/relationships/notesMaster" Target="/ppt/notesMasters/notesMaster1.xml" Id="R5a8d1d8396df4deb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2f542e1cfe3c458d" /><Relationship Type="http://schemas.openxmlformats.org/officeDocument/2006/relationships/notesMaster" Target="/ppt/notesMasters/notesMaster1.xml" Id="Rc5cec05d144e48f5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a033296a969446c0" /><Relationship Type="http://schemas.openxmlformats.org/officeDocument/2006/relationships/notesMaster" Target="/ppt/notesMasters/notesMaster1.xml" Id="Raae88a35445d4fbc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15145a4544e443e6" /><Relationship Type="http://schemas.openxmlformats.org/officeDocument/2006/relationships/notesMaster" Target="/ppt/notesMasters/notesMaster1.xml" Id="R3558db8d80ac4a2d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a07d47cb99c5454e" /><Relationship Type="http://schemas.openxmlformats.org/officeDocument/2006/relationships/notesMaster" Target="/ppt/notesMasters/notesMaster1.xml" Id="Ra1dc1a62314f42f5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cf929651c4b043b8" /><Relationship Type="http://schemas.openxmlformats.org/officeDocument/2006/relationships/notesMaster" Target="/ppt/notesMasters/notesMaster1.xml" Id="R3466e92edda54b4b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2271b9316682432a" /><Relationship Type="http://schemas.openxmlformats.org/officeDocument/2006/relationships/notesMaster" Target="/ppt/notesMasters/notesMaster1.xml" Id="Rab1eb973ae124a32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ea72522468714cc3" /><Relationship Type="http://schemas.openxmlformats.org/officeDocument/2006/relationships/notesMaster" Target="/ppt/notesMasters/notesMaster1.xml" Id="Rdf3d5f24bc8d47aa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b833dcb6d45149ec" /><Relationship Type="http://schemas.openxmlformats.org/officeDocument/2006/relationships/notesMaster" Target="/ppt/notesMasters/notesMaster1.xml" Id="R459d6f0073ef4327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ba6b52a41d434b68" /><Relationship Type="http://schemas.openxmlformats.org/officeDocument/2006/relationships/notesMaster" Target="/ppt/notesMasters/notesMaster1.xml" Id="R188c78e5e62c4492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9e97876f257a4e10" /><Relationship Type="http://schemas.openxmlformats.org/officeDocument/2006/relationships/notesMaster" Target="/ppt/notesMasters/notesMaster1.xml" Id="R7608256a1d1444aa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eab9d347c12248a8" /><Relationship Type="http://schemas.openxmlformats.org/officeDocument/2006/relationships/notesMaster" Target="/ppt/notesMasters/notesMaster1.xml" Id="R497caa40d2ca4e37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03cd779756fa4639" /><Relationship Type="http://schemas.openxmlformats.org/officeDocument/2006/relationships/notesMaster" Target="/ppt/notesMasters/notesMaster1.xml" Id="R5e69dd04ced44cd1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- 01 BRAND ASSETS/brand-tokens.json</a:t>
            </a:r>
          </a:p>
          <a:p xmlns:a="http://schemas.openxmlformats.org/drawingml/2006/main">
            <a:r>
              <a:t>- 01 BRAND ASSETS/logo/lockup-C-on-navy.svg</a:t>
            </a:r>
          </a:p>
          <a:p xmlns:a="http://schemas.openxmlformats.org/drawingml/2006/main">
            <a:r>
              <a:t>- docs/design/brand/render_assets.py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共情页:先让对方点头——每张卡都是被偷走的时间或信任。四个痛点对应后面四个能力页(询问→家庭端,对账→账本,纸条→权限留痕,作品墙→门户+品牌)。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架构页:四个界面职责分明——获客(门户/报名)、运营(CMS)、品牌(Studio Admin)。平台控制台顺带引出隐私卖点。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卖点:官网不是模板站,是和运营打通的获客入口——报名直接进 CMS 审核队列,来源自动归因。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对比微信接龙:字段完整、防刷防重、有审核队列。转为学员后自动进入课时体系,是和 Excel 最大的差别。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核心差异:课时是账本不是格子。Excel 里数字可以被覆盖,这里每一笔都是流水+审计,家长质疑时可以逐条对账。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面向店主的安心感:钱和课时的动作全部有角色边界+审计。七种角色开箱即用,老师看不到财务,前台不能退费。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演示钩子:现场选行业模板,10 秒换一套主题。强调不写定制代码也能像定制——这是 setup 费能落地的原因之一。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前台最大的时间黑洞是重复答疑。访问码自助区把「还剩几节课」变成家长自己查,同时是隐私安全的:短会话+可撤销。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回答「数据安全吗」:三层——租户隔离(201 项测试)、角色权限+审计、未成年人同意链。平台方自己也被审计,这点别家很少做到。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锚定:Studio 99 是主推档。Setup 费用当场解释为「替你把系统装好、数据搬好、人教会」——见下一页流程。所有价格均为澳元。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化解 setup fee 异议:这不是软件费,是交付服务费——配置、迁移、培训都是人力交付。迁移只保留核心数据,干净上线。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- 01 BRAND ASSETS/brand-tokens.json</a:t>
            </a:r>
          </a:p>
          <a:p xmlns:a="http://schemas.openxmlformats.org/drawingml/2006/main">
            <a:r>
              <a:t>- 01 BRAND ASSETS/logo/lockup-C-on-navy.svg</a:t>
            </a:r>
          </a:p>
          <a:p xmlns:a="http://schemas.openxmlformats.org/drawingml/2006/main">
            <a:r>
              <a:t>- docs/design/brand/render_assets.py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46992ab7bc5424a" /></Relationships>
</file>

<file path=ppt/slideLayouts/slideLayout1.xml><?xml version="1.0" encoding="utf-8"?>
<p:sldLayout xmlns:p="http://schemas.openxmlformats.org/presentationml/2006/main" preserve="1">
  <p:cSld name="DEFAULT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69034acb70a94330" /><Relationship Type="http://schemas.openxmlformats.org/officeDocument/2006/relationships/slideLayout" Target="/ppt/slideLayouts/slideLayout1.xml" Id="Re810a018bc924d54" /></Relationships>
</file>

<file path=ppt/slideMasters/slideMaster1.xml><?xml version="1.0" encoding="utf-8"?>
<p:sldMaster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e810a018bc924d54"/>
  </p:sldLayoutIdLst>
  <p:hf sldNum="0" hdr="0" ftr="0" dt="0"/>
  <p:txStyles>
    <p:titleStyle>
      <a:lvl1pPr xmlns:a="http://schemas.openxmlformats.org/drawingml/2006/main" algn="ctr" defTabSz="914400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342900" indent="-342900" algn="l" defTabSz="914400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742950" indent="-285750" algn="l" defTabSz="914400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 defTabSz="914400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 defTabSz="914400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 defTabSz="914400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488d722bd334dc9" /><Relationship Type="http://schemas.openxmlformats.org/officeDocument/2006/relationships/image" Target="/ppt/media/image.png" Id="R3387ed0219e54338" /><Relationship Type="http://schemas.openxmlformats.org/officeDocument/2006/relationships/image" Target="/ppt/media/image2.png" Id="Rdc3b9567799c486f" /><Relationship Type="http://schemas.openxmlformats.org/officeDocument/2006/relationships/notesSlide" Target="/ppt/notesSlides/notesSlide1.xml" Id="R8059e841c8a74daf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f9b125300cd4ee6" /><Relationship Type="http://schemas.openxmlformats.org/officeDocument/2006/relationships/image" Target="/ppt/media/image3.png" Id="R66fb5340eedc41bb" /><Relationship Type="http://schemas.openxmlformats.org/officeDocument/2006/relationships/image" Target="/ppt/media/image4.png" Id="R30197a5a19e84ee7" /><Relationship Type="http://schemas.openxmlformats.org/officeDocument/2006/relationships/image" Target="/ppt/media/image5.png" Id="R6803c0abd8444be2" /><Relationship Type="http://schemas.openxmlformats.org/officeDocument/2006/relationships/image" Target="/ppt/media/image6.png" Id="R69beeb28a0534cd9" /><Relationship Type="http://schemas.openxmlformats.org/officeDocument/2006/relationships/notesSlide" Target="/ppt/notesSlides/notesSlide2.xml" Id="Rd8540bf641da40ad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7d3db923b1f4676" /><Relationship Type="http://schemas.openxmlformats.org/officeDocument/2006/relationships/image" Target="/ppt/media/image7.png" Id="R9b8bc27e39314bce" /><Relationship Type="http://schemas.openxmlformats.org/officeDocument/2006/relationships/image" Target="/ppt/media/image8.png" Id="Rd8c3c3da616d4b19" /><Relationship Type="http://schemas.openxmlformats.org/officeDocument/2006/relationships/image" Target="/ppt/media/image9.png" Id="Ref7d51cddc534cee" /><Relationship Type="http://schemas.openxmlformats.org/officeDocument/2006/relationships/image" Target="/ppt/media/image10.png" Id="R5f1f3bb21ab54437" /><Relationship Type="http://schemas.openxmlformats.org/officeDocument/2006/relationships/image" Target="/ppt/media/image11.png" Id="Rc6f3948235094962" /><Relationship Type="http://schemas.openxmlformats.org/officeDocument/2006/relationships/notesSlide" Target="/ppt/notesSlides/notesSlide3.xml" Id="Rfb6bd685902e4384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83668a7538e4627" /><Relationship Type="http://schemas.openxmlformats.org/officeDocument/2006/relationships/image" Target="/ppt/media/image12.png" Id="Redac7d2aa1064ad7" /><Relationship Type="http://schemas.openxmlformats.org/officeDocument/2006/relationships/notesSlide" Target="/ppt/notesSlides/notesSlide4.xml" Id="R1072d9d972064e63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28bdf7d81d04b13" /><Relationship Type="http://schemas.openxmlformats.org/officeDocument/2006/relationships/image" Target="/ppt/media/image13.png" Id="R544a87dda03444b1" /><Relationship Type="http://schemas.openxmlformats.org/officeDocument/2006/relationships/image" Target="/ppt/media/image14.png" Id="R73bb732e6f164147" /><Relationship Type="http://schemas.openxmlformats.org/officeDocument/2006/relationships/image" Target="/ppt/media/image15.png" Id="R731e97be611e4f3c" /><Relationship Type="http://schemas.openxmlformats.org/officeDocument/2006/relationships/image" Target="/ppt/media/image16.png" Id="R6dd42e9cce824ac2" /><Relationship Type="http://schemas.openxmlformats.org/officeDocument/2006/relationships/notesSlide" Target="/ppt/notesSlides/notesSlide5.xml" Id="R0a14ae6c27d34e0d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ae1cc5323ff4cce" /><Relationship Type="http://schemas.openxmlformats.org/officeDocument/2006/relationships/image" Target="/ppt/media/image17.png" Id="R9bf18ab689724b20" /><Relationship Type="http://schemas.openxmlformats.org/officeDocument/2006/relationships/image" Target="/ppt/media/image18.png" Id="R7ea340c108304ad1" /><Relationship Type="http://schemas.openxmlformats.org/officeDocument/2006/relationships/notesSlide" Target="/ppt/notesSlides/notesSlide6.xml" Id="Rba788197c6c049b3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9a53b69854943b3" /><Relationship Type="http://schemas.openxmlformats.org/officeDocument/2006/relationships/image" Target="/ppt/media/image19.png" Id="R4353113d94a54842" /><Relationship Type="http://schemas.openxmlformats.org/officeDocument/2006/relationships/image" Target="/ppt/media/image20.png" Id="Ree5cb2a6391045c9" /><Relationship Type="http://schemas.openxmlformats.org/officeDocument/2006/relationships/image" Target="/ppt/media/image21.png" Id="R7e01eaff6cb346f5" /><Relationship Type="http://schemas.openxmlformats.org/officeDocument/2006/relationships/notesSlide" Target="/ppt/notesSlides/notesSlide7.xml" Id="R187422af946e45d8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155622655c94036" /><Relationship Type="http://schemas.openxmlformats.org/officeDocument/2006/relationships/notesSlide" Target="/ppt/notesSlides/notesSlide8.xml" Id="R59bc70045c814821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eb24590c2b74438" /><Relationship Type="http://schemas.openxmlformats.org/officeDocument/2006/relationships/notesSlide" Target="/ppt/notesSlides/notesSlide9.xml" Id="Ra2af170540de4c5d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cfb3b5db4404f6d" /><Relationship Type="http://schemas.openxmlformats.org/officeDocument/2006/relationships/notesSlide" Target="/ppt/notesSlides/notesSlide10.xml" Id="R415228dc93704b8f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c37cbdb5fdc4c0b" /><Relationship Type="http://schemas.openxmlformats.org/officeDocument/2006/relationships/notesSlide" Target="/ppt/notesSlides/notesSlide11.xml" Id="Rd208821c846e432c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1dcb952476b4a3e" /><Relationship Type="http://schemas.openxmlformats.org/officeDocument/2006/relationships/image" Target="/ppt/media/image22.png" Id="R9f877e28735e4ffe" /><Relationship Type="http://schemas.openxmlformats.org/officeDocument/2006/relationships/image" Target="/ppt/media/image23.png" Id="Rb469306608f04a98" /><Relationship Type="http://schemas.openxmlformats.org/officeDocument/2006/relationships/image" Target="/ppt/media/image24.png" Id="Rbf63d3a670614378" /><Relationship Type="http://schemas.openxmlformats.org/officeDocument/2006/relationships/image" Target="/ppt/media/image25.png" Id="R84500521e5284828" /><Relationship Type="http://schemas.openxmlformats.org/officeDocument/2006/relationships/notesSlide" Target="/ppt/notesSlides/notesSlide12.xml" Id="Rc562a855d8de4df6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927d76a5d524273" /><Relationship Type="http://schemas.openxmlformats.org/officeDocument/2006/relationships/image" Target="/ppt/media/image26.png" Id="Rc7717a766cf04b25" /><Relationship Type="http://schemas.openxmlformats.org/officeDocument/2006/relationships/image" Target="/ppt/media/image27.png" Id="R1476b74b7b5a4ae8" /><Relationship Type="http://schemas.openxmlformats.org/officeDocument/2006/relationships/notesSlide" Target="/ppt/notesSlides/notesSlide13.xml" Id="R310d23442db44e72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0E1729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762A9690-566C-4CDE-B775-CE67FCCAA4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81160" y="960120"/>
            <a:ext cx="1737360" cy="1737360"/>
          </a:xfrm>
          <a:prstGeom xmlns:a="http://schemas.openxmlformats.org/drawingml/2006/main" prst="star4">
            <a:avLst/>
          </a:prstGeom>
          <a:solidFill xmlns:a="http://schemas.openxmlformats.org/drawingml/2006/main">
            <a:srgbClr val="FBBF24">
              <a:alpha val="94000"/>
            </a:srgbClr>
          </a:solidFill>
        </p:spPr>
      </p:sp>
      <p:sp>
        <p:nvSpPr>
          <p:cNvPr id="3" name="Shape 1">
            <a:extLst xmlns:a="http://schemas.openxmlformats.org/drawingml/2006/main">
              <a:ext uri="{FF2B5EF4-FFF2-40B4-BE49-F238E27FC236}">
                <a16:creationId xmlns:a16="http://schemas.microsoft.com/office/drawing/2014/main" id="{22645126-6E1B-4A29-A937-E20FEFF0D2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8520" y="2880360"/>
            <a:ext cx="777240" cy="777240"/>
          </a:xfrm>
          <a:prstGeom xmlns:a="http://schemas.openxmlformats.org/drawingml/2006/main" prst="star4">
            <a:avLst/>
          </a:prstGeom>
          <a:solidFill xmlns:a="http://schemas.openxmlformats.org/drawingml/2006/main">
            <a:srgbClr val="FBBF24">
              <a:alpha val="70000"/>
            </a:srgbClr>
          </a:solidFill>
        </p:spPr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EC0A43E6-B52C-4017-855F-EC015FB5F9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95560" y="3931920"/>
            <a:ext cx="384048" cy="384048"/>
          </a:xfrm>
          <a:prstGeom xmlns:a="http://schemas.openxmlformats.org/drawingml/2006/main" prst="star4">
            <a:avLst/>
          </a:prstGeom>
          <a:solidFill xmlns:a="http://schemas.openxmlformats.org/drawingml/2006/main">
            <a:srgbClr val="FBBF24">
              <a:alpha val="55000"/>
            </a:srgbClr>
          </a:solidFill>
        </p:spPr>
      </p:sp>
      <p:sp>
        <p:nvSpPr>
          <p:cNvPr id="5" name="Shape 3">
            <a:extLst xmlns:a="http://schemas.openxmlformats.org/drawingml/2006/main">
              <a:ext uri="{FF2B5EF4-FFF2-40B4-BE49-F238E27FC236}">
                <a16:creationId xmlns:a16="http://schemas.microsoft.com/office/drawing/2014/main" id="{D2E0065D-3E12-4BA6-B078-2725AFE55D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0" y="3291840"/>
            <a:ext cx="237744" cy="237744"/>
          </a:xfrm>
          <a:prstGeom xmlns:a="http://schemas.openxmlformats.org/drawingml/2006/main" prst="star4">
            <a:avLst/>
          </a:prstGeom>
          <a:solidFill xmlns:a="http://schemas.openxmlformats.org/drawingml/2006/main">
            <a:srgbClr val="FBBF24">
              <a:alpha val="45000"/>
            </a:srgbClr>
          </a:solidFill>
        </p:spPr>
      </p:sp>
      <p:pic>
        <p:nvPicPr>
          <p:cNvPr id="25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387ed0219e54338"/>
          <a:stretch xmlns:a="http://schemas.openxmlformats.org/drawingml/2006/main"/>
        </p:blipFill>
        <p:spPr>
          <a:xfrm xmlns:a="http://schemas.openxmlformats.org/drawingml/2006/main" flipH="0" flipV="0">
            <a:off x="822960" y="777240"/>
            <a:ext cx="2651760" cy="672884"/>
          </a:xfrm>
          <a:prstGeom xmlns:a="http://schemas.openxmlformats.org/drawingml/2006/main" prst="rect">
            <a:avLst/>
          </a:prstGeom>
        </p:spPr>
      </p:pic>
      <p:sp>
        <p:nvSpPr>
          <p:cNvPr id="7" name="Text 4">
            <a:extLst xmlns:a="http://schemas.openxmlformats.org/drawingml/2006/main">
              <a:ext uri="{FF2B5EF4-FFF2-40B4-BE49-F238E27FC236}">
                <a16:creationId xmlns:a16="http://schemas.microsoft.com/office/drawing/2014/main" id="{C8346B16-0407-41B6-8CE0-42F941657B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2514600"/>
            <a:ext cx="8778240" cy="9144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40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把时间还给创作</a:t>
            </a:r>
          </a:p>
        </p:txBody>
      </p:sp>
      <p:sp>
        <p:nvSpPr>
          <p:cNvPr id="8" name="Text 5">
            <a:extLst xmlns:a="http://schemas.openxmlformats.org/drawingml/2006/main">
              <a:ext uri="{FF2B5EF4-FFF2-40B4-BE49-F238E27FC236}">
                <a16:creationId xmlns:a16="http://schemas.microsoft.com/office/drawing/2014/main" id="{D9D366E1-ED96-4661-87C4-55C3B32FC9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3520440"/>
            <a:ext cx="896112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700">
                <a:solidFill>
                  <a:srgbClr val="CBD5E1"/>
                </a:solidFill>
                <a:latin typeface="Arial"/>
                <a:ea typeface="Arial"/>
                <a:cs typeface="Arial"/>
              </a:rPr>
              <a:t>官网获客 · 在线报名 · 课时账本 · 品牌门面 —— 琐事交给系统,你回到教室与作品</a:t>
            </a:r>
          </a:p>
        </p:txBody>
      </p:sp>
      <p:sp>
        <p:nvSpPr>
          <p:cNvPr id="9" name="Text 6">
            <a:extLst xmlns:a="http://schemas.openxmlformats.org/drawingml/2006/main">
              <a:ext uri="{FF2B5EF4-FFF2-40B4-BE49-F238E27FC236}">
                <a16:creationId xmlns:a16="http://schemas.microsoft.com/office/drawing/2014/main" id="{F7A8FB5C-8CB0-455D-86D4-5512899066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4041648"/>
            <a:ext cx="896112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300">
                <a:solidFill>
                  <a:srgbClr val="94A3B8"/>
                </a:solidFill>
                <a:latin typeface="Arial"/>
                <a:ea typeface="Arial"/>
                <a:cs typeface="Arial"/>
              </a:rPr>
              <a:t>创意工作室的一体化操作系统 · 面向美术 / 音乐 / 舞蹈工作室与培训机构</a:t>
            </a:r>
          </a:p>
        </p:txBody>
      </p:sp>
      <p:sp>
        <p:nvSpPr>
          <p:cNvPr id="10" name="Shape 7">
            <a:extLst xmlns:a="http://schemas.openxmlformats.org/drawingml/2006/main">
              <a:ext uri="{FF2B5EF4-FFF2-40B4-BE49-F238E27FC236}">
                <a16:creationId xmlns:a16="http://schemas.microsoft.com/office/drawing/2014/main" id="{8ED54994-E167-4328-BB1B-0EBFA791C4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5120640"/>
            <a:ext cx="1120140" cy="402336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E1729"/>
          </a:solidFill>
          <a:ln xmlns:a="http://schemas.openxmlformats.org/drawingml/2006/main" w="12700">
            <a:solidFill>
              <a:srgbClr val="22355A"/>
            </a:solidFill>
            <a:prstDash val="solid"/>
          </a:ln>
        </p:spPr>
      </p:sp>
      <p:sp>
        <p:nvSpPr>
          <p:cNvPr id="11" name="Text 8">
            <a:extLst xmlns:a="http://schemas.openxmlformats.org/drawingml/2006/main">
              <a:ext uri="{FF2B5EF4-FFF2-40B4-BE49-F238E27FC236}">
                <a16:creationId xmlns:a16="http://schemas.microsoft.com/office/drawing/2014/main" id="{253901F8-9FF2-49AA-9923-C4B1CB7B83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5120640"/>
            <a:ext cx="1120140" cy="40233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50">
                <a:solidFill>
                  <a:srgbClr val="CBD5E1"/>
                </a:solidFill>
                <a:latin typeface="Arial"/>
                <a:ea typeface="Arial"/>
                <a:cs typeface="Arial"/>
              </a:rPr>
              <a:t>多租户隔离</a:t>
            </a:r>
          </a:p>
        </p:txBody>
      </p:sp>
      <p:sp>
        <p:nvSpPr>
          <p:cNvPr id="12" name="Shape 9">
            <a:extLst xmlns:a="http://schemas.openxmlformats.org/drawingml/2006/main">
              <a:ext uri="{FF2B5EF4-FFF2-40B4-BE49-F238E27FC236}">
                <a16:creationId xmlns:a16="http://schemas.microsoft.com/office/drawing/2014/main" id="{A314C81A-745C-47EE-8990-38DBF84413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71700" y="5120640"/>
            <a:ext cx="978408" cy="402336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E1729"/>
          </a:solidFill>
          <a:ln xmlns:a="http://schemas.openxmlformats.org/drawingml/2006/main" w="12700">
            <a:solidFill>
              <a:srgbClr val="22355A"/>
            </a:solidFill>
            <a:prstDash val="solid"/>
          </a:ln>
        </p:spPr>
      </p:sp>
      <p:sp>
        <p:nvSpPr>
          <p:cNvPr id="13" name="Text 10">
            <a:extLst xmlns:a="http://schemas.openxmlformats.org/drawingml/2006/main">
              <a:ext uri="{FF2B5EF4-FFF2-40B4-BE49-F238E27FC236}">
                <a16:creationId xmlns:a16="http://schemas.microsoft.com/office/drawing/2014/main" id="{3C882B88-76AF-41F7-9BA3-DDDF9EEBE6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71700" y="5120640"/>
            <a:ext cx="978408" cy="40233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50">
                <a:solidFill>
                  <a:srgbClr val="CBD5E1"/>
                </a:solidFill>
                <a:latin typeface="Arial"/>
                <a:ea typeface="Arial"/>
                <a:cs typeface="Arial"/>
              </a:rPr>
              <a:t>中英双语</a:t>
            </a:r>
          </a:p>
        </p:txBody>
      </p:sp>
      <p:sp>
        <p:nvSpPr>
          <p:cNvPr id="14" name="Shape 11">
            <a:extLst xmlns:a="http://schemas.openxmlformats.org/drawingml/2006/main">
              <a:ext uri="{FF2B5EF4-FFF2-40B4-BE49-F238E27FC236}">
                <a16:creationId xmlns:a16="http://schemas.microsoft.com/office/drawing/2014/main" id="{F5429D1D-FED7-4F76-9B0A-B091569D3B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8708" y="5120640"/>
            <a:ext cx="1970532" cy="402336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E1729"/>
          </a:solidFill>
          <a:ln xmlns:a="http://schemas.openxmlformats.org/drawingml/2006/main" w="12700">
            <a:solidFill>
              <a:srgbClr val="22355A"/>
            </a:solidFill>
            <a:prstDash val="solid"/>
          </a:ln>
        </p:spPr>
      </p:sp>
      <p:sp>
        <p:nvSpPr>
          <p:cNvPr id="15" name="Text 12">
            <a:extLst xmlns:a="http://schemas.openxmlformats.org/drawingml/2006/main">
              <a:ext uri="{FF2B5EF4-FFF2-40B4-BE49-F238E27FC236}">
                <a16:creationId xmlns:a16="http://schemas.microsoft.com/office/drawing/2014/main" id="{ED9FEF32-55FA-41E3-8C40-CD44021295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8708" y="5120640"/>
            <a:ext cx="1970532" cy="40233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50">
                <a:solidFill>
                  <a:srgbClr val="CBD5E1"/>
                </a:solidFill>
                <a:latin typeface="Arial"/>
                <a:ea typeface="Arial"/>
                <a:cs typeface="Arial"/>
              </a:rPr>
              <a:t>四个界面 · 一个后台</a:t>
            </a:r>
          </a:p>
        </p:txBody>
      </p:sp>
      <p:sp>
        <p:nvSpPr>
          <p:cNvPr id="16" name="Shape 13">
            <a:extLst xmlns:a="http://schemas.openxmlformats.org/drawingml/2006/main">
              <a:ext uri="{FF2B5EF4-FFF2-40B4-BE49-F238E27FC236}">
                <a16:creationId xmlns:a16="http://schemas.microsoft.com/office/drawing/2014/main" id="{B3CBF534-4E76-4DD1-9656-D4F064D40E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77840" y="5120640"/>
            <a:ext cx="1261872" cy="402336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E1729"/>
          </a:solidFill>
          <a:ln xmlns:a="http://schemas.openxmlformats.org/drawingml/2006/main" w="12700">
            <a:solidFill>
              <a:srgbClr val="22355A"/>
            </a:solidFill>
            <a:prstDash val="solid"/>
          </a:ln>
        </p:spPr>
      </p:sp>
      <p:sp>
        <p:nvSpPr>
          <p:cNvPr id="17" name="Text 14">
            <a:extLst xmlns:a="http://schemas.openxmlformats.org/drawingml/2006/main">
              <a:ext uri="{FF2B5EF4-FFF2-40B4-BE49-F238E27FC236}">
                <a16:creationId xmlns:a16="http://schemas.microsoft.com/office/drawing/2014/main" id="{4925F745-5B4C-4ADA-8163-683D28650D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77840" y="5120640"/>
            <a:ext cx="1261872" cy="40233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50">
                <a:solidFill>
                  <a:srgbClr val="CBD5E1"/>
                </a:solidFill>
                <a:latin typeface="Arial"/>
                <a:ea typeface="Arial"/>
                <a:cs typeface="Arial"/>
              </a:rPr>
              <a:t>v7.8.0</a:t>
            </a:r>
          </a:p>
        </p:txBody>
      </p:sp>
      <p:sp>
        <p:nvSpPr>
          <p:cNvPr id="18" name="Text 15">
            <a:extLst xmlns:a="http://schemas.openxmlformats.org/drawingml/2006/main">
              <a:ext uri="{FF2B5EF4-FFF2-40B4-BE49-F238E27FC236}">
                <a16:creationId xmlns:a16="http://schemas.microsoft.com/office/drawing/2014/main" id="{3FFC8200-5FE1-46CD-8EE3-EFA3F13223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6263640"/>
            <a:ext cx="54864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>
                <a:solidFill>
                  <a:srgbClr val="64748B"/>
                </a:solidFill>
                <a:latin typeface="Arial"/>
                <a:ea typeface="Arial"/>
                <a:cs typeface="Arial"/>
              </a:rPr>
              <a:t>PWE Studio · 销售介绍 · 2026</a:t>
            </a:r>
          </a:p>
        </p:txBody>
      </p:sp>
      <p:pic>
        <p:nvPicPr>
          <p:cNvPr id="3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c3b9567799c486f"/>
          <a:stretch xmlns:a="http://schemas.openxmlformats.org/drawingml/2006/main"/>
        </p:blipFill>
        <p:spPr>
          <a:xfrm xmlns:a="http://schemas.openxmlformats.org/drawingml/2006/main">
            <a:off x="8763000" y="5963841"/>
            <a:ext cx="2590800" cy="607219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79430357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64E3C5C3-B1A3-4B11-AC11-0906895A19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457200"/>
            <a:ext cx="182880" cy="182880"/>
          </a:xfrm>
          <a:prstGeom xmlns:a="http://schemas.openxmlformats.org/drawingml/2006/main" prst="star4">
            <a:avLst/>
          </a:prstGeom>
          <a:solidFill xmlns:a="http://schemas.openxmlformats.org/drawingml/2006/main">
            <a:srgbClr val="F5B335"/>
          </a:solidFill>
        </p:spPr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FD28A32C-8EB0-403B-B23C-222DF0CE69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" y="384048"/>
            <a:ext cx="731520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b="1">
                <a:solidFill>
                  <a:srgbClr val="64748B"/>
                </a:solidFill>
                <a:latin typeface="Arial"/>
                <a:ea typeface="Arial"/>
                <a:cs typeface="Arial"/>
              </a:rPr>
              <a:t>现状与痛点</a:t>
            </a:r>
          </a:p>
        </p:txBody>
      </p:sp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6D4CC4F8-B732-4D69-9DE0-D277181F1A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731520"/>
            <a:ext cx="11064240" cy="56692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700" b="1">
                <a:solidFill>
                  <a:srgbClr val="0E1729"/>
                </a:solidFill>
                <a:latin typeface="Arial"/>
                <a:ea typeface="Arial"/>
                <a:cs typeface="Arial"/>
              </a:rPr>
              <a:t>你的才华,不该耗在台账和聊天记录里</a:t>
            </a:r>
          </a:p>
        </p:txBody>
      </p:sp>
      <p:sp>
        <p:nvSpPr>
          <p:cNvPr id="5" name="Text 3">
            <a:extLst xmlns:a="http://schemas.openxmlformats.org/drawingml/2006/main">
              <a:ext uri="{FF2B5EF4-FFF2-40B4-BE49-F238E27FC236}">
                <a16:creationId xmlns:a16="http://schemas.microsoft.com/office/drawing/2014/main" id="{B8C7F573-D83D-47CA-BD22-7C934B6D75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473952"/>
            <a:ext cx="54864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1000">
                <a:solidFill>
                  <a:srgbClr val="94A3B8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6" name="Text 4">
            <a:extLst xmlns:a="http://schemas.openxmlformats.org/drawingml/2006/main">
              <a:ext uri="{FF2B5EF4-FFF2-40B4-BE49-F238E27FC236}">
                <a16:creationId xmlns:a16="http://schemas.microsoft.com/office/drawing/2014/main" id="{37F19B12-CEB3-4C06-8969-EF33DB4BF6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2148840"/>
            <a:ext cx="4160520" cy="3840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spcAft>
                <a:spcPts val="1000"/>
              </a:spcAft>
              <a:buNone/>
            </a:pPr>
            <a:r>
              <a:rPr sz="1600" b="1">
                <a:solidFill>
                  <a:srgbClr val="16233D"/>
                </a:solidFill>
                <a:latin typeface="Arial"/>
                <a:ea typeface="Arial"/>
                <a:cs typeface="Arial"/>
              </a:rPr>
              <a:t>开工作室,是因为热爱创作与教学。</a:t>
            </a:r>
          </a:p>
          <a:p xmlns:a="http://schemas.openxmlformats.org/drawingml/2006/main">
            <a:pPr marL="0" indent="0">
              <a:spcAft>
                <a:spcPts val="1400"/>
              </a:spcAft>
              <a:buNone/>
            </a:pPr>
            <a:r>
              <a:rPr sz="1300">
                <a:solidFill>
                  <a:srgbClr val="475569"/>
                </a:solidFill>
                <a:latin typeface="Arial"/>
                <a:ea typeface="Arial"/>
                <a:cs typeface="Arial"/>
              </a:rPr>
              <a:t>没有人是为了对账、催费、翻聊天记录才创业的。可行政琐事每天都在偷时间——偷走的,本该属于作品和学生。</a:t>
            </a:r>
          </a:p>
          <a:p xmlns:a="http://schemas.openxmlformats.org/drawingml/2006/main">
            <a:pPr marL="0" indent="0">
              <a:spcAft>
                <a:spcPts val="1800"/>
              </a:spcAft>
              <a:buNone/>
            </a:pPr>
            <a:r>
              <a:rPr sz="1400" i="1">
                <a:solidFill>
                  <a:srgbClr val="64748B"/>
                </a:solidFill>
                <a:latin typeface="Arial"/>
                <a:ea typeface="Arial"/>
                <a:cs typeface="Arial"/>
              </a:rPr>
              <a:t>“一个老师,三四个工具,没有一个是为工作室设计的。”</a:t>
            </a:r>
          </a:p>
          <a:p xmlns:a="http://schemas.openxmlformats.org/drawingml/2006/main">
            <a:pPr marL="0" indent="0">
              <a:buNone/>
            </a:pPr>
            <a:r>
              <a:rPr sz="1300" b="1">
                <a:solidFill>
                  <a:srgbClr val="0E1729"/>
                </a:solidFill>
                <a:latin typeface="Arial"/>
                <a:ea typeface="Arial"/>
                <a:cs typeface="Arial"/>
              </a:rPr>
              <a:t>把琐事交出去,把时间拿回来。</a:t>
            </a:r>
          </a:p>
        </p:txBody>
      </p:sp>
      <p:sp>
        <p:nvSpPr>
          <p:cNvPr id="7" name="Shape 5">
            <a:extLst xmlns:a="http://schemas.openxmlformats.org/drawingml/2006/main">
              <a:ext uri="{FF2B5EF4-FFF2-40B4-BE49-F238E27FC236}">
                <a16:creationId xmlns:a16="http://schemas.microsoft.com/office/drawing/2014/main" id="{46BE2181-7754-4D45-A215-4816238796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0" y="2103120"/>
            <a:ext cx="3246120" cy="1783080"/>
          </a:xfrm>
          <a:prstGeom xmlns:a="http://schemas.openxmlformats.org/drawingml/2006/main" prst="roundRect">
            <a:avLst>
              <a:gd name="adj" fmla="val 4615"/>
            </a:avLst>
          </a:prstGeom>
          <a:solidFill xmlns:a="http://schemas.openxmlformats.org/drawingml/2006/main">
            <a:srgbClr val="F7F5F2"/>
          </a:solidFill>
        </p:spPr>
      </p:sp>
      <p:sp>
        <p:nvSpPr>
          <p:cNvPr id="8" name="Shape 6">
            <a:extLst xmlns:a="http://schemas.openxmlformats.org/drawingml/2006/main">
              <a:ext uri="{FF2B5EF4-FFF2-40B4-BE49-F238E27FC236}">
                <a16:creationId xmlns:a16="http://schemas.microsoft.com/office/drawing/2014/main" id="{1C558E7E-E968-4702-85DC-456C430AAD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85232" y="2359152"/>
            <a:ext cx="475488" cy="47548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E1729"/>
          </a:solidFill>
        </p:spPr>
      </p:sp>
      <p:pic>
        <p:nvPicPr>
          <p:cNvPr id="38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6fb5340eedc41bb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5408859" y="2482779"/>
            <a:ext cx="228234" cy="228234"/>
          </a:xfrm>
          <a:prstGeom xmlns:a="http://schemas.openxmlformats.org/drawingml/2006/main" prst="rect">
            <a:avLst/>
          </a:prstGeom>
        </p:spPr>
      </p:pic>
      <p:sp>
        <p:nvSpPr>
          <p:cNvPr id="10" name="Text 7">
            <a:extLst xmlns:a="http://schemas.openxmlformats.org/drawingml/2006/main">
              <a:ext uri="{FF2B5EF4-FFF2-40B4-BE49-F238E27FC236}">
                <a16:creationId xmlns:a16="http://schemas.microsoft.com/office/drawing/2014/main" id="{2480E7A2-50B2-4A1B-8240-85A90462EC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97880" y="2377440"/>
            <a:ext cx="224028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50" b="1">
                <a:solidFill>
                  <a:srgbClr val="0E1729"/>
                </a:solidFill>
                <a:latin typeface="Arial"/>
                <a:ea typeface="Arial"/>
                <a:cs typeface="Arial"/>
              </a:rPr>
              <a:t>被打断的排练</a:t>
            </a:r>
          </a:p>
        </p:txBody>
      </p:sp>
      <p:sp>
        <p:nvSpPr>
          <p:cNvPr id="11" name="Text 8">
            <a:extLst xmlns:a="http://schemas.openxmlformats.org/drawingml/2006/main">
              <a:ext uri="{FF2B5EF4-FFF2-40B4-BE49-F238E27FC236}">
                <a16:creationId xmlns:a16="http://schemas.microsoft.com/office/drawing/2014/main" id="{1A2C28F1-5846-4FB6-B74C-512AC0FE36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0" y="3017520"/>
            <a:ext cx="2697480" cy="9144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>
                <a:solidFill>
                  <a:srgbClr val="475569"/>
                </a:solidFill>
                <a:latin typeface="Arial"/>
                <a:ea typeface="Arial"/>
                <a:cs typeface="Arial"/>
              </a:rPr>
              <a:t>『还剩几节课?』一句询问,</a:t>
            </a:r>
          </a:p>
          <a:p xmlns:a="http://schemas.openxmlformats.org/drawingml/2006/main">
            <a:pPr marL="0" indent="0">
              <a:buNone/>
            </a:pPr>
            <a:r>
              <a:rPr sz="1100">
                <a:solidFill>
                  <a:srgbClr val="475569"/>
                </a:solidFill>
                <a:latin typeface="Arial"/>
                <a:ea typeface="Arial"/>
                <a:cs typeface="Arial"/>
              </a:rPr>
              <a:t>要翻三个月的群记录才答得上</a:t>
            </a:r>
          </a:p>
        </p:txBody>
      </p:sp>
      <p:sp>
        <p:nvSpPr>
          <p:cNvPr id="12" name="Shape 9">
            <a:extLst xmlns:a="http://schemas.openxmlformats.org/drawingml/2006/main">
              <a:ext uri="{FF2B5EF4-FFF2-40B4-BE49-F238E27FC236}">
                <a16:creationId xmlns:a16="http://schemas.microsoft.com/office/drawing/2014/main" id="{9EB93551-199E-4C3F-874E-E196629EA7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6760" y="2103120"/>
            <a:ext cx="3246120" cy="1783080"/>
          </a:xfrm>
          <a:prstGeom xmlns:a="http://schemas.openxmlformats.org/drawingml/2006/main" prst="roundRect">
            <a:avLst>
              <a:gd name="adj" fmla="val 4615"/>
            </a:avLst>
          </a:prstGeom>
          <a:solidFill xmlns:a="http://schemas.openxmlformats.org/drawingml/2006/main">
            <a:srgbClr val="F7F5F2"/>
          </a:solidFill>
        </p:spPr>
      </p:sp>
      <p:sp>
        <p:nvSpPr>
          <p:cNvPr id="13" name="Shape 10">
            <a:extLst xmlns:a="http://schemas.openxmlformats.org/drawingml/2006/main">
              <a:ext uri="{FF2B5EF4-FFF2-40B4-BE49-F238E27FC236}">
                <a16:creationId xmlns:a16="http://schemas.microsoft.com/office/drawing/2014/main" id="{B8EB01EE-D2DE-446D-8745-F296BB3A2E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2792" y="2359152"/>
            <a:ext cx="475488" cy="47548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E1729"/>
          </a:solidFill>
        </p:spPr>
      </p:sp>
      <p:pic>
        <p:nvPicPr>
          <p:cNvPr id="43" name="Imag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0197a5a19e84ee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8746419" y="2482779"/>
            <a:ext cx="228234" cy="228234"/>
          </a:xfrm>
          <a:prstGeom xmlns:a="http://schemas.openxmlformats.org/drawingml/2006/main" prst="rect">
            <a:avLst/>
          </a:prstGeom>
        </p:spPr>
      </p:pic>
      <p:sp>
        <p:nvSpPr>
          <p:cNvPr id="15" name="Text 11">
            <a:extLst xmlns:a="http://schemas.openxmlformats.org/drawingml/2006/main">
              <a:ext uri="{FF2B5EF4-FFF2-40B4-BE49-F238E27FC236}">
                <a16:creationId xmlns:a16="http://schemas.microsoft.com/office/drawing/2014/main" id="{23319601-618C-4B36-BEBE-8C1FFCB628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5440" y="2377440"/>
            <a:ext cx="224028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50" b="1">
                <a:solidFill>
                  <a:srgbClr val="0E1729"/>
                </a:solidFill>
                <a:latin typeface="Arial"/>
                <a:ea typeface="Arial"/>
                <a:cs typeface="Arial"/>
              </a:rPr>
              <a:t>深夜的对账表</a:t>
            </a:r>
          </a:p>
        </p:txBody>
      </p:sp>
      <p:sp>
        <p:nvSpPr>
          <p:cNvPr id="16" name="Text 12">
            <a:extLst xmlns:a="http://schemas.openxmlformats.org/drawingml/2006/main">
              <a:ext uri="{FF2B5EF4-FFF2-40B4-BE49-F238E27FC236}">
                <a16:creationId xmlns:a16="http://schemas.microsoft.com/office/drawing/2014/main" id="{971C71C3-E8E0-4031-8C79-4646B9A1B0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41080" y="3017520"/>
            <a:ext cx="2697480" cy="9144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>
                <a:solidFill>
                  <a:srgbClr val="475569"/>
                </a:solidFill>
                <a:latin typeface="Arial"/>
                <a:ea typeface="Arial"/>
                <a:cs typeface="Arial"/>
              </a:rPr>
              <a:t>白天上课,晚上核 Excel,</a:t>
            </a:r>
          </a:p>
          <a:p xmlns:a="http://schemas.openxmlformats.org/drawingml/2006/main">
            <a:pPr marL="0" indent="0">
              <a:buNone/>
            </a:pPr>
            <a:r>
              <a:rPr sz="1100">
                <a:solidFill>
                  <a:srgbClr val="475569"/>
                </a:solidFill>
                <a:latin typeface="Arial"/>
                <a:ea typeface="Arial"/>
                <a:cs typeface="Arial"/>
              </a:rPr>
              <a:t>吃掉的是备课和新作品的时间</a:t>
            </a:r>
          </a:p>
        </p:txBody>
      </p:sp>
      <p:sp>
        <p:nvSpPr>
          <p:cNvPr id="17" name="Shape 13">
            <a:extLst xmlns:a="http://schemas.openxmlformats.org/drawingml/2006/main">
              <a:ext uri="{FF2B5EF4-FFF2-40B4-BE49-F238E27FC236}">
                <a16:creationId xmlns:a16="http://schemas.microsoft.com/office/drawing/2014/main" id="{AB7E083C-D786-4482-86C0-E767187621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0" y="4114800"/>
            <a:ext cx="3246120" cy="1783080"/>
          </a:xfrm>
          <a:prstGeom xmlns:a="http://schemas.openxmlformats.org/drawingml/2006/main" prst="roundRect">
            <a:avLst>
              <a:gd name="adj" fmla="val 4615"/>
            </a:avLst>
          </a:prstGeom>
          <a:solidFill xmlns:a="http://schemas.openxmlformats.org/drawingml/2006/main">
            <a:srgbClr val="F7F5F2"/>
          </a:solidFill>
        </p:spPr>
      </p:sp>
      <p:sp>
        <p:nvSpPr>
          <p:cNvPr id="18" name="Shape 14">
            <a:extLst xmlns:a="http://schemas.openxmlformats.org/drawingml/2006/main">
              <a:ext uri="{FF2B5EF4-FFF2-40B4-BE49-F238E27FC236}">
                <a16:creationId xmlns:a16="http://schemas.microsoft.com/office/drawing/2014/main" id="{F1B39BDC-7E80-4231-817A-52E2EE86D2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85232" y="4370832"/>
            <a:ext cx="475488" cy="47548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E1729"/>
          </a:solidFill>
        </p:spPr>
      </p:sp>
      <p:pic>
        <p:nvPicPr>
          <p:cNvPr id="48" name="Image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803c0abd8444be2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5408859" y="4494459"/>
            <a:ext cx="228234" cy="228234"/>
          </a:xfrm>
          <a:prstGeom xmlns:a="http://schemas.openxmlformats.org/drawingml/2006/main" prst="rect">
            <a:avLst/>
          </a:prstGeom>
        </p:spPr>
      </p:pic>
      <p:sp>
        <p:nvSpPr>
          <p:cNvPr id="20" name="Text 15">
            <a:extLst xmlns:a="http://schemas.openxmlformats.org/drawingml/2006/main">
              <a:ext uri="{FF2B5EF4-FFF2-40B4-BE49-F238E27FC236}">
                <a16:creationId xmlns:a16="http://schemas.microsoft.com/office/drawing/2014/main" id="{4A2CD976-CB76-40F8-B70D-036611F196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97880" y="4389120"/>
            <a:ext cx="224028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50" b="1">
                <a:solidFill>
                  <a:srgbClr val="0E1729"/>
                </a:solidFill>
                <a:latin typeface="Arial"/>
                <a:ea typeface="Arial"/>
                <a:cs typeface="Arial"/>
              </a:rPr>
              <a:t>经不起丢的纸条</a:t>
            </a:r>
          </a:p>
        </p:txBody>
      </p:sp>
      <p:sp>
        <p:nvSpPr>
          <p:cNvPr id="21" name="Text 16">
            <a:extLst xmlns:a="http://schemas.openxmlformats.org/drawingml/2006/main">
              <a:ext uri="{FF2B5EF4-FFF2-40B4-BE49-F238E27FC236}">
                <a16:creationId xmlns:a16="http://schemas.microsoft.com/office/drawing/2014/main" id="{5551294B-9106-4178-9C3D-E151D07B0F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0" y="5029200"/>
            <a:ext cx="2697480" cy="9144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>
                <a:solidFill>
                  <a:srgbClr val="475569"/>
                </a:solidFill>
                <a:latin typeface="Arial"/>
                <a:ea typeface="Arial"/>
                <a:cs typeface="Arial"/>
              </a:rPr>
              <a:t>收据在抽屉、承诺在口头,</a:t>
            </a:r>
          </a:p>
          <a:p xmlns:a="http://schemas.openxmlformats.org/drawingml/2006/main">
            <a:pPr marL="0" indent="0">
              <a:buNone/>
            </a:pPr>
            <a:r>
              <a:rPr sz="1100">
                <a:solidFill>
                  <a:srgbClr val="475569"/>
                </a:solidFill>
                <a:latin typeface="Arial"/>
                <a:ea typeface="Arial"/>
                <a:cs typeface="Arial"/>
              </a:rPr>
              <a:t>家长的信任不该系在一张纸上</a:t>
            </a:r>
          </a:p>
        </p:txBody>
      </p:sp>
      <p:sp>
        <p:nvSpPr>
          <p:cNvPr id="22" name="Shape 17">
            <a:extLst xmlns:a="http://schemas.openxmlformats.org/drawingml/2006/main">
              <a:ext uri="{FF2B5EF4-FFF2-40B4-BE49-F238E27FC236}">
                <a16:creationId xmlns:a16="http://schemas.microsoft.com/office/drawing/2014/main" id="{98F58032-F986-4A07-877F-6C8116E69B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6760" y="4114800"/>
            <a:ext cx="3246120" cy="1783080"/>
          </a:xfrm>
          <a:prstGeom xmlns:a="http://schemas.openxmlformats.org/drawingml/2006/main" prst="roundRect">
            <a:avLst>
              <a:gd name="adj" fmla="val 4615"/>
            </a:avLst>
          </a:prstGeom>
          <a:solidFill xmlns:a="http://schemas.openxmlformats.org/drawingml/2006/main">
            <a:srgbClr val="F7F5F2"/>
          </a:solidFill>
        </p:spPr>
      </p:sp>
      <p:sp>
        <p:nvSpPr>
          <p:cNvPr id="23" name="Shape 18">
            <a:extLst xmlns:a="http://schemas.openxmlformats.org/drawingml/2006/main">
              <a:ext uri="{FF2B5EF4-FFF2-40B4-BE49-F238E27FC236}">
                <a16:creationId xmlns:a16="http://schemas.microsoft.com/office/drawing/2014/main" id="{CFA11C0E-7F0E-46B2-8440-4852620625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2792" y="4370832"/>
            <a:ext cx="475488" cy="47548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E1729"/>
          </a:solidFill>
        </p:spPr>
      </p:sp>
      <p:pic>
        <p:nvPicPr>
          <p:cNvPr id="53" name="Image 3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9beeb28a0534cd9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8746419" y="4494459"/>
            <a:ext cx="228234" cy="228234"/>
          </a:xfrm>
          <a:prstGeom xmlns:a="http://schemas.openxmlformats.org/drawingml/2006/main" prst="rect">
            <a:avLst/>
          </a:prstGeom>
        </p:spPr>
      </p:pic>
      <p:sp>
        <p:nvSpPr>
          <p:cNvPr id="25" name="Text 19">
            <a:extLst xmlns:a="http://schemas.openxmlformats.org/drawingml/2006/main">
              <a:ext uri="{FF2B5EF4-FFF2-40B4-BE49-F238E27FC236}">
                <a16:creationId xmlns:a16="http://schemas.microsoft.com/office/drawing/2014/main" id="{CD1CEB2B-D604-4DCE-A71B-105F46475E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5440" y="4389120"/>
            <a:ext cx="224028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50" b="1">
                <a:solidFill>
                  <a:srgbClr val="0E1729"/>
                </a:solidFill>
                <a:latin typeface="Arial"/>
                <a:ea typeface="Arial"/>
                <a:cs typeface="Arial"/>
              </a:rPr>
              <a:t>看不见的作品墙</a:t>
            </a:r>
          </a:p>
        </p:txBody>
      </p:sp>
      <p:sp>
        <p:nvSpPr>
          <p:cNvPr id="26" name="Text 20">
            <a:extLst xmlns:a="http://schemas.openxmlformats.org/drawingml/2006/main">
              <a:ext uri="{FF2B5EF4-FFF2-40B4-BE49-F238E27FC236}">
                <a16:creationId xmlns:a16="http://schemas.microsoft.com/office/drawing/2014/main" id="{04E5DDE9-723F-4F1C-9D47-E8C5388288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41080" y="5029200"/>
            <a:ext cx="2697480" cy="9144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>
                <a:solidFill>
                  <a:srgbClr val="475569"/>
                </a:solidFill>
                <a:latin typeface="Arial"/>
                <a:ea typeface="Arial"/>
                <a:cs typeface="Arial"/>
              </a:rPr>
              <a:t>作品攒了一屋子,线上无处可看,</a:t>
            </a:r>
          </a:p>
          <a:p xmlns:a="http://schemas.openxmlformats.org/drawingml/2006/main">
            <a:pPr marL="0" indent="0">
              <a:buNone/>
            </a:pPr>
            <a:r>
              <a:rPr sz="1100">
                <a:solidFill>
                  <a:srgbClr val="475569"/>
                </a:solidFill>
                <a:latin typeface="Arial"/>
                <a:ea typeface="Arial"/>
                <a:cs typeface="Arial"/>
              </a:rPr>
              <a:t>新学员只能靠转介绍</a:t>
            </a:r>
          </a:p>
        </p:txBody>
      </p:sp>
    </p:spTree>
    <p:extLst>
      <p:ext uri="{BB962C8B-B14F-4D97-AF65-F5344CB8AC3E}">
        <p14:creationId xmlns:p14="http://schemas.microsoft.com/office/powerpoint/2010/main" val="1665797458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DDD971B3-922C-4E35-8173-348F359AAF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457200"/>
            <a:ext cx="182880" cy="182880"/>
          </a:xfrm>
          <a:prstGeom xmlns:a="http://schemas.openxmlformats.org/drawingml/2006/main" prst="star4">
            <a:avLst/>
          </a:prstGeom>
          <a:solidFill xmlns:a="http://schemas.openxmlformats.org/drawingml/2006/main">
            <a:srgbClr val="F5B335"/>
          </a:solidFill>
        </p:spPr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F304FEED-7165-454B-8E30-36FFB73456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" y="384048"/>
            <a:ext cx="731520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b="1">
                <a:solidFill>
                  <a:srgbClr val="64748B"/>
                </a:solidFill>
                <a:latin typeface="Arial"/>
                <a:ea typeface="Arial"/>
                <a:cs typeface="Arial"/>
              </a:rPr>
              <a:t>产品总览</a:t>
            </a:r>
          </a:p>
        </p:txBody>
      </p:sp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CDD94F1C-E70F-4AC3-8AFF-18A5E1A9A0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731520"/>
            <a:ext cx="11064240" cy="56692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700" b="1">
                <a:solidFill>
                  <a:srgbClr val="0E1729"/>
                </a:solidFill>
                <a:latin typeface="Arial"/>
                <a:ea typeface="Arial"/>
                <a:cs typeface="Arial"/>
              </a:rPr>
              <a:t>台前是你的品牌,幕后是一个系统</a:t>
            </a:r>
          </a:p>
        </p:txBody>
      </p:sp>
      <p:sp>
        <p:nvSpPr>
          <p:cNvPr id="5" name="Text 3">
            <a:extLst xmlns:a="http://schemas.openxmlformats.org/drawingml/2006/main">
              <a:ext uri="{FF2B5EF4-FFF2-40B4-BE49-F238E27FC236}">
                <a16:creationId xmlns:a16="http://schemas.microsoft.com/office/drawing/2014/main" id="{15C152E3-1639-4D62-9688-712FFBD0FD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473952"/>
            <a:ext cx="54864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1000">
                <a:solidFill>
                  <a:srgbClr val="94A3B8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6" name="Shape 4">
            <a:extLst xmlns:a="http://schemas.openxmlformats.org/drawingml/2006/main">
              <a:ext uri="{FF2B5EF4-FFF2-40B4-BE49-F238E27FC236}">
                <a16:creationId xmlns:a16="http://schemas.microsoft.com/office/drawing/2014/main" id="{DC3866D2-CD77-4054-A837-02531572C5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572768"/>
            <a:ext cx="2560320" cy="2907792"/>
          </a:xfrm>
          <a:prstGeom xmlns:a="http://schemas.openxmlformats.org/drawingml/2006/main" prst="roundRect">
            <a:avLst>
              <a:gd name="adj" fmla="val 3214"/>
            </a:avLst>
          </a:prstGeom>
          <a:solidFill xmlns:a="http://schemas.openxmlformats.org/drawingml/2006/main">
            <a:srgbClr val="FBFAF7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7" name="Shape 5">
            <a:extLst xmlns:a="http://schemas.openxmlformats.org/drawingml/2006/main">
              <a:ext uri="{FF2B5EF4-FFF2-40B4-BE49-F238E27FC236}">
                <a16:creationId xmlns:a16="http://schemas.microsoft.com/office/drawing/2014/main" id="{6EA4CE78-EDE6-4C2F-97AD-A2C95C8C9A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672" y="1828800"/>
            <a:ext cx="512064" cy="512064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E1729"/>
          </a:solidFill>
        </p:spPr>
      </p:sp>
      <p:pic>
        <p:nvPicPr>
          <p:cNvPr id="46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b8bc27e39314bce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937809" y="1961937"/>
            <a:ext cx="245791" cy="245791"/>
          </a:xfrm>
          <a:prstGeom xmlns:a="http://schemas.openxmlformats.org/drawingml/2006/main" prst="rect">
            <a:avLst/>
          </a:prstGeom>
        </p:spPr>
      </p:pic>
      <p:sp>
        <p:nvSpPr>
          <p:cNvPr id="9" name="Text 6">
            <a:extLst xmlns:a="http://schemas.openxmlformats.org/drawingml/2006/main">
              <a:ext uri="{FF2B5EF4-FFF2-40B4-BE49-F238E27FC236}">
                <a16:creationId xmlns:a16="http://schemas.microsoft.com/office/drawing/2014/main" id="{F194D1A0-FA46-46E1-AE40-15387015CF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672" y="2487168"/>
            <a:ext cx="210312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 b="1">
                <a:solidFill>
                  <a:srgbClr val="0E1729"/>
                </a:solidFill>
                <a:latin typeface="Arial"/>
                <a:ea typeface="Arial"/>
                <a:cs typeface="Arial"/>
              </a:rPr>
              <a:t>门户 Portal</a:t>
            </a:r>
          </a:p>
        </p:txBody>
      </p:sp>
      <p:sp>
        <p:nvSpPr>
          <p:cNvPr id="10" name="Text 7">
            <a:extLst xmlns:a="http://schemas.openxmlformats.org/drawingml/2006/main">
              <a:ext uri="{FF2B5EF4-FFF2-40B4-BE49-F238E27FC236}">
                <a16:creationId xmlns:a16="http://schemas.microsoft.com/office/drawing/2014/main" id="{0029EB7B-A561-4538-BC5B-8BBD64103E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672" y="2834640"/>
            <a:ext cx="210312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>
                <a:solidFill>
                  <a:srgbClr val="94A3B8"/>
                </a:solidFill>
                <a:latin typeface="Arial"/>
                <a:ea typeface="Arial"/>
                <a:cs typeface="Arial"/>
              </a:rPr>
              <a:t>/&lt;机构名&gt;</a:t>
            </a:r>
          </a:p>
        </p:txBody>
      </p:sp>
      <p:sp>
        <p:nvSpPr>
          <p:cNvPr id="11" name="Text 8">
            <a:extLst xmlns:a="http://schemas.openxmlformats.org/drawingml/2006/main">
              <a:ext uri="{FF2B5EF4-FFF2-40B4-BE49-F238E27FC236}">
                <a16:creationId xmlns:a16="http://schemas.microsoft.com/office/drawing/2014/main" id="{D5AB6814-BC88-4A18-B8C7-0E8185C21B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672" y="3218688"/>
            <a:ext cx="2103120" cy="1371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101600" indent="-101600">
              <a:spcAft>
                <a:spcPts val="600"/>
              </a:spcAft>
              <a:buSzPct val="100000"/>
              <a:buChar char="•"/>
            </a:pPr>
            <a:r>
              <a:rPr sz="1050">
                <a:solidFill>
                  <a:srgbClr val="475569"/>
                </a:solidFill>
                <a:latin typeface="Arial"/>
                <a:ea typeface="Arial"/>
                <a:cs typeface="Arial"/>
              </a:rPr>
              <a:t>公开官网:课程 · 作品集 · FAQ</a:t>
            </a:r>
          </a:p>
          <a:p xmlns:a="http://schemas.openxmlformats.org/drawingml/2006/main">
            <a:pPr marL="101600" indent="-101600">
              <a:spcAft>
                <a:spcPts val="600"/>
              </a:spcAft>
              <a:buSzPct val="100000"/>
              <a:buChar char="•"/>
            </a:pPr>
            <a:r>
              <a:rPr sz="1050">
                <a:solidFill>
                  <a:srgbClr val="475569"/>
                </a:solidFill>
                <a:latin typeface="Arial"/>
                <a:ea typeface="Arial"/>
                <a:cs typeface="Arial"/>
              </a:rPr>
              <a:t>页内直接报名,不跳转</a:t>
            </a:r>
          </a:p>
          <a:p xmlns:a="http://schemas.openxmlformats.org/drawingml/2006/main">
            <a:pPr marL="101600" indent="-101600">
              <a:spcAft>
                <a:spcPts val="600"/>
              </a:spcAft>
              <a:buSzPct val="100000"/>
              <a:buChar char="•"/>
            </a:pPr>
            <a:r>
              <a:rPr sz="1050">
                <a:solidFill>
                  <a:srgbClr val="475569"/>
                </a:solidFill>
                <a:latin typeface="Arial"/>
                <a:ea typeface="Arial"/>
                <a:cs typeface="Arial"/>
              </a:rPr>
              <a:t>学员自助区入口</a:t>
            </a:r>
          </a:p>
        </p:txBody>
      </p:sp>
      <p:sp>
        <p:nvSpPr>
          <p:cNvPr id="12" name="Shape 9">
            <a:extLst xmlns:a="http://schemas.openxmlformats.org/drawingml/2006/main">
              <a:ext uri="{FF2B5EF4-FFF2-40B4-BE49-F238E27FC236}">
                <a16:creationId xmlns:a16="http://schemas.microsoft.com/office/drawing/2014/main" id="{6A2791A9-3197-42D2-BDF8-DB6D82BFA0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92424" y="1572768"/>
            <a:ext cx="2560320" cy="2907792"/>
          </a:xfrm>
          <a:prstGeom xmlns:a="http://schemas.openxmlformats.org/drawingml/2006/main" prst="roundRect">
            <a:avLst>
              <a:gd name="adj" fmla="val 3214"/>
            </a:avLst>
          </a:prstGeom>
          <a:solidFill xmlns:a="http://schemas.openxmlformats.org/drawingml/2006/main">
            <a:srgbClr val="FBFAF7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13" name="Shape 10">
            <a:extLst xmlns:a="http://schemas.openxmlformats.org/drawingml/2006/main">
              <a:ext uri="{FF2B5EF4-FFF2-40B4-BE49-F238E27FC236}">
                <a16:creationId xmlns:a16="http://schemas.microsoft.com/office/drawing/2014/main" id="{E20563E3-8203-470B-845C-9862FFAC1C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48456" y="1828800"/>
            <a:ext cx="512064" cy="512064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E1729"/>
          </a:solidFill>
        </p:spPr>
      </p:sp>
      <p:pic>
        <p:nvPicPr>
          <p:cNvPr id="52" name="Imag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8c3c3da616d4b19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3781593" y="1961937"/>
            <a:ext cx="245791" cy="245791"/>
          </a:xfrm>
          <a:prstGeom xmlns:a="http://schemas.openxmlformats.org/drawingml/2006/main" prst="rect">
            <a:avLst/>
          </a:prstGeom>
        </p:spPr>
      </p:pic>
      <p:sp>
        <p:nvSpPr>
          <p:cNvPr id="15" name="Text 11">
            <a:extLst xmlns:a="http://schemas.openxmlformats.org/drawingml/2006/main">
              <a:ext uri="{FF2B5EF4-FFF2-40B4-BE49-F238E27FC236}">
                <a16:creationId xmlns:a16="http://schemas.microsoft.com/office/drawing/2014/main" id="{36263AF6-0F8E-4790-82BA-9A6FE88988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48456" y="2487168"/>
            <a:ext cx="210312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 b="1">
                <a:solidFill>
                  <a:srgbClr val="0E1729"/>
                </a:solidFill>
                <a:latin typeface="Arial"/>
                <a:ea typeface="Arial"/>
                <a:cs typeface="Arial"/>
              </a:rPr>
              <a:t>快速报名 Register</a:t>
            </a:r>
          </a:p>
        </p:txBody>
      </p:sp>
      <p:sp>
        <p:nvSpPr>
          <p:cNvPr id="16" name="Text 12">
            <a:extLst xmlns:a="http://schemas.openxmlformats.org/drawingml/2006/main">
              <a:ext uri="{FF2B5EF4-FFF2-40B4-BE49-F238E27FC236}">
                <a16:creationId xmlns:a16="http://schemas.microsoft.com/office/drawing/2014/main" id="{5D7C0BB3-37A6-44F8-A30F-18548B0A02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48456" y="2834640"/>
            <a:ext cx="210312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>
                <a:solidFill>
                  <a:srgbClr val="94A3B8"/>
                </a:solidFill>
                <a:latin typeface="Arial"/>
                <a:ea typeface="Arial"/>
                <a:cs typeface="Arial"/>
              </a:rPr>
              <a:t>/&lt;机构名&gt;/register</a:t>
            </a:r>
          </a:p>
        </p:txBody>
      </p:sp>
      <p:sp>
        <p:nvSpPr>
          <p:cNvPr id="17" name="Text 13">
            <a:extLst xmlns:a="http://schemas.openxmlformats.org/drawingml/2006/main">
              <a:ext uri="{FF2B5EF4-FFF2-40B4-BE49-F238E27FC236}">
                <a16:creationId xmlns:a16="http://schemas.microsoft.com/office/drawing/2014/main" id="{70CE7E40-5515-4939-AD04-15A300CCC4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48456" y="3218688"/>
            <a:ext cx="2103120" cy="1371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101600" indent="-101600">
              <a:spcAft>
                <a:spcPts val="600"/>
              </a:spcAft>
              <a:buSzPct val="100000"/>
              <a:buChar char="•"/>
            </a:pPr>
            <a:r>
              <a:rPr sz="1050">
                <a:solidFill>
                  <a:srgbClr val="475569"/>
                </a:solidFill>
                <a:latin typeface="Arial"/>
                <a:ea typeface="Arial"/>
                <a:cs typeface="Arial"/>
              </a:rPr>
              <a:t>独立报名页,可扫码直达</a:t>
            </a:r>
          </a:p>
          <a:p xmlns:a="http://schemas.openxmlformats.org/drawingml/2006/main">
            <a:pPr marL="101600" indent="-101600">
              <a:spcAft>
                <a:spcPts val="600"/>
              </a:spcAft>
              <a:buSzPct val="100000"/>
              <a:buChar char="•"/>
            </a:pPr>
            <a:r>
              <a:rPr sz="1050">
                <a:solidFill>
                  <a:srgbClr val="475569"/>
                </a:solidFill>
                <a:latin typeface="Arial"/>
                <a:ea typeface="Arial"/>
                <a:cs typeface="Arial"/>
              </a:rPr>
              <a:t>机构自定义报名问题</a:t>
            </a:r>
          </a:p>
          <a:p xmlns:a="http://schemas.openxmlformats.org/drawingml/2006/main">
            <a:pPr marL="101600" indent="-101600">
              <a:spcAft>
                <a:spcPts val="600"/>
              </a:spcAft>
              <a:buSzPct val="100000"/>
              <a:buChar char="•"/>
            </a:pPr>
            <a:r>
              <a:rPr sz="1050">
                <a:solidFill>
                  <a:srgbClr val="475569"/>
                </a:solidFill>
                <a:latin typeface="Arial"/>
                <a:ea typeface="Arial"/>
                <a:cs typeface="Arial"/>
              </a:rPr>
              <a:t>与门户共用同一审核流</a:t>
            </a:r>
          </a:p>
        </p:txBody>
      </p:sp>
      <p:sp>
        <p:nvSpPr>
          <p:cNvPr id="18" name="Shape 14">
            <a:extLst xmlns:a="http://schemas.openxmlformats.org/drawingml/2006/main">
              <a:ext uri="{FF2B5EF4-FFF2-40B4-BE49-F238E27FC236}">
                <a16:creationId xmlns:a16="http://schemas.microsoft.com/office/drawing/2014/main" id="{9C31E7DD-3752-495F-8E25-01D9E59AE9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6208" y="1572768"/>
            <a:ext cx="2560320" cy="2907792"/>
          </a:xfrm>
          <a:prstGeom xmlns:a="http://schemas.openxmlformats.org/drawingml/2006/main" prst="roundRect">
            <a:avLst>
              <a:gd name="adj" fmla="val 3214"/>
            </a:avLst>
          </a:prstGeom>
          <a:solidFill xmlns:a="http://schemas.openxmlformats.org/drawingml/2006/main">
            <a:srgbClr val="FBFAF7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19" name="Shape 15">
            <a:extLst xmlns:a="http://schemas.openxmlformats.org/drawingml/2006/main">
              <a:ext uri="{FF2B5EF4-FFF2-40B4-BE49-F238E27FC236}">
                <a16:creationId xmlns:a16="http://schemas.microsoft.com/office/drawing/2014/main" id="{A2DF18F4-C036-45B7-BDEA-2B84B110D3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2240" y="1828800"/>
            <a:ext cx="512064" cy="512064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E1729"/>
          </a:solidFill>
        </p:spPr>
      </p:sp>
      <p:pic>
        <p:nvPicPr>
          <p:cNvPr id="58" name="Image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f7d51cddc534cee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625377" y="1961937"/>
            <a:ext cx="245791" cy="245791"/>
          </a:xfrm>
          <a:prstGeom xmlns:a="http://schemas.openxmlformats.org/drawingml/2006/main" prst="rect">
            <a:avLst/>
          </a:prstGeom>
        </p:spPr>
      </p:pic>
      <p:sp>
        <p:nvSpPr>
          <p:cNvPr id="21" name="Text 16">
            <a:extLst xmlns:a="http://schemas.openxmlformats.org/drawingml/2006/main">
              <a:ext uri="{FF2B5EF4-FFF2-40B4-BE49-F238E27FC236}">
                <a16:creationId xmlns:a16="http://schemas.microsoft.com/office/drawing/2014/main" id="{710EBA34-3B57-4407-A1E2-BA2CD394F3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2240" y="2487168"/>
            <a:ext cx="210312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 b="1">
                <a:solidFill>
                  <a:srgbClr val="0E1729"/>
                </a:solidFill>
                <a:latin typeface="Arial"/>
                <a:ea typeface="Arial"/>
                <a:cs typeface="Arial"/>
              </a:rPr>
              <a:t>运营 CMS</a:t>
            </a:r>
          </a:p>
        </p:txBody>
      </p:sp>
      <p:sp>
        <p:nvSpPr>
          <p:cNvPr id="22" name="Text 17">
            <a:extLst xmlns:a="http://schemas.openxmlformats.org/drawingml/2006/main">
              <a:ext uri="{FF2B5EF4-FFF2-40B4-BE49-F238E27FC236}">
                <a16:creationId xmlns:a16="http://schemas.microsoft.com/office/drawing/2014/main" id="{DDC9BF04-88AA-4BD9-B728-FD27CC4E1D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2240" y="2834640"/>
            <a:ext cx="210312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>
                <a:solidFill>
                  <a:srgbClr val="94A3B8"/>
                </a:solidFill>
                <a:latin typeface="Arial"/>
                <a:ea typeface="Arial"/>
                <a:cs typeface="Arial"/>
              </a:rPr>
              <a:t>/&lt;机构名&gt;/cms</a:t>
            </a:r>
          </a:p>
        </p:txBody>
      </p:sp>
      <p:sp>
        <p:nvSpPr>
          <p:cNvPr id="23" name="Text 18">
            <a:extLst xmlns:a="http://schemas.openxmlformats.org/drawingml/2006/main">
              <a:ext uri="{FF2B5EF4-FFF2-40B4-BE49-F238E27FC236}">
                <a16:creationId xmlns:a16="http://schemas.microsoft.com/office/drawing/2014/main" id="{C6499FC5-5629-4D46-9931-66022AABEE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2240" y="3218688"/>
            <a:ext cx="2103120" cy="1371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101600" indent="-101600">
              <a:spcAft>
                <a:spcPts val="600"/>
              </a:spcAft>
              <a:buSzPct val="100000"/>
              <a:buChar char="•"/>
            </a:pPr>
            <a:r>
              <a:rPr sz="1050">
                <a:solidFill>
                  <a:srgbClr val="475569"/>
                </a:solidFill>
                <a:latin typeface="Arial"/>
                <a:ea typeface="Arial"/>
                <a:cs typeface="Arial"/>
              </a:rPr>
              <a:t>学员 · 排课 · 签到 · 课时</a:t>
            </a:r>
          </a:p>
          <a:p xmlns:a="http://schemas.openxmlformats.org/drawingml/2006/main">
            <a:pPr marL="101600" indent="-101600">
              <a:spcAft>
                <a:spcPts val="600"/>
              </a:spcAft>
              <a:buSzPct val="100000"/>
              <a:buChar char="•"/>
            </a:pPr>
            <a:r>
              <a:rPr sz="1050">
                <a:solidFill>
                  <a:srgbClr val="475569"/>
                </a:solidFill>
                <a:latin typeface="Arial"/>
                <a:ea typeface="Arial"/>
                <a:cs typeface="Arial"/>
              </a:rPr>
              <a:t>收退费 · 报名审核 · 日志</a:t>
            </a:r>
          </a:p>
          <a:p xmlns:a="http://schemas.openxmlformats.org/drawingml/2006/main">
            <a:pPr marL="101600" indent="-101600">
              <a:spcAft>
                <a:spcPts val="600"/>
              </a:spcAft>
              <a:buSzPct val="100000"/>
              <a:buChar char="•"/>
            </a:pPr>
            <a:r>
              <a:rPr sz="1050">
                <a:solidFill>
                  <a:srgbClr val="475569"/>
                </a:solidFill>
                <a:latin typeface="Arial"/>
                <a:ea typeface="Arial"/>
                <a:cs typeface="Arial"/>
              </a:rPr>
              <a:t>作品集与数据统计</a:t>
            </a:r>
          </a:p>
        </p:txBody>
      </p:sp>
      <p:sp>
        <p:nvSpPr>
          <p:cNvPr id="24" name="Shape 19">
            <a:extLst xmlns:a="http://schemas.openxmlformats.org/drawingml/2006/main">
              <a:ext uri="{FF2B5EF4-FFF2-40B4-BE49-F238E27FC236}">
                <a16:creationId xmlns:a16="http://schemas.microsoft.com/office/drawing/2014/main" id="{4DBBF541-18ED-457E-B184-D6E474C39D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79992" y="1572768"/>
            <a:ext cx="2560320" cy="2907792"/>
          </a:xfrm>
          <a:prstGeom xmlns:a="http://schemas.openxmlformats.org/drawingml/2006/main" prst="roundRect">
            <a:avLst>
              <a:gd name="adj" fmla="val 3214"/>
            </a:avLst>
          </a:prstGeom>
          <a:solidFill xmlns:a="http://schemas.openxmlformats.org/drawingml/2006/main">
            <a:srgbClr val="FBFAF7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25" name="Shape 20">
            <a:extLst xmlns:a="http://schemas.openxmlformats.org/drawingml/2006/main">
              <a:ext uri="{FF2B5EF4-FFF2-40B4-BE49-F238E27FC236}">
                <a16:creationId xmlns:a16="http://schemas.microsoft.com/office/drawing/2014/main" id="{6B94FC70-A55A-49A4-AE41-7C3606406C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6024" y="1828800"/>
            <a:ext cx="512064" cy="512064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5B335"/>
          </a:solidFill>
        </p:spPr>
      </p:sp>
      <p:pic>
        <p:nvPicPr>
          <p:cNvPr id="64" name="Image 3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f1f3bb21ab5443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9469161" y="1961937"/>
            <a:ext cx="245791" cy="245791"/>
          </a:xfrm>
          <a:prstGeom xmlns:a="http://schemas.openxmlformats.org/drawingml/2006/main" prst="rect">
            <a:avLst/>
          </a:prstGeom>
        </p:spPr>
      </p:pic>
      <p:sp>
        <p:nvSpPr>
          <p:cNvPr id="27" name="Text 21">
            <a:extLst xmlns:a="http://schemas.openxmlformats.org/drawingml/2006/main">
              <a:ext uri="{FF2B5EF4-FFF2-40B4-BE49-F238E27FC236}">
                <a16:creationId xmlns:a16="http://schemas.microsoft.com/office/drawing/2014/main" id="{2B67D39E-4A2A-4BDE-A3FA-D51902D22B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6024" y="2487168"/>
            <a:ext cx="210312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 b="1">
                <a:solidFill>
                  <a:srgbClr val="0E1729"/>
                </a:solidFill>
                <a:latin typeface="Arial"/>
                <a:ea typeface="Arial"/>
                <a:cs typeface="Arial"/>
              </a:rPr>
              <a:t>品牌工作台 Studio Admin</a:t>
            </a:r>
          </a:p>
        </p:txBody>
      </p:sp>
      <p:sp>
        <p:nvSpPr>
          <p:cNvPr id="28" name="Text 22">
            <a:extLst xmlns:a="http://schemas.openxmlformats.org/drawingml/2006/main">
              <a:ext uri="{FF2B5EF4-FFF2-40B4-BE49-F238E27FC236}">
                <a16:creationId xmlns:a16="http://schemas.microsoft.com/office/drawing/2014/main" id="{4D08D27C-0D17-4DA7-AAC0-B91B5BEC19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6024" y="2834640"/>
            <a:ext cx="210312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>
                <a:solidFill>
                  <a:srgbClr val="94A3B8"/>
                </a:solidFill>
                <a:latin typeface="Arial"/>
                <a:ea typeface="Arial"/>
                <a:cs typeface="Arial"/>
              </a:rPr>
              <a:t>/&lt;机构名&gt;/studio-admin</a:t>
            </a:r>
          </a:p>
        </p:txBody>
      </p:sp>
      <p:sp>
        <p:nvSpPr>
          <p:cNvPr id="29" name="Text 23">
            <a:extLst xmlns:a="http://schemas.openxmlformats.org/drawingml/2006/main">
              <a:ext uri="{FF2B5EF4-FFF2-40B4-BE49-F238E27FC236}">
                <a16:creationId xmlns:a16="http://schemas.microsoft.com/office/drawing/2014/main" id="{D59C3B4F-5537-495D-B526-9A50B549E9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6024" y="3218688"/>
            <a:ext cx="2103120" cy="1371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101600" indent="-101600">
              <a:spcAft>
                <a:spcPts val="600"/>
              </a:spcAft>
              <a:buSzPct val="100000"/>
              <a:buChar char="•"/>
            </a:pPr>
            <a:r>
              <a:rPr sz="1050">
                <a:solidFill>
                  <a:srgbClr val="475569"/>
                </a:solidFill>
                <a:latin typeface="Arial"/>
                <a:ea typeface="Arial"/>
                <a:cs typeface="Arial"/>
              </a:rPr>
              <a:t>Logo · 配色 · 双语文案</a:t>
            </a:r>
          </a:p>
          <a:p xmlns:a="http://schemas.openxmlformats.org/drawingml/2006/main">
            <a:pPr marL="101600" indent="-101600">
              <a:spcAft>
                <a:spcPts val="600"/>
              </a:spcAft>
              <a:buSzPct val="100000"/>
              <a:buChar char="•"/>
            </a:pPr>
            <a:r>
              <a:rPr sz="1050">
                <a:solidFill>
                  <a:srgbClr val="475569"/>
                </a:solidFill>
                <a:latin typeface="Arial"/>
                <a:ea typeface="Arial"/>
                <a:cs typeface="Arial"/>
              </a:rPr>
              <a:t>报名字段配置与预览</a:t>
            </a:r>
          </a:p>
          <a:p xmlns:a="http://schemas.openxmlformats.org/drawingml/2006/main">
            <a:pPr marL="101600" indent="-101600">
              <a:spcAft>
                <a:spcPts val="600"/>
              </a:spcAft>
              <a:buSzPct val="100000"/>
              <a:buChar char="•"/>
            </a:pPr>
            <a:r>
              <a:rPr sz="1050">
                <a:solidFill>
                  <a:srgbClr val="475569"/>
                </a:solidFill>
                <a:latin typeface="Arial"/>
                <a:ea typeface="Arial"/>
                <a:cs typeface="Arial"/>
              </a:rPr>
              <a:t>草稿 → 发布 → 版本回滚</a:t>
            </a:r>
          </a:p>
        </p:txBody>
      </p:sp>
      <p:sp>
        <p:nvSpPr>
          <p:cNvPr id="30" name="Shape 24">
            <a:extLst xmlns:a="http://schemas.openxmlformats.org/drawingml/2006/main">
              <a:ext uri="{FF2B5EF4-FFF2-40B4-BE49-F238E27FC236}">
                <a16:creationId xmlns:a16="http://schemas.microsoft.com/office/drawing/2014/main" id="{0AC73118-C98A-4AD7-A535-7BF087A0C4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4800600"/>
            <a:ext cx="11091672" cy="1234440"/>
          </a:xfrm>
          <a:prstGeom xmlns:a="http://schemas.openxmlformats.org/drawingml/2006/main" prst="roundRect">
            <a:avLst>
              <a:gd name="adj" fmla="val 6667"/>
            </a:avLst>
          </a:prstGeom>
          <a:solidFill xmlns:a="http://schemas.openxmlformats.org/drawingml/2006/main">
            <a:srgbClr val="0E1729"/>
          </a:solidFill>
        </p:spPr>
      </p:sp>
      <p:sp>
        <p:nvSpPr>
          <p:cNvPr id="31" name="Shape 25">
            <a:extLst xmlns:a="http://schemas.openxmlformats.org/drawingml/2006/main">
              <a:ext uri="{FF2B5EF4-FFF2-40B4-BE49-F238E27FC236}">
                <a16:creationId xmlns:a16="http://schemas.microsoft.com/office/drawing/2014/main" id="{75B3F4EB-CC77-43E2-9DB6-705A354F31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" y="5166360"/>
            <a:ext cx="512064" cy="512064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2355A"/>
          </a:solidFill>
        </p:spPr>
      </p:sp>
      <p:pic>
        <p:nvPicPr>
          <p:cNvPr id="70" name="Image 4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6f3948235094962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001817" y="5299497"/>
            <a:ext cx="245791" cy="245791"/>
          </a:xfrm>
          <a:prstGeom xmlns:a="http://schemas.openxmlformats.org/drawingml/2006/main" prst="rect">
            <a:avLst/>
          </a:prstGeom>
        </p:spPr>
      </p:pic>
      <p:sp>
        <p:nvSpPr>
          <p:cNvPr id="33" name="Text 26">
            <a:extLst xmlns:a="http://schemas.openxmlformats.org/drawingml/2006/main">
              <a:ext uri="{FF2B5EF4-FFF2-40B4-BE49-F238E27FC236}">
                <a16:creationId xmlns:a16="http://schemas.microsoft.com/office/drawing/2014/main" id="{E0E556C9-496C-49E5-B01B-6CBF30FC9D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0200" y="5001768"/>
            <a:ext cx="594360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Super Admin · 商业控制台(平台侧)</a:t>
            </a:r>
          </a:p>
        </p:txBody>
      </p:sp>
      <p:sp>
        <p:nvSpPr>
          <p:cNvPr id="34" name="Text 27">
            <a:extLst xmlns:a="http://schemas.openxmlformats.org/drawingml/2006/main">
              <a:ext uri="{FF2B5EF4-FFF2-40B4-BE49-F238E27FC236}">
                <a16:creationId xmlns:a16="http://schemas.microsoft.com/office/drawing/2014/main" id="{CBB73B64-F39C-44CE-9B15-4D0B457B03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0200" y="5385816"/>
            <a:ext cx="978408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50">
                <a:solidFill>
                  <a:srgbClr val="CBD5E1"/>
                </a:solidFill>
                <a:latin typeface="Arial"/>
                <a:ea typeface="Arial"/>
                <a:cs typeface="Arial"/>
              </a:rPr>
              <a:t>租户开通 / 套餐与账单 / 用量监控 / 审计日志 —— 平台方不接触学员敏感数据,进店必须走留痕的支持模式</a:t>
            </a:r>
          </a:p>
        </p:txBody>
      </p:sp>
    </p:spTree>
    <p:extLst>
      <p:ext uri="{BB962C8B-B14F-4D97-AF65-F5344CB8AC3E}">
        <p14:creationId xmlns:p14="http://schemas.microsoft.com/office/powerpoint/2010/main" val="1450200110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CBFB38D9-923C-412D-A020-77D5E98077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457200"/>
            <a:ext cx="182880" cy="182880"/>
          </a:xfrm>
          <a:prstGeom xmlns:a="http://schemas.openxmlformats.org/drawingml/2006/main" prst="star4">
            <a:avLst/>
          </a:prstGeom>
          <a:solidFill xmlns:a="http://schemas.openxmlformats.org/drawingml/2006/main">
            <a:srgbClr val="F5B335"/>
          </a:solidFill>
        </p:spPr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BD6E3187-3D4C-4351-8F83-75924384FA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" y="384048"/>
            <a:ext cx="731520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b="1">
                <a:solidFill>
                  <a:srgbClr val="64748B"/>
                </a:solidFill>
                <a:latin typeface="Arial"/>
                <a:ea typeface="Arial"/>
                <a:cs typeface="Arial"/>
              </a:rPr>
              <a:t>获客 · 门户</a:t>
            </a:r>
          </a:p>
        </p:txBody>
      </p:sp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9C98EEA8-1811-462B-912A-7ADD8B9B85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731520"/>
            <a:ext cx="11064240" cy="56692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700" b="1">
                <a:solidFill>
                  <a:srgbClr val="0E1729"/>
                </a:solidFill>
                <a:latin typeface="Arial"/>
                <a:ea typeface="Arial"/>
                <a:cs typeface="Arial"/>
              </a:rPr>
              <a:t>把作品挂上网,把报名开进门</a:t>
            </a:r>
          </a:p>
        </p:txBody>
      </p:sp>
      <p:sp>
        <p:nvSpPr>
          <p:cNvPr id="5" name="Text 3">
            <a:extLst xmlns:a="http://schemas.openxmlformats.org/drawingml/2006/main">
              <a:ext uri="{FF2B5EF4-FFF2-40B4-BE49-F238E27FC236}">
                <a16:creationId xmlns:a16="http://schemas.microsoft.com/office/drawing/2014/main" id="{A9A954F3-2B99-4D79-81BB-5D4A959A2C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473952"/>
            <a:ext cx="54864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1000">
                <a:solidFill>
                  <a:srgbClr val="94A3B8"/>
                </a:solidFill>
                <a:latin typeface="Arial"/>
                <a:ea typeface="Arial"/>
                <a:cs typeface="Arial"/>
              </a:rPr>
              <a:t>04</a:t>
            </a:r>
          </a:p>
        </p:txBody>
      </p:sp>
      <p:sp>
        <p:nvSpPr>
          <p:cNvPr id="6" name="Text 4">
            <a:extLst xmlns:a="http://schemas.openxmlformats.org/drawingml/2006/main">
              <a:ext uri="{FF2B5EF4-FFF2-40B4-BE49-F238E27FC236}">
                <a16:creationId xmlns:a16="http://schemas.microsoft.com/office/drawing/2014/main" id="{9519D7CA-9C41-4464-8615-C48DB9D83A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737360"/>
            <a:ext cx="5943600" cy="46634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152400" indent="-152400">
              <a:spcAft>
                <a:spcPts val="200"/>
              </a:spcAft>
              <a:buSzPct val="100000"/>
              <a:buChar char="•"/>
            </a:pPr>
            <a:r>
              <a:rPr sz="1350" b="1">
                <a:solidFill>
                  <a:srgbClr val="0E1729"/>
                </a:solidFill>
                <a:latin typeface="Arial"/>
                <a:ea typeface="Arial"/>
                <a:cs typeface="Arial"/>
              </a:rPr>
              <a:t>自带公开官网</a:t>
            </a:r>
          </a:p>
          <a:p xmlns:a="http://schemas.openxmlformats.org/drawingml/2006/main">
            <a:pPr marL="0" lvl="1" indent="0">
              <a:spcAft>
                <a:spcPts val="1200"/>
              </a:spcAft>
              <a:buNone/>
            </a:pPr>
            <a:r>
              <a:rPr sz="1150">
                <a:solidFill>
                  <a:srgbClr val="0E1729"/>
                </a:solidFill>
                <a:latin typeface="Arial"/>
                <a:ea typeface="Arial"/>
                <a:cs typeface="Arial"/>
              </a:rPr>
              <a:t>课程介绍、师资与作品集、FAQ、联系方式,开通即上线</a:t>
            </a:r>
          </a:p>
          <a:p xmlns:a="http://schemas.openxmlformats.org/drawingml/2006/main">
            <a:pPr marL="152400" indent="-152400">
              <a:spcAft>
                <a:spcPts val="200"/>
              </a:spcAft>
              <a:buSzPct val="100000"/>
              <a:buChar char="•"/>
            </a:pPr>
            <a:r>
              <a:rPr sz="1350" b="1">
                <a:solidFill>
                  <a:srgbClr val="0E1729"/>
                </a:solidFill>
                <a:latin typeface="Arial"/>
                <a:ea typeface="Arial"/>
                <a:cs typeface="Arial"/>
              </a:rPr>
              <a:t>页内报名,零跳转</a:t>
            </a:r>
          </a:p>
          <a:p xmlns:a="http://schemas.openxmlformats.org/drawingml/2006/main">
            <a:pPr marL="0" lvl="1" indent="0">
              <a:spcAft>
                <a:spcPts val="1200"/>
              </a:spcAft>
              <a:buNone/>
            </a:pPr>
            <a:r>
              <a:rPr sz="1150">
                <a:solidFill>
                  <a:srgbClr val="0E1729"/>
                </a:solidFill>
                <a:latin typeface="Arial"/>
                <a:ea typeface="Arial"/>
                <a:cs typeface="Arial"/>
              </a:rPr>
              <a:t>访客在官网内直接完成报名,减少流失;也可用独立报名页扫码直达</a:t>
            </a:r>
          </a:p>
          <a:p xmlns:a="http://schemas.openxmlformats.org/drawingml/2006/main">
            <a:pPr marL="152400" indent="-152400">
              <a:spcAft>
                <a:spcPts val="200"/>
              </a:spcAft>
              <a:buSzPct val="100000"/>
              <a:buChar char="•"/>
            </a:pPr>
            <a:r>
              <a:rPr sz="1350" b="1">
                <a:solidFill>
                  <a:srgbClr val="0E1729"/>
                </a:solidFill>
                <a:latin typeface="Arial"/>
                <a:ea typeface="Arial"/>
                <a:cs typeface="Arial"/>
              </a:rPr>
              <a:t>中英双语一键切换</a:t>
            </a:r>
          </a:p>
          <a:p xmlns:a="http://schemas.openxmlformats.org/drawingml/2006/main">
            <a:pPr marL="0" lvl="1" indent="0">
              <a:spcAft>
                <a:spcPts val="1200"/>
              </a:spcAft>
              <a:buNone/>
            </a:pPr>
            <a:r>
              <a:rPr sz="1150">
                <a:solidFill>
                  <a:srgbClr val="0E1729"/>
                </a:solidFill>
                <a:latin typeface="Arial"/>
                <a:ea typeface="Arial"/>
                <a:cs typeface="Arial"/>
              </a:rPr>
              <a:t>所有公开文案双语维护,面向多语言家庭的社区尤其有效</a:t>
            </a:r>
          </a:p>
          <a:p xmlns:a="http://schemas.openxmlformats.org/drawingml/2006/main">
            <a:pPr marL="152400" indent="-152400">
              <a:spcAft>
                <a:spcPts val="200"/>
              </a:spcAft>
              <a:buSzPct val="100000"/>
              <a:buChar char="•"/>
            </a:pPr>
            <a:r>
              <a:rPr sz="1350" b="1">
                <a:solidFill>
                  <a:srgbClr val="0E1729"/>
                </a:solidFill>
                <a:latin typeface="Arial"/>
                <a:ea typeface="Arial"/>
                <a:cs typeface="Arial"/>
              </a:rPr>
              <a:t>来源可追踪</a:t>
            </a:r>
          </a:p>
          <a:p xmlns:a="http://schemas.openxmlformats.org/drawingml/2006/main">
            <a:pPr marL="0" lvl="1" indent="0">
              <a:spcAft>
                <a:spcPts val="1200"/>
              </a:spcAft>
              <a:buNone/>
            </a:pPr>
            <a:r>
              <a:rPr sz="1150">
                <a:solidFill>
                  <a:srgbClr val="0E1729"/>
                </a:solidFill>
                <a:latin typeface="Arial"/>
                <a:ea typeface="Arial"/>
                <a:cs typeface="Arial"/>
              </a:rPr>
              <a:t>报名自动记录来源渠道与 UTM 参数,知道每个学员从哪里来</a:t>
            </a:r>
          </a:p>
          <a:p xmlns:a="http://schemas.openxmlformats.org/drawingml/2006/main">
            <a:pPr marL="152400" indent="-152400">
              <a:spcAft>
                <a:spcPts val="200"/>
              </a:spcAft>
              <a:buSzPct val="100000"/>
              <a:buChar char="•"/>
            </a:pPr>
            <a:r>
              <a:rPr sz="1350" b="1">
                <a:solidFill>
                  <a:srgbClr val="0E1729"/>
                </a:solidFill>
                <a:latin typeface="Arial"/>
                <a:ea typeface="Arial"/>
                <a:cs typeface="Arial"/>
              </a:rPr>
              <a:t>学员自助区入口</a:t>
            </a:r>
          </a:p>
          <a:p xmlns:a="http://schemas.openxmlformats.org/drawingml/2006/main">
            <a:pPr marL="0" lvl="1" indent="0">
              <a:spcAft>
                <a:spcPts val="1200"/>
              </a:spcAft>
              <a:buNone/>
            </a:pPr>
            <a:r>
              <a:rPr sz="1150">
                <a:solidFill>
                  <a:srgbClr val="0E1729"/>
                </a:solidFill>
                <a:latin typeface="Arial"/>
                <a:ea typeface="Arial"/>
                <a:cs typeface="Arial"/>
              </a:rPr>
              <a:t>老学员凭访问码自助查询,减少前台重复答疑</a:t>
            </a:r>
          </a:p>
        </p:txBody>
      </p:sp>
      <p:sp>
        <p:nvSpPr>
          <p:cNvPr id="7" name="Shape 5">
            <a:extLst xmlns:a="http://schemas.openxmlformats.org/drawingml/2006/main">
              <a:ext uri="{FF2B5EF4-FFF2-40B4-BE49-F238E27FC236}">
                <a16:creationId xmlns:a16="http://schemas.microsoft.com/office/drawing/2014/main" id="{74CBFFD2-BF56-43C0-9698-095A818A9F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03720" y="1737360"/>
            <a:ext cx="4709160" cy="4526280"/>
          </a:xfrm>
          <a:prstGeom xmlns:a="http://schemas.openxmlformats.org/drawingml/2006/main" prst="roundRect">
            <a:avLst>
              <a:gd name="adj" fmla="val 161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E2E8F0"/>
            </a:solidFill>
            <a:prstDash val="solid"/>
          </a:ln>
          <a:effectLst xmlns:a="http://schemas.openxmlformats.org/drawingml/2006/main">
            <a:outerShdw blurRad="127000" dist="38100" dir="5400000" sx="100000" sy="100000" kx="0" ky="0" algn="bl" rotWithShape="0">
              <a:srgbClr val="0F172A">
                <a:alpha val="14000"/>
              </a:srgbClr>
            </a:outerShdw>
          </a:effectLst>
        </p:spPr>
      </p:sp>
      <p:sp>
        <p:nvSpPr>
          <p:cNvPr id="8" name="Shape 6">
            <a:extLst xmlns:a="http://schemas.openxmlformats.org/drawingml/2006/main">
              <a:ext uri="{FF2B5EF4-FFF2-40B4-BE49-F238E27FC236}">
                <a16:creationId xmlns:a16="http://schemas.microsoft.com/office/drawing/2014/main" id="{AC28EED1-3E5D-45C9-A846-1EC111276A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03720" y="1737360"/>
            <a:ext cx="4709160" cy="34747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5F2"/>
          </a:solidFill>
        </p:spPr>
      </p:sp>
      <p:sp>
        <p:nvSpPr>
          <p:cNvPr id="9" name="Shape 7">
            <a:extLst xmlns:a="http://schemas.openxmlformats.org/drawingml/2006/main">
              <a:ext uri="{FF2B5EF4-FFF2-40B4-BE49-F238E27FC236}">
                <a16:creationId xmlns:a16="http://schemas.microsoft.com/office/drawing/2014/main" id="{E3FAB498-F645-49E2-87C1-D086B88F52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68312" y="1856232"/>
            <a:ext cx="109728" cy="1097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BD5E1"/>
          </a:solidFill>
        </p:spPr>
      </p:sp>
      <p:sp>
        <p:nvSpPr>
          <p:cNvPr id="10" name="Shape 8">
            <a:extLst xmlns:a="http://schemas.openxmlformats.org/drawingml/2006/main">
              <a:ext uri="{FF2B5EF4-FFF2-40B4-BE49-F238E27FC236}">
                <a16:creationId xmlns:a16="http://schemas.microsoft.com/office/drawing/2014/main" id="{ADC674DA-4273-4F2D-BE04-0D88BE4B36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69480" y="1856232"/>
            <a:ext cx="109728" cy="1097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BD5E1"/>
          </a:solidFill>
        </p:spPr>
      </p:sp>
      <p:sp>
        <p:nvSpPr>
          <p:cNvPr id="11" name="Shape 9">
            <a:extLst xmlns:a="http://schemas.openxmlformats.org/drawingml/2006/main">
              <a:ext uri="{FF2B5EF4-FFF2-40B4-BE49-F238E27FC236}">
                <a16:creationId xmlns:a16="http://schemas.microsoft.com/office/drawing/2014/main" id="{D46E1CA2-428E-45C7-A2A3-BF7E010084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70648" y="1856232"/>
            <a:ext cx="109728" cy="1097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BD5E1"/>
          </a:solidFill>
        </p:spPr>
      </p:sp>
      <p:sp>
        <p:nvSpPr>
          <p:cNvPr id="12" name="Text 10">
            <a:extLst xmlns:a="http://schemas.openxmlformats.org/drawingml/2006/main">
              <a:ext uri="{FF2B5EF4-FFF2-40B4-BE49-F238E27FC236}">
                <a16:creationId xmlns:a16="http://schemas.microsoft.com/office/drawing/2014/main" id="{720A3B7B-0839-48DD-B486-B2DE0B29DD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0" y="1755648"/>
            <a:ext cx="310896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>
                <a:solidFill>
                  <a:srgbClr val="94A3B8"/>
                </a:solidFill>
                <a:latin typeface="Arial"/>
                <a:ea typeface="Arial"/>
                <a:cs typeface="Arial"/>
              </a:rPr>
              <a:t>yourstudio.example — 门户</a:t>
            </a:r>
          </a:p>
        </p:txBody>
      </p:sp>
      <p:sp>
        <p:nvSpPr>
          <p:cNvPr id="13" name="Shape 11">
            <a:extLst xmlns:a="http://schemas.openxmlformats.org/drawingml/2006/main">
              <a:ext uri="{FF2B5EF4-FFF2-40B4-BE49-F238E27FC236}">
                <a16:creationId xmlns:a16="http://schemas.microsoft.com/office/drawing/2014/main" id="{F0DF5912-092A-44D2-A0DC-AD0039F6A8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32320" y="2286000"/>
            <a:ext cx="4251960" cy="1371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E1729"/>
          </a:solidFill>
        </p:spPr>
      </p:sp>
      <p:sp>
        <p:nvSpPr>
          <p:cNvPr id="14" name="Text 12">
            <a:extLst xmlns:a="http://schemas.openxmlformats.org/drawingml/2006/main">
              <a:ext uri="{FF2B5EF4-FFF2-40B4-BE49-F238E27FC236}">
                <a16:creationId xmlns:a16="http://schemas.microsoft.com/office/drawing/2014/main" id="{9D735412-941D-4FF3-8E3C-839EE6FB1E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60920" y="2450592"/>
            <a:ext cx="310896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让每个孩子爱上创作</a:t>
            </a:r>
          </a:p>
        </p:txBody>
      </p:sp>
      <p:sp>
        <p:nvSpPr>
          <p:cNvPr id="15" name="Text 13">
            <a:extLst xmlns:a="http://schemas.openxmlformats.org/drawingml/2006/main">
              <a:ext uri="{FF2B5EF4-FFF2-40B4-BE49-F238E27FC236}">
                <a16:creationId xmlns:a16="http://schemas.microsoft.com/office/drawing/2014/main" id="{D5A00031-50AD-4E47-8FE2-926AC78161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60920" y="2798064"/>
            <a:ext cx="310896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>
                <a:solidFill>
                  <a:srgbClr val="94A3B8"/>
                </a:solidFill>
                <a:latin typeface="Arial"/>
                <a:ea typeface="Arial"/>
                <a:cs typeface="Arial"/>
              </a:rPr>
              <a:t>Where every child learns to create</a:t>
            </a:r>
          </a:p>
        </p:txBody>
      </p:sp>
      <p:sp>
        <p:nvSpPr>
          <p:cNvPr id="16" name="Shape 14">
            <a:extLst xmlns:a="http://schemas.openxmlformats.org/drawingml/2006/main">
              <a:ext uri="{FF2B5EF4-FFF2-40B4-BE49-F238E27FC236}">
                <a16:creationId xmlns:a16="http://schemas.microsoft.com/office/drawing/2014/main" id="{D637C2B7-3E9B-4DD7-B788-F538AD3144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60920" y="3127248"/>
            <a:ext cx="1143000" cy="347472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5B335"/>
          </a:solidFill>
        </p:spPr>
      </p:sp>
      <p:sp>
        <p:nvSpPr>
          <p:cNvPr id="17" name="Text 15">
            <a:extLst xmlns:a="http://schemas.openxmlformats.org/drawingml/2006/main">
              <a:ext uri="{FF2B5EF4-FFF2-40B4-BE49-F238E27FC236}">
                <a16:creationId xmlns:a16="http://schemas.microsoft.com/office/drawing/2014/main" id="{150A61D0-5C43-489E-B404-09482C6321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60920" y="3127248"/>
            <a:ext cx="1143000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50" b="1">
                <a:solidFill>
                  <a:srgbClr val="0E1729"/>
                </a:solidFill>
                <a:latin typeface="Arial"/>
                <a:ea typeface="Arial"/>
                <a:cs typeface="Arial"/>
              </a:rPr>
              <a:t>立即报名</a:t>
            </a:r>
          </a:p>
        </p:txBody>
      </p:sp>
      <p:sp>
        <p:nvSpPr>
          <p:cNvPr id="18" name="Shape 16">
            <a:extLst xmlns:a="http://schemas.openxmlformats.org/drawingml/2006/main">
              <a:ext uri="{FF2B5EF4-FFF2-40B4-BE49-F238E27FC236}">
                <a16:creationId xmlns:a16="http://schemas.microsoft.com/office/drawing/2014/main" id="{6129CAC3-9750-4C44-A5BD-9632FEDBCF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32320" y="3840480"/>
            <a:ext cx="1325880" cy="1143000"/>
          </a:xfrm>
          <a:prstGeom xmlns:a="http://schemas.openxmlformats.org/drawingml/2006/main" prst="roundRect">
            <a:avLst>
              <a:gd name="adj" fmla="val 4800"/>
            </a:avLst>
          </a:prstGeom>
          <a:solidFill xmlns:a="http://schemas.openxmlformats.org/drawingml/2006/main">
            <a:srgbClr val="FBFAF7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19" name="Shape 17">
            <a:extLst xmlns:a="http://schemas.openxmlformats.org/drawingml/2006/main">
              <a:ext uri="{FF2B5EF4-FFF2-40B4-BE49-F238E27FC236}">
                <a16:creationId xmlns:a16="http://schemas.microsoft.com/office/drawing/2014/main" id="{6CFA4DDB-3CF9-4114-B73C-291FDF73F5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42048" y="3950208"/>
            <a:ext cx="1106424" cy="5029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5F2"/>
          </a:solidFill>
        </p:spPr>
      </p:sp>
      <p:sp>
        <p:nvSpPr>
          <p:cNvPr id="20" name="Text 18">
            <a:extLst xmlns:a="http://schemas.openxmlformats.org/drawingml/2006/main">
              <a:ext uri="{FF2B5EF4-FFF2-40B4-BE49-F238E27FC236}">
                <a16:creationId xmlns:a16="http://schemas.microsoft.com/office/drawing/2014/main" id="{A3AF82E6-86D1-449F-83BE-6DC96179F2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42048" y="4498848"/>
            <a:ext cx="1106424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50" b="1">
                <a:solidFill>
                  <a:srgbClr val="16233D"/>
                </a:solidFill>
                <a:latin typeface="Arial"/>
                <a:ea typeface="Arial"/>
                <a:cs typeface="Arial"/>
              </a:rPr>
              <a:t>少儿美术</a:t>
            </a:r>
          </a:p>
        </p:txBody>
      </p:sp>
      <p:sp>
        <p:nvSpPr>
          <p:cNvPr id="21" name="Shape 19">
            <a:extLst xmlns:a="http://schemas.openxmlformats.org/drawingml/2006/main">
              <a:ext uri="{FF2B5EF4-FFF2-40B4-BE49-F238E27FC236}">
                <a16:creationId xmlns:a16="http://schemas.microsoft.com/office/drawing/2014/main" id="{56E179B1-4447-4A4F-89C0-A16422200F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5360" y="3840480"/>
            <a:ext cx="1325880" cy="1143000"/>
          </a:xfrm>
          <a:prstGeom xmlns:a="http://schemas.openxmlformats.org/drawingml/2006/main" prst="roundRect">
            <a:avLst>
              <a:gd name="adj" fmla="val 4800"/>
            </a:avLst>
          </a:prstGeom>
          <a:solidFill xmlns:a="http://schemas.openxmlformats.org/drawingml/2006/main">
            <a:srgbClr val="FBFAF7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22" name="Shape 20">
            <a:extLst xmlns:a="http://schemas.openxmlformats.org/drawingml/2006/main">
              <a:ext uri="{FF2B5EF4-FFF2-40B4-BE49-F238E27FC236}">
                <a16:creationId xmlns:a16="http://schemas.microsoft.com/office/drawing/2014/main" id="{CED44034-340B-4029-81D2-836B068D5E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05088" y="3950208"/>
            <a:ext cx="1106424" cy="5029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EF3C7"/>
          </a:solidFill>
        </p:spPr>
      </p:sp>
      <p:sp>
        <p:nvSpPr>
          <p:cNvPr id="23" name="Text 21">
            <a:extLst xmlns:a="http://schemas.openxmlformats.org/drawingml/2006/main">
              <a:ext uri="{FF2B5EF4-FFF2-40B4-BE49-F238E27FC236}">
                <a16:creationId xmlns:a16="http://schemas.microsoft.com/office/drawing/2014/main" id="{BBD5E3CE-253D-40F4-AFE8-0B32963D98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05088" y="4498848"/>
            <a:ext cx="1106424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50" b="1">
                <a:solidFill>
                  <a:srgbClr val="16233D"/>
                </a:solidFill>
                <a:latin typeface="Arial"/>
                <a:ea typeface="Arial"/>
                <a:cs typeface="Arial"/>
              </a:rPr>
              <a:t>素描进阶</a:t>
            </a:r>
          </a:p>
        </p:txBody>
      </p:sp>
      <p:sp>
        <p:nvSpPr>
          <p:cNvPr id="24" name="Shape 22">
            <a:extLst xmlns:a="http://schemas.openxmlformats.org/drawingml/2006/main">
              <a:ext uri="{FF2B5EF4-FFF2-40B4-BE49-F238E27FC236}">
                <a16:creationId xmlns:a16="http://schemas.microsoft.com/office/drawing/2014/main" id="{F4CB471C-E728-4BBA-AF90-C938C4A191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0" y="3840480"/>
            <a:ext cx="1325880" cy="1143000"/>
          </a:xfrm>
          <a:prstGeom xmlns:a="http://schemas.openxmlformats.org/drawingml/2006/main" prst="roundRect">
            <a:avLst>
              <a:gd name="adj" fmla="val 4800"/>
            </a:avLst>
          </a:prstGeom>
          <a:solidFill xmlns:a="http://schemas.openxmlformats.org/drawingml/2006/main">
            <a:srgbClr val="FBFAF7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25" name="Shape 23">
            <a:extLst xmlns:a="http://schemas.openxmlformats.org/drawingml/2006/main">
              <a:ext uri="{FF2B5EF4-FFF2-40B4-BE49-F238E27FC236}">
                <a16:creationId xmlns:a16="http://schemas.microsoft.com/office/drawing/2014/main" id="{FB96FE4E-BF9D-4299-B147-ACD7419C25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68128" y="3950208"/>
            <a:ext cx="1106424" cy="5029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5F2"/>
          </a:solidFill>
        </p:spPr>
      </p:sp>
      <p:sp>
        <p:nvSpPr>
          <p:cNvPr id="26" name="Text 24">
            <a:extLst xmlns:a="http://schemas.openxmlformats.org/drawingml/2006/main">
              <a:ext uri="{FF2B5EF4-FFF2-40B4-BE49-F238E27FC236}">
                <a16:creationId xmlns:a16="http://schemas.microsoft.com/office/drawing/2014/main" id="{A12D3C11-3192-4AF6-BEF4-CC44B2BCE6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68128" y="4498848"/>
            <a:ext cx="1106424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50" b="1">
                <a:solidFill>
                  <a:srgbClr val="16233D"/>
                </a:solidFill>
                <a:latin typeface="Arial"/>
                <a:ea typeface="Arial"/>
                <a:cs typeface="Arial"/>
              </a:rPr>
              <a:t>创意手工</a:t>
            </a:r>
          </a:p>
        </p:txBody>
      </p:sp>
      <p:sp>
        <p:nvSpPr>
          <p:cNvPr id="27" name="Shape 25">
            <a:extLst xmlns:a="http://schemas.openxmlformats.org/drawingml/2006/main">
              <a:ext uri="{FF2B5EF4-FFF2-40B4-BE49-F238E27FC236}">
                <a16:creationId xmlns:a16="http://schemas.microsoft.com/office/drawing/2014/main" id="{821A44FF-3D31-4BAD-95C8-E4927CFE2C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32320" y="5193792"/>
            <a:ext cx="4251960" cy="749808"/>
          </a:xfrm>
          <a:prstGeom xmlns:a="http://schemas.openxmlformats.org/drawingml/2006/main" prst="roundRect">
            <a:avLst>
              <a:gd name="adj" fmla="val 7317"/>
            </a:avLst>
          </a:prstGeom>
          <a:solidFill xmlns:a="http://schemas.openxmlformats.org/drawingml/2006/main">
            <a:srgbClr val="F7F5F2"/>
          </a:solidFill>
        </p:spPr>
      </p:sp>
      <p:sp>
        <p:nvSpPr>
          <p:cNvPr id="28" name="Shape 26">
            <a:extLst xmlns:a="http://schemas.openxmlformats.org/drawingml/2006/main">
              <a:ext uri="{FF2B5EF4-FFF2-40B4-BE49-F238E27FC236}">
                <a16:creationId xmlns:a16="http://schemas.microsoft.com/office/drawing/2014/main" id="{22C7E02E-1C0A-4FE0-BAD9-B1C50D609A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87768" y="5340096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E1729"/>
          </a:solidFill>
        </p:spPr>
      </p:sp>
      <p:pic>
        <p:nvPicPr>
          <p:cNvPr id="59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dac7d2aa1064ad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406640" y="5458968"/>
            <a:ext cx="219456" cy="219456"/>
          </a:xfrm>
          <a:prstGeom xmlns:a="http://schemas.openxmlformats.org/drawingml/2006/main" prst="rect">
            <a:avLst/>
          </a:prstGeom>
        </p:spPr>
      </p:pic>
      <p:sp>
        <p:nvSpPr>
          <p:cNvPr id="30" name="Text 27">
            <a:extLst xmlns:a="http://schemas.openxmlformats.org/drawingml/2006/main">
              <a:ext uri="{FF2B5EF4-FFF2-40B4-BE49-F238E27FC236}">
                <a16:creationId xmlns:a16="http://schemas.microsoft.com/office/drawing/2014/main" id="{C53E7B6E-D475-4C8A-878E-33377888DC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3840" y="5266944"/>
            <a:ext cx="3429000" cy="6400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 b="1">
                <a:solidFill>
                  <a:srgbClr val="0E1729"/>
                </a:solidFill>
                <a:latin typeface="Arial"/>
                <a:ea typeface="Arial"/>
                <a:cs typeface="Arial"/>
              </a:rPr>
              <a:t>学员自助区</a:t>
            </a:r>
          </a:p>
          <a:p xmlns:a="http://schemas.openxmlformats.org/drawingml/2006/main">
            <a:pPr marL="0" indent="0">
              <a:buNone/>
            </a:pPr>
            <a:r>
              <a:rPr sz="900">
                <a:solidFill>
                  <a:srgbClr val="0E1729"/>
                </a:solidFill>
                <a:latin typeface="Arial"/>
                <a:ea typeface="Arial"/>
                <a:cs typeface="Arial"/>
              </a:rPr>
              <a:t>姓名 + 手机号 + 访问码,查课时与作品集</a:t>
            </a:r>
          </a:p>
        </p:txBody>
      </p:sp>
    </p:spTree>
    <p:extLst>
      <p:ext uri="{BB962C8B-B14F-4D97-AF65-F5344CB8AC3E}">
        <p14:creationId xmlns:p14="http://schemas.microsoft.com/office/powerpoint/2010/main" val="373718342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5FB4C3A7-A46F-4CEB-B83B-48A1BDB04C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457200"/>
            <a:ext cx="182880" cy="182880"/>
          </a:xfrm>
          <a:prstGeom xmlns:a="http://schemas.openxmlformats.org/drawingml/2006/main" prst="star4">
            <a:avLst/>
          </a:prstGeom>
          <a:solidFill xmlns:a="http://schemas.openxmlformats.org/drawingml/2006/main">
            <a:srgbClr val="F5B335"/>
          </a:solidFill>
        </p:spPr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B183E80A-8928-4717-A3C4-4B7A76C893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" y="384048"/>
            <a:ext cx="731520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b="1">
                <a:solidFill>
                  <a:srgbClr val="64748B"/>
                </a:solidFill>
                <a:latin typeface="Arial"/>
                <a:ea typeface="Arial"/>
                <a:cs typeface="Arial"/>
              </a:rPr>
              <a:t>获客 · 报名审核漏斗</a:t>
            </a:r>
          </a:p>
        </p:txBody>
      </p:sp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FA3FF55E-A351-4146-8B0F-0CEAEBB034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731520"/>
            <a:ext cx="11064240" cy="56692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700" b="1">
                <a:solidFill>
                  <a:srgbClr val="0E1729"/>
                </a:solidFill>
                <a:latin typeface="Arial"/>
                <a:ea typeface="Arial"/>
                <a:cs typeface="Arial"/>
              </a:rPr>
              <a:t>从询价到开课,不乱一个节拍</a:t>
            </a:r>
          </a:p>
        </p:txBody>
      </p:sp>
      <p:sp>
        <p:nvSpPr>
          <p:cNvPr id="5" name="Text 3">
            <a:extLst xmlns:a="http://schemas.openxmlformats.org/drawingml/2006/main">
              <a:ext uri="{FF2B5EF4-FFF2-40B4-BE49-F238E27FC236}">
                <a16:creationId xmlns:a16="http://schemas.microsoft.com/office/drawing/2014/main" id="{E533DDF7-62A3-444C-8BDD-077B253B8E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473952"/>
            <a:ext cx="54864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1000">
                <a:solidFill>
                  <a:srgbClr val="94A3B8"/>
                </a:solidFill>
                <a:latin typeface="Arial"/>
                <a:ea typeface="Arial"/>
                <a:cs typeface="Arial"/>
              </a:rPr>
              <a:t>05</a:t>
            </a:r>
          </a:p>
        </p:txBody>
      </p:sp>
      <p:sp>
        <p:nvSpPr>
          <p:cNvPr id="6" name="Shape 4">
            <a:extLst xmlns:a="http://schemas.openxmlformats.org/drawingml/2006/main">
              <a:ext uri="{FF2B5EF4-FFF2-40B4-BE49-F238E27FC236}">
                <a16:creationId xmlns:a16="http://schemas.microsoft.com/office/drawing/2014/main" id="{4BA9D8BB-C34C-4B29-8D50-5E348C7D56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783080"/>
            <a:ext cx="2971800" cy="1051560"/>
          </a:xfrm>
          <a:prstGeom xmlns:a="http://schemas.openxmlformats.org/drawingml/2006/main" prst="chevron">
            <a:avLst/>
          </a:prstGeom>
          <a:solidFill xmlns:a="http://schemas.openxmlformats.org/drawingml/2006/main">
            <a:srgbClr val="0E1729"/>
          </a:solidFill>
        </p:spPr>
      </p:sp>
      <p:sp>
        <p:nvSpPr>
          <p:cNvPr id="7" name="Text 5">
            <a:extLst xmlns:a="http://schemas.openxmlformats.org/drawingml/2006/main">
              <a:ext uri="{FF2B5EF4-FFF2-40B4-BE49-F238E27FC236}">
                <a16:creationId xmlns:a16="http://schemas.microsoft.com/office/drawing/2014/main" id="{72BFEFB3-27E7-40E2-BEBA-E90877A9F0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560" y="2039112"/>
            <a:ext cx="2148840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01 提交报名</a:t>
            </a:r>
          </a:p>
        </p:txBody>
      </p:sp>
      <p:sp>
        <p:nvSpPr>
          <p:cNvPr id="8" name="Text 6">
            <a:extLst xmlns:a="http://schemas.openxmlformats.org/drawingml/2006/main">
              <a:ext uri="{FF2B5EF4-FFF2-40B4-BE49-F238E27FC236}">
                <a16:creationId xmlns:a16="http://schemas.microsoft.com/office/drawing/2014/main" id="{AC892685-33CF-4DD4-9F9C-F0654BAF7B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560" y="2971800"/>
            <a:ext cx="2377440" cy="7772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>
                <a:solidFill>
                  <a:srgbClr val="475569"/>
                </a:solidFill>
                <a:latin typeface="Arial"/>
                <a:ea typeface="Arial"/>
                <a:cs typeface="Arial"/>
              </a:rPr>
              <a:t>门户或独立报名页,</a:t>
            </a:r>
          </a:p>
          <a:p xmlns:a="http://schemas.openxmlformats.org/drawingml/2006/main">
            <a:pPr marL="0" indent="0">
              <a:buNone/>
            </a:pPr>
            <a:r>
              <a:rPr sz="1050">
                <a:solidFill>
                  <a:srgbClr val="475569"/>
                </a:solidFill>
                <a:latin typeface="Arial"/>
                <a:ea typeface="Arial"/>
                <a:cs typeface="Arial"/>
              </a:rPr>
              <a:t>字段由机构自定义</a:t>
            </a:r>
          </a:p>
        </p:txBody>
      </p:sp>
      <p:sp>
        <p:nvSpPr>
          <p:cNvPr id="9" name="Shape 7">
            <a:extLst xmlns:a="http://schemas.openxmlformats.org/drawingml/2006/main">
              <a:ext uri="{FF2B5EF4-FFF2-40B4-BE49-F238E27FC236}">
                <a16:creationId xmlns:a16="http://schemas.microsoft.com/office/drawing/2014/main" id="{72DDB2BD-E086-431D-BD80-2D4A7CC071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64408" y="1783080"/>
            <a:ext cx="2971800" cy="1051560"/>
          </a:xfrm>
          <a:prstGeom xmlns:a="http://schemas.openxmlformats.org/drawingml/2006/main" prst="chevron">
            <a:avLst/>
          </a:prstGeom>
          <a:solidFill xmlns:a="http://schemas.openxmlformats.org/drawingml/2006/main">
            <a:srgbClr val="16233D"/>
          </a:solidFill>
        </p:spPr>
      </p:sp>
      <p:sp>
        <p:nvSpPr>
          <p:cNvPr id="10" name="Text 8">
            <a:extLst xmlns:a="http://schemas.openxmlformats.org/drawingml/2006/main">
              <a:ext uri="{FF2B5EF4-FFF2-40B4-BE49-F238E27FC236}">
                <a16:creationId xmlns:a16="http://schemas.microsoft.com/office/drawing/2014/main" id="{A86CB46A-E564-4520-A761-A444FDC79D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67328" y="2039112"/>
            <a:ext cx="2148840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02 自动把关</a:t>
            </a:r>
          </a:p>
        </p:txBody>
      </p:sp>
      <p:sp>
        <p:nvSpPr>
          <p:cNvPr id="11" name="Text 9">
            <a:extLst xmlns:a="http://schemas.openxmlformats.org/drawingml/2006/main">
              <a:ext uri="{FF2B5EF4-FFF2-40B4-BE49-F238E27FC236}">
                <a16:creationId xmlns:a16="http://schemas.microsoft.com/office/drawing/2014/main" id="{842F3427-9531-49AE-8D25-003998BCA3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67328" y="2971800"/>
            <a:ext cx="2377440" cy="7772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>
                <a:solidFill>
                  <a:srgbClr val="475569"/>
                </a:solidFill>
                <a:latin typeface="Arial"/>
                <a:ea typeface="Arial"/>
                <a:cs typeface="Arial"/>
              </a:rPr>
              <a:t>限流防刷 + 蜜罐反机器人</a:t>
            </a:r>
          </a:p>
          <a:p xmlns:a="http://schemas.openxmlformats.org/drawingml/2006/main">
            <a:pPr marL="0" indent="0">
              <a:buNone/>
            </a:pPr>
            <a:r>
              <a:rPr sz="1050">
                <a:solidFill>
                  <a:srgbClr val="475569"/>
                </a:solidFill>
                <a:latin typeface="Arial"/>
                <a:ea typeface="Arial"/>
                <a:cs typeface="Arial"/>
              </a:rPr>
              <a:t>+ 重复报名检测</a:t>
            </a:r>
          </a:p>
        </p:txBody>
      </p:sp>
      <p:sp>
        <p:nvSpPr>
          <p:cNvPr id="12" name="Shape 10">
            <a:extLst xmlns:a="http://schemas.openxmlformats.org/drawingml/2006/main">
              <a:ext uri="{FF2B5EF4-FFF2-40B4-BE49-F238E27FC236}">
                <a16:creationId xmlns:a16="http://schemas.microsoft.com/office/drawing/2014/main" id="{A865758C-F712-40FA-A7CC-A110B43BD5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0176" y="1783080"/>
            <a:ext cx="2971800" cy="1051560"/>
          </a:xfrm>
          <a:prstGeom xmlns:a="http://schemas.openxmlformats.org/drawingml/2006/main" prst="chevron">
            <a:avLst/>
          </a:prstGeom>
          <a:solidFill xmlns:a="http://schemas.openxmlformats.org/drawingml/2006/main">
            <a:srgbClr val="22355A"/>
          </a:solidFill>
        </p:spPr>
      </p:sp>
      <p:sp>
        <p:nvSpPr>
          <p:cNvPr id="13" name="Text 11">
            <a:extLst xmlns:a="http://schemas.openxmlformats.org/drawingml/2006/main">
              <a:ext uri="{FF2B5EF4-FFF2-40B4-BE49-F238E27FC236}">
                <a16:creationId xmlns:a16="http://schemas.microsoft.com/office/drawing/2014/main" id="{3CFB57C5-FFFC-4899-92BB-FC4632D0BD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83096" y="2039112"/>
            <a:ext cx="2148840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03 人工审核</a:t>
            </a:r>
          </a:p>
        </p:txBody>
      </p:sp>
      <p:sp>
        <p:nvSpPr>
          <p:cNvPr id="14" name="Text 12">
            <a:extLst xmlns:a="http://schemas.openxmlformats.org/drawingml/2006/main">
              <a:ext uri="{FF2B5EF4-FFF2-40B4-BE49-F238E27FC236}">
                <a16:creationId xmlns:a16="http://schemas.microsoft.com/office/drawing/2014/main" id="{51CDFBC4-FB29-4BA7-B89B-8821423BCB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83096" y="2971800"/>
            <a:ext cx="2377440" cy="7772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>
                <a:solidFill>
                  <a:srgbClr val="475569"/>
                </a:solidFill>
                <a:latin typeface="Arial"/>
                <a:ea typeface="Arial"/>
                <a:cs typeface="Arial"/>
              </a:rPr>
              <a:t>CMS 待审队列,</a:t>
            </a:r>
          </a:p>
          <a:p xmlns:a="http://schemas.openxmlformats.org/drawingml/2006/main">
            <a:pPr marL="0" indent="0">
              <a:buNone/>
            </a:pPr>
            <a:r>
              <a:rPr sz="1050">
                <a:solidFill>
                  <a:srgbClr val="475569"/>
                </a:solidFill>
                <a:latin typeface="Arial"/>
                <a:ea typeface="Arial"/>
                <a:cs typeface="Arial"/>
              </a:rPr>
              <a:t>通过 / 拒绝一目了然</a:t>
            </a:r>
          </a:p>
        </p:txBody>
      </p:sp>
      <p:sp>
        <p:nvSpPr>
          <p:cNvPr id="15" name="Shape 13">
            <a:extLst xmlns:a="http://schemas.openxmlformats.org/drawingml/2006/main">
              <a:ext uri="{FF2B5EF4-FFF2-40B4-BE49-F238E27FC236}">
                <a16:creationId xmlns:a16="http://schemas.microsoft.com/office/drawing/2014/main" id="{98956D03-6F50-4FD8-802D-3870D4A289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95944" y="1783080"/>
            <a:ext cx="2971800" cy="1051560"/>
          </a:xfrm>
          <a:prstGeom xmlns:a="http://schemas.openxmlformats.org/drawingml/2006/main" prst="chevron">
            <a:avLst/>
          </a:prstGeom>
          <a:solidFill xmlns:a="http://schemas.openxmlformats.org/drawingml/2006/main">
            <a:srgbClr val="F5B335"/>
          </a:solidFill>
        </p:spPr>
      </p:sp>
      <p:sp>
        <p:nvSpPr>
          <p:cNvPr id="16" name="Text 14">
            <a:extLst xmlns:a="http://schemas.openxmlformats.org/drawingml/2006/main">
              <a:ext uri="{FF2B5EF4-FFF2-40B4-BE49-F238E27FC236}">
                <a16:creationId xmlns:a16="http://schemas.microsoft.com/office/drawing/2014/main" id="{5DC0732E-C3AE-4F93-84A8-C47D52AA91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98864" y="2039112"/>
            <a:ext cx="2148840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 b="1">
                <a:solidFill>
                  <a:srgbClr val="0E1729"/>
                </a:solidFill>
                <a:latin typeface="Arial"/>
                <a:ea typeface="Arial"/>
                <a:cs typeface="Arial"/>
              </a:rPr>
              <a:t>04 转为学员</a:t>
            </a:r>
          </a:p>
        </p:txBody>
      </p:sp>
      <p:sp>
        <p:nvSpPr>
          <p:cNvPr id="17" name="Text 15">
            <a:extLst xmlns:a="http://schemas.openxmlformats.org/drawingml/2006/main">
              <a:ext uri="{FF2B5EF4-FFF2-40B4-BE49-F238E27FC236}">
                <a16:creationId xmlns:a16="http://schemas.microsoft.com/office/drawing/2014/main" id="{DA6CB693-2AC0-48F4-811C-D57335A293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98864" y="2971800"/>
            <a:ext cx="2377440" cy="7772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>
                <a:solidFill>
                  <a:srgbClr val="475569"/>
                </a:solidFill>
                <a:latin typeface="Arial"/>
                <a:ea typeface="Arial"/>
                <a:cs typeface="Arial"/>
              </a:rPr>
              <a:t>一键建档,进入课时</a:t>
            </a:r>
          </a:p>
          <a:p xmlns:a="http://schemas.openxmlformats.org/drawingml/2006/main">
            <a:pPr marL="0" indent="0">
              <a:buNone/>
            </a:pPr>
            <a:r>
              <a:rPr sz="1050">
                <a:solidFill>
                  <a:srgbClr val="475569"/>
                </a:solidFill>
                <a:latin typeface="Arial"/>
                <a:ea typeface="Arial"/>
                <a:cs typeface="Arial"/>
              </a:rPr>
              <a:t>与签到体系</a:t>
            </a:r>
          </a:p>
        </p:txBody>
      </p:sp>
      <p:sp>
        <p:nvSpPr>
          <p:cNvPr id="18" name="Shape 16">
            <a:extLst xmlns:a="http://schemas.openxmlformats.org/drawingml/2006/main">
              <a:ext uri="{FF2B5EF4-FFF2-40B4-BE49-F238E27FC236}">
                <a16:creationId xmlns:a16="http://schemas.microsoft.com/office/drawing/2014/main" id="{11FCA293-5CF6-4B35-9D5E-8B72E2262F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4160520"/>
            <a:ext cx="7178040" cy="1920240"/>
          </a:xfrm>
          <a:prstGeom xmlns:a="http://schemas.openxmlformats.org/drawingml/2006/main" prst="roundRect">
            <a:avLst>
              <a:gd name="adj" fmla="val 4286"/>
            </a:avLst>
          </a:prstGeom>
          <a:solidFill xmlns:a="http://schemas.openxmlformats.org/drawingml/2006/main">
            <a:srgbClr val="F7F5F2"/>
          </a:solidFill>
        </p:spPr>
      </p:sp>
      <p:sp>
        <p:nvSpPr>
          <p:cNvPr id="19" name="Text 17">
            <a:extLst xmlns:a="http://schemas.openxmlformats.org/drawingml/2006/main">
              <a:ext uri="{FF2B5EF4-FFF2-40B4-BE49-F238E27FC236}">
                <a16:creationId xmlns:a16="http://schemas.microsoft.com/office/drawing/2014/main" id="{A1D37DB3-5E22-4850-BC1D-91B6F23094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4361688"/>
            <a:ext cx="658368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 b="1">
                <a:solidFill>
                  <a:srgbClr val="0E1729"/>
                </a:solidFill>
                <a:latin typeface="Arial"/>
                <a:ea typeface="Arial"/>
                <a:cs typeface="Arial"/>
              </a:rPr>
              <a:t>自动把关,把垃圾流量挡在门外</a:t>
            </a:r>
          </a:p>
        </p:txBody>
      </p:sp>
      <p:sp>
        <p:nvSpPr>
          <p:cNvPr id="20" name="Shape 18">
            <a:extLst xmlns:a="http://schemas.openxmlformats.org/drawingml/2006/main">
              <a:ext uri="{FF2B5EF4-FFF2-40B4-BE49-F238E27FC236}">
                <a16:creationId xmlns:a16="http://schemas.microsoft.com/office/drawing/2014/main" id="{8615607D-5820-4CA6-BFB3-E7510D2932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4873752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E1729"/>
          </a:solidFill>
        </p:spPr>
      </p:sp>
      <p:pic>
        <p:nvPicPr>
          <p:cNvPr id="56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44a87dda03444b1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941832" y="4992624"/>
            <a:ext cx="219456" cy="219456"/>
          </a:xfrm>
          <a:prstGeom xmlns:a="http://schemas.openxmlformats.org/drawingml/2006/main" prst="rect">
            <a:avLst/>
          </a:prstGeom>
        </p:spPr>
      </p:pic>
      <p:sp>
        <p:nvSpPr>
          <p:cNvPr id="22" name="Text 19">
            <a:extLst xmlns:a="http://schemas.openxmlformats.org/drawingml/2006/main">
              <a:ext uri="{FF2B5EF4-FFF2-40B4-BE49-F238E27FC236}">
                <a16:creationId xmlns:a16="http://schemas.microsoft.com/office/drawing/2014/main" id="{8EF64263-FD1D-4ABF-A683-DB25E468B2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385816"/>
            <a:ext cx="2103120" cy="685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150" b="1">
                <a:solidFill>
                  <a:srgbClr val="16233D"/>
                </a:solidFill>
                <a:latin typeface="Arial"/>
                <a:ea typeface="Arial"/>
                <a:cs typeface="Arial"/>
              </a:rPr>
              <a:t>限流防刷</a:t>
            </a:r>
          </a:p>
          <a:p xmlns:a="http://schemas.openxmlformats.org/drawingml/2006/main">
            <a:pPr marL="0" indent="0">
              <a:buNone/>
            </a:pPr>
            <a:r>
              <a:rPr sz="950">
                <a:solidFill>
                  <a:srgbClr val="16233D"/>
                </a:solidFill>
                <a:latin typeface="Arial"/>
                <a:ea typeface="Arial"/>
                <a:cs typeface="Arial"/>
              </a:rPr>
              <a:t>同一 IP 每分钟</a:t>
            </a:r>
          </a:p>
          <a:p xmlns:a="http://schemas.openxmlformats.org/drawingml/2006/main">
            <a:pPr marL="0" indent="0">
              <a:buNone/>
            </a:pPr>
            <a:r>
              <a:rPr sz="950">
                <a:solidFill>
                  <a:srgbClr val="16233D"/>
                </a:solidFill>
                <a:latin typeface="Arial"/>
                <a:ea typeface="Arial"/>
                <a:cs typeface="Arial"/>
              </a:rPr>
              <a:t>最多 5 次提交</a:t>
            </a:r>
          </a:p>
        </p:txBody>
      </p:sp>
      <p:sp>
        <p:nvSpPr>
          <p:cNvPr id="23" name="Shape 20">
            <a:extLst xmlns:a="http://schemas.openxmlformats.org/drawingml/2006/main">
              <a:ext uri="{FF2B5EF4-FFF2-40B4-BE49-F238E27FC236}">
                <a16:creationId xmlns:a16="http://schemas.microsoft.com/office/drawing/2014/main" id="{1B727F34-EE6F-415C-AB26-9606450A9E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54680" y="4873752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E1729"/>
          </a:solidFill>
        </p:spPr>
      </p:sp>
      <p:pic>
        <p:nvPicPr>
          <p:cNvPr id="59" name="Imag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3bb732e6f16414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3273552" y="4992624"/>
            <a:ext cx="219456" cy="219456"/>
          </a:xfrm>
          <a:prstGeom xmlns:a="http://schemas.openxmlformats.org/drawingml/2006/main" prst="rect">
            <a:avLst/>
          </a:prstGeom>
        </p:spPr>
      </p:pic>
      <p:sp>
        <p:nvSpPr>
          <p:cNvPr id="25" name="Text 21">
            <a:extLst xmlns:a="http://schemas.openxmlformats.org/drawingml/2006/main">
              <a:ext uri="{FF2B5EF4-FFF2-40B4-BE49-F238E27FC236}">
                <a16:creationId xmlns:a16="http://schemas.microsoft.com/office/drawing/2014/main" id="{DF47CB2C-EC2C-4EA5-ACFC-8171CC4DBD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17520" y="5385816"/>
            <a:ext cx="2103120" cy="685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150" b="1">
                <a:solidFill>
                  <a:srgbClr val="16233D"/>
                </a:solidFill>
                <a:latin typeface="Arial"/>
                <a:ea typeface="Arial"/>
                <a:cs typeface="Arial"/>
              </a:rPr>
              <a:t>蜜罐字段</a:t>
            </a:r>
          </a:p>
          <a:p xmlns:a="http://schemas.openxmlformats.org/drawingml/2006/main">
            <a:pPr marL="0" indent="0">
              <a:buNone/>
            </a:pPr>
            <a:r>
              <a:rPr sz="950">
                <a:solidFill>
                  <a:srgbClr val="16233D"/>
                </a:solidFill>
                <a:latin typeface="Arial"/>
                <a:ea typeface="Arial"/>
                <a:cs typeface="Arial"/>
              </a:rPr>
              <a:t>机器人提交被</a:t>
            </a:r>
          </a:p>
          <a:p xmlns:a="http://schemas.openxmlformats.org/drawingml/2006/main">
            <a:pPr marL="0" indent="0">
              <a:buNone/>
            </a:pPr>
            <a:r>
              <a:rPr sz="950">
                <a:solidFill>
                  <a:srgbClr val="16233D"/>
                </a:solidFill>
                <a:latin typeface="Arial"/>
                <a:ea typeface="Arial"/>
                <a:cs typeface="Arial"/>
              </a:rPr>
              <a:t>静默丢弃</a:t>
            </a:r>
          </a:p>
        </p:txBody>
      </p:sp>
      <p:sp>
        <p:nvSpPr>
          <p:cNvPr id="26" name="Shape 22">
            <a:extLst xmlns:a="http://schemas.openxmlformats.org/drawingml/2006/main">
              <a:ext uri="{FF2B5EF4-FFF2-40B4-BE49-F238E27FC236}">
                <a16:creationId xmlns:a16="http://schemas.microsoft.com/office/drawing/2014/main" id="{DCE7E145-9C7F-4F5E-B259-08CA7A6BFE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0" y="4873752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E1729"/>
          </a:solidFill>
        </p:spPr>
      </p:sp>
      <p:pic>
        <p:nvPicPr>
          <p:cNvPr id="62" name="Image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31e97be611e4f3c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5605272" y="4992624"/>
            <a:ext cx="219456" cy="219456"/>
          </a:xfrm>
          <a:prstGeom xmlns:a="http://schemas.openxmlformats.org/drawingml/2006/main" prst="rect">
            <a:avLst/>
          </a:prstGeom>
        </p:spPr>
      </p:pic>
      <p:sp>
        <p:nvSpPr>
          <p:cNvPr id="28" name="Text 23">
            <a:extLst xmlns:a="http://schemas.openxmlformats.org/drawingml/2006/main">
              <a:ext uri="{FF2B5EF4-FFF2-40B4-BE49-F238E27FC236}">
                <a16:creationId xmlns:a16="http://schemas.microsoft.com/office/drawing/2014/main" id="{C4E96C96-CE43-4A74-BDD5-213D890AC1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49240" y="5385816"/>
            <a:ext cx="2103120" cy="685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150" b="1">
                <a:solidFill>
                  <a:srgbClr val="16233D"/>
                </a:solidFill>
                <a:latin typeface="Arial"/>
                <a:ea typeface="Arial"/>
                <a:cs typeface="Arial"/>
              </a:rPr>
              <a:t>重复检测</a:t>
            </a:r>
          </a:p>
          <a:p xmlns:a="http://schemas.openxmlformats.org/drawingml/2006/main">
            <a:pPr marL="0" indent="0">
              <a:buNone/>
            </a:pPr>
            <a:r>
              <a:rPr sz="950">
                <a:solidFill>
                  <a:srgbClr val="16233D"/>
                </a:solidFill>
                <a:latin typeface="Arial"/>
                <a:ea typeface="Arial"/>
                <a:cs typeface="Arial"/>
              </a:rPr>
              <a:t>疑似重复报名</a:t>
            </a:r>
          </a:p>
          <a:p xmlns:a="http://schemas.openxmlformats.org/drawingml/2006/main">
            <a:pPr marL="0" indent="0">
              <a:buNone/>
            </a:pPr>
            <a:r>
              <a:rPr sz="950">
                <a:solidFill>
                  <a:srgbClr val="16233D"/>
                </a:solidFill>
                <a:latin typeface="Arial"/>
                <a:ea typeface="Arial"/>
                <a:cs typeface="Arial"/>
              </a:rPr>
              <a:t>自动提示,避免重复建档</a:t>
            </a:r>
          </a:p>
        </p:txBody>
      </p:sp>
      <p:sp>
        <p:nvSpPr>
          <p:cNvPr id="29" name="Shape 24">
            <a:extLst xmlns:a="http://schemas.openxmlformats.org/drawingml/2006/main">
              <a:ext uri="{FF2B5EF4-FFF2-40B4-BE49-F238E27FC236}">
                <a16:creationId xmlns:a16="http://schemas.microsoft.com/office/drawing/2014/main" id="{53DB435D-D842-4BEF-99DD-599BAEE433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4160520"/>
            <a:ext cx="3639312" cy="1920240"/>
          </a:xfrm>
          <a:prstGeom xmlns:a="http://schemas.openxmlformats.org/drawingml/2006/main" prst="roundRect">
            <a:avLst>
              <a:gd name="adj" fmla="val 4286"/>
            </a:avLst>
          </a:prstGeom>
          <a:solidFill xmlns:a="http://schemas.openxmlformats.org/drawingml/2006/main">
            <a:srgbClr val="0E1729"/>
          </a:solidFill>
        </p:spPr>
      </p:sp>
      <p:sp>
        <p:nvSpPr>
          <p:cNvPr id="30" name="Shape 25">
            <a:extLst xmlns:a="http://schemas.openxmlformats.org/drawingml/2006/main">
              <a:ext uri="{FF2B5EF4-FFF2-40B4-BE49-F238E27FC236}">
                <a16:creationId xmlns:a16="http://schemas.microsoft.com/office/drawing/2014/main" id="{CBE71421-CB5D-4C5E-9DD4-029E3A1AB9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5320" y="4398264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2355A"/>
          </a:solidFill>
        </p:spPr>
      </p:sp>
      <p:pic>
        <p:nvPicPr>
          <p:cNvPr id="66" name="Image 3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dd42e9cce824ac2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8394192" y="4517136"/>
            <a:ext cx="219456" cy="219456"/>
          </a:xfrm>
          <a:prstGeom xmlns:a="http://schemas.openxmlformats.org/drawingml/2006/main" prst="rect">
            <a:avLst/>
          </a:prstGeom>
        </p:spPr>
      </p:pic>
      <p:sp>
        <p:nvSpPr>
          <p:cNvPr id="32" name="Text 26">
            <a:extLst xmlns:a="http://schemas.openxmlformats.org/drawingml/2006/main">
              <a:ext uri="{FF2B5EF4-FFF2-40B4-BE49-F238E27FC236}">
                <a16:creationId xmlns:a16="http://schemas.microsoft.com/office/drawing/2014/main" id="{49D107DD-940C-4F2E-9644-579601BFFF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5320" y="4946904"/>
            <a:ext cx="3108960" cy="10058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spcAft>
                <a:spcPts val="400"/>
              </a:spcAft>
              <a:buNone/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全程留痕</a:t>
            </a:r>
          </a:p>
          <a:p xmlns:a="http://schemas.openxmlformats.org/drawingml/2006/main">
            <a:pPr marL="0" indent="0">
              <a:buNone/>
            </a:pPr>
            <a:r>
              <a:rPr sz="1050">
                <a:solidFill>
                  <a:srgbClr val="CBD5E1"/>
                </a:solidFill>
                <a:latin typeface="Arial"/>
                <a:ea typeface="Arial"/>
                <a:cs typeface="Arial"/>
              </a:rPr>
              <a:t>谁审核、何时通过或拒绝,全部写入审计日志;来源与渠道随学员档案沉淀。</a:t>
            </a:r>
          </a:p>
        </p:txBody>
      </p:sp>
    </p:spTree>
    <p:extLst>
      <p:ext uri="{BB962C8B-B14F-4D97-AF65-F5344CB8AC3E}">
        <p14:creationId xmlns:p14="http://schemas.microsoft.com/office/powerpoint/2010/main" val="1047020540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52EA3358-3859-4D3B-BA99-455825B571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457200"/>
            <a:ext cx="182880" cy="182880"/>
          </a:xfrm>
          <a:prstGeom xmlns:a="http://schemas.openxmlformats.org/drawingml/2006/main" prst="star4">
            <a:avLst/>
          </a:prstGeom>
          <a:solidFill xmlns:a="http://schemas.openxmlformats.org/drawingml/2006/main">
            <a:srgbClr val="F5B335"/>
          </a:solidFill>
        </p:spPr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3F6161E1-5D68-4EA9-B238-B97C312F18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" y="384048"/>
            <a:ext cx="731520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b="1">
                <a:solidFill>
                  <a:srgbClr val="64748B"/>
                </a:solidFill>
                <a:latin typeface="Arial"/>
                <a:ea typeface="Arial"/>
                <a:cs typeface="Arial"/>
              </a:rPr>
              <a:t>运营 · CMS</a:t>
            </a:r>
          </a:p>
        </p:txBody>
      </p:sp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A4024778-7658-4A41-A3B7-8C3E2D700C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731520"/>
            <a:ext cx="11064240" cy="56692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700" b="1">
                <a:solidFill>
                  <a:srgbClr val="0E1729"/>
                </a:solidFill>
                <a:latin typeface="Arial"/>
                <a:ea typeface="Arial"/>
                <a:cs typeface="Arial"/>
              </a:rPr>
              <a:t>每一节课的去向,像五线谱一样清晰</a:t>
            </a:r>
          </a:p>
        </p:txBody>
      </p:sp>
      <p:sp>
        <p:nvSpPr>
          <p:cNvPr id="5" name="Text 3">
            <a:extLst xmlns:a="http://schemas.openxmlformats.org/drawingml/2006/main">
              <a:ext uri="{FF2B5EF4-FFF2-40B4-BE49-F238E27FC236}">
                <a16:creationId xmlns:a16="http://schemas.microsoft.com/office/drawing/2014/main" id="{22D56AB3-B82C-4A52-821A-A1B180EDB4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473952"/>
            <a:ext cx="54864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1000">
                <a:solidFill>
                  <a:srgbClr val="94A3B8"/>
                </a:solidFill>
                <a:latin typeface="Arial"/>
                <a:ea typeface="Arial"/>
                <a:cs typeface="Arial"/>
              </a:rPr>
              <a:t>06</a:t>
            </a:r>
          </a:p>
        </p:txBody>
      </p:sp>
      <p:sp>
        <p:nvSpPr>
          <p:cNvPr id="6" name="Shape 4">
            <a:extLst xmlns:a="http://schemas.openxmlformats.org/drawingml/2006/main">
              <a:ext uri="{FF2B5EF4-FFF2-40B4-BE49-F238E27FC236}">
                <a16:creationId xmlns:a16="http://schemas.microsoft.com/office/drawing/2014/main" id="{7AEA6BAE-E3DC-4CE9-9888-C3CC3D3C33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737360"/>
            <a:ext cx="5440680" cy="4526280"/>
          </a:xfrm>
          <a:prstGeom xmlns:a="http://schemas.openxmlformats.org/drawingml/2006/main" prst="roundRect">
            <a:avLst>
              <a:gd name="adj" fmla="val 1818"/>
            </a:avLst>
          </a:prstGeom>
          <a:solidFill xmlns:a="http://schemas.openxmlformats.org/drawingml/2006/main">
            <a:srgbClr val="FBFAF7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7" name="Shape 5">
            <a:extLst xmlns:a="http://schemas.openxmlformats.org/drawingml/2006/main">
              <a:ext uri="{FF2B5EF4-FFF2-40B4-BE49-F238E27FC236}">
                <a16:creationId xmlns:a16="http://schemas.microsoft.com/office/drawing/2014/main" id="{05755F4A-37EA-4303-A63C-BD2EB1547F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1993392"/>
            <a:ext cx="475488" cy="47548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E1729"/>
          </a:solidFill>
        </p:spPr>
      </p:sp>
      <p:pic>
        <p:nvPicPr>
          <p:cNvPr id="52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bf18ab689724b2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946587" y="2117019"/>
            <a:ext cx="228234" cy="228234"/>
          </a:xfrm>
          <a:prstGeom xmlns:a="http://schemas.openxmlformats.org/drawingml/2006/main" prst="rect">
            <a:avLst/>
          </a:prstGeom>
        </p:spPr>
      </p:pic>
      <p:sp>
        <p:nvSpPr>
          <p:cNvPr id="9" name="Text 6">
            <a:extLst xmlns:a="http://schemas.openxmlformats.org/drawingml/2006/main">
              <a:ext uri="{FF2B5EF4-FFF2-40B4-BE49-F238E27FC236}">
                <a16:creationId xmlns:a16="http://schemas.microsoft.com/office/drawing/2014/main" id="{47293C91-B320-437F-B13E-01518CCA07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4752" y="2011680"/>
            <a:ext cx="365760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500" b="1">
                <a:solidFill>
                  <a:srgbClr val="0E1729"/>
                </a:solidFill>
                <a:latin typeface="Arial"/>
                <a:ea typeface="Arial"/>
                <a:cs typeface="Arial"/>
              </a:rPr>
              <a:t>今日排课与签到</a:t>
            </a:r>
          </a:p>
        </p:txBody>
      </p:sp>
      <p:sp>
        <p:nvSpPr>
          <p:cNvPr id="10" name="Shape 7">
            <a:extLst xmlns:a="http://schemas.openxmlformats.org/drawingml/2006/main">
              <a:ext uri="{FF2B5EF4-FFF2-40B4-BE49-F238E27FC236}">
                <a16:creationId xmlns:a16="http://schemas.microsoft.com/office/drawing/2014/main" id="{81CD3D77-AAC4-44A3-8CD7-A013539B10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2697480"/>
            <a:ext cx="4892040" cy="585216"/>
          </a:xfrm>
          <a:prstGeom xmlns:a="http://schemas.openxmlformats.org/drawingml/2006/main" prst="roundRect">
            <a:avLst>
              <a:gd name="adj" fmla="val 937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11" name="Shape 8">
            <a:extLst xmlns:a="http://schemas.openxmlformats.org/drawingml/2006/main">
              <a:ext uri="{FF2B5EF4-FFF2-40B4-BE49-F238E27FC236}">
                <a16:creationId xmlns:a16="http://schemas.microsoft.com/office/drawing/2014/main" id="{9484FD43-3A5A-4DB5-AA24-1EE185AD4F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7552" y="2852928"/>
            <a:ext cx="274320" cy="27432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5803D"/>
          </a:solidFill>
        </p:spPr>
      </p:sp>
      <p:sp>
        <p:nvSpPr>
          <p:cNvPr id="12" name="Text 9">
            <a:extLst xmlns:a="http://schemas.openxmlformats.org/drawingml/2006/main">
              <a:ext uri="{FF2B5EF4-FFF2-40B4-BE49-F238E27FC236}">
                <a16:creationId xmlns:a16="http://schemas.microsoft.com/office/drawing/2014/main" id="{FBF3F23B-5634-4F55-A092-077051AAAE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17320" y="2743200"/>
            <a:ext cx="2743200" cy="49377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b="1">
                <a:solidFill>
                  <a:srgbClr val="16233D"/>
                </a:solidFill>
                <a:latin typeface="Arial"/>
                <a:ea typeface="Arial"/>
                <a:cs typeface="Arial"/>
              </a:rPr>
              <a:t>小雨 · 少儿美术 16:00</a:t>
            </a:r>
          </a:p>
        </p:txBody>
      </p:sp>
      <p:sp>
        <p:nvSpPr>
          <p:cNvPr id="13" name="Text 10">
            <a:extLst xmlns:a="http://schemas.openxmlformats.org/drawingml/2006/main">
              <a:ext uri="{FF2B5EF4-FFF2-40B4-BE49-F238E27FC236}">
                <a16:creationId xmlns:a16="http://schemas.microsoft.com/office/drawing/2014/main" id="{5929D6CD-9901-4D6F-B5CA-E5D4FA3F00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0" y="2743200"/>
            <a:ext cx="1783080" cy="49377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50">
                <a:solidFill>
                  <a:srgbClr val="64748B"/>
                </a:solidFill>
                <a:latin typeface="Arial"/>
                <a:ea typeface="Arial"/>
                <a:cs typeface="Arial"/>
              </a:rPr>
              <a:t>已签到 · 扣 1 课时</a:t>
            </a:r>
          </a:p>
        </p:txBody>
      </p:sp>
      <p:sp>
        <p:nvSpPr>
          <p:cNvPr id="14" name="Shape 11">
            <a:extLst xmlns:a="http://schemas.openxmlformats.org/drawingml/2006/main">
              <a:ext uri="{FF2B5EF4-FFF2-40B4-BE49-F238E27FC236}">
                <a16:creationId xmlns:a16="http://schemas.microsoft.com/office/drawing/2014/main" id="{6CA8CFA5-B364-4604-A967-4BF06F6014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3410712"/>
            <a:ext cx="4892040" cy="585216"/>
          </a:xfrm>
          <a:prstGeom xmlns:a="http://schemas.openxmlformats.org/drawingml/2006/main" prst="roundRect">
            <a:avLst>
              <a:gd name="adj" fmla="val 937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15" name="Shape 12">
            <a:extLst xmlns:a="http://schemas.openxmlformats.org/drawingml/2006/main">
              <a:ext uri="{FF2B5EF4-FFF2-40B4-BE49-F238E27FC236}">
                <a16:creationId xmlns:a16="http://schemas.microsoft.com/office/drawing/2014/main" id="{A637E6DE-89FC-47EC-8B08-DD1D02CB00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7552" y="3566160"/>
            <a:ext cx="274320" cy="27432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5803D"/>
          </a:solidFill>
        </p:spPr>
      </p:sp>
      <p:sp>
        <p:nvSpPr>
          <p:cNvPr id="16" name="Text 13">
            <a:extLst xmlns:a="http://schemas.openxmlformats.org/drawingml/2006/main">
              <a:ext uri="{FF2B5EF4-FFF2-40B4-BE49-F238E27FC236}">
                <a16:creationId xmlns:a16="http://schemas.microsoft.com/office/drawing/2014/main" id="{45C2E830-DBAC-4513-8661-D5CB386B7E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17320" y="3456432"/>
            <a:ext cx="2743200" cy="49377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b="1">
                <a:solidFill>
                  <a:srgbClr val="16233D"/>
                </a:solidFill>
                <a:latin typeface="Arial"/>
                <a:ea typeface="Arial"/>
                <a:cs typeface="Arial"/>
              </a:rPr>
              <a:t>Lucas · 素描进阶 16:00</a:t>
            </a:r>
          </a:p>
        </p:txBody>
      </p:sp>
      <p:sp>
        <p:nvSpPr>
          <p:cNvPr id="17" name="Text 14">
            <a:extLst xmlns:a="http://schemas.openxmlformats.org/drawingml/2006/main">
              <a:ext uri="{FF2B5EF4-FFF2-40B4-BE49-F238E27FC236}">
                <a16:creationId xmlns:a16="http://schemas.microsoft.com/office/drawing/2014/main" id="{08E78399-87B6-4FA2-9C7A-E0FBCAA27C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0" y="3456432"/>
            <a:ext cx="1783080" cy="49377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50">
                <a:solidFill>
                  <a:srgbClr val="64748B"/>
                </a:solidFill>
                <a:latin typeface="Arial"/>
                <a:ea typeface="Arial"/>
                <a:cs typeface="Arial"/>
              </a:rPr>
              <a:t>已签到 · 扣 1 课时</a:t>
            </a:r>
          </a:p>
        </p:txBody>
      </p:sp>
      <p:sp>
        <p:nvSpPr>
          <p:cNvPr id="18" name="Shape 15">
            <a:extLst xmlns:a="http://schemas.openxmlformats.org/drawingml/2006/main">
              <a:ext uri="{FF2B5EF4-FFF2-40B4-BE49-F238E27FC236}">
                <a16:creationId xmlns:a16="http://schemas.microsoft.com/office/drawing/2014/main" id="{E5BF91DB-05DB-4447-AB73-80F9FA6688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4123944"/>
            <a:ext cx="4892040" cy="585216"/>
          </a:xfrm>
          <a:prstGeom xmlns:a="http://schemas.openxmlformats.org/drawingml/2006/main" prst="roundRect">
            <a:avLst>
              <a:gd name="adj" fmla="val 937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19" name="Shape 16">
            <a:extLst xmlns:a="http://schemas.openxmlformats.org/drawingml/2006/main">
              <a:ext uri="{FF2B5EF4-FFF2-40B4-BE49-F238E27FC236}">
                <a16:creationId xmlns:a16="http://schemas.microsoft.com/office/drawing/2014/main" id="{CD7D0F04-F0A5-4ED4-9B74-4DF6530523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7552" y="4279392"/>
            <a:ext cx="274320" cy="27432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5B335"/>
          </a:solidFill>
        </p:spPr>
      </p:sp>
      <p:sp>
        <p:nvSpPr>
          <p:cNvPr id="20" name="Text 17">
            <a:extLst xmlns:a="http://schemas.openxmlformats.org/drawingml/2006/main">
              <a:ext uri="{FF2B5EF4-FFF2-40B4-BE49-F238E27FC236}">
                <a16:creationId xmlns:a16="http://schemas.microsoft.com/office/drawing/2014/main" id="{D52CBE5B-40E1-4149-B6E8-9FBC09A94D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17320" y="4169664"/>
            <a:ext cx="2743200" cy="49377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b="1">
                <a:solidFill>
                  <a:srgbClr val="16233D"/>
                </a:solidFill>
                <a:latin typeface="Arial"/>
                <a:ea typeface="Arial"/>
                <a:cs typeface="Arial"/>
              </a:rPr>
              <a:t>朵朵 · 创意手工 17:30</a:t>
            </a:r>
          </a:p>
        </p:txBody>
      </p:sp>
      <p:sp>
        <p:nvSpPr>
          <p:cNvPr id="21" name="Text 18">
            <a:extLst xmlns:a="http://schemas.openxmlformats.org/drawingml/2006/main">
              <a:ext uri="{FF2B5EF4-FFF2-40B4-BE49-F238E27FC236}">
                <a16:creationId xmlns:a16="http://schemas.microsoft.com/office/drawing/2014/main" id="{78F399F5-FC20-4393-9762-F4DA202384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0" y="4169664"/>
            <a:ext cx="1783080" cy="49377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50">
                <a:solidFill>
                  <a:srgbClr val="B45309"/>
                </a:solidFill>
                <a:latin typeface="Arial"/>
                <a:ea typeface="Arial"/>
                <a:cs typeface="Arial"/>
              </a:rPr>
              <a:t>余额不足 · 已拦截并提醒</a:t>
            </a:r>
          </a:p>
        </p:txBody>
      </p:sp>
      <p:sp>
        <p:nvSpPr>
          <p:cNvPr id="22" name="Text 19">
            <a:extLst xmlns:a="http://schemas.openxmlformats.org/drawingml/2006/main">
              <a:ext uri="{FF2B5EF4-FFF2-40B4-BE49-F238E27FC236}">
                <a16:creationId xmlns:a16="http://schemas.microsoft.com/office/drawing/2014/main" id="{525898AF-DEA9-4BB6-807A-D5AA7A56FC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4937760"/>
            <a:ext cx="4892040" cy="11887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127000" indent="-127000">
              <a:spcAft>
                <a:spcPts val="500"/>
              </a:spcAft>
              <a:buSzPct val="100000"/>
              <a:buChar char="•"/>
            </a:pPr>
            <a:r>
              <a:rPr sz="1150">
                <a:solidFill>
                  <a:srgbClr val="475569"/>
                </a:solidFill>
                <a:latin typeface="Arial"/>
                <a:ea typeface="Arial"/>
                <a:cs typeface="Arial"/>
              </a:rPr>
              <a:t>签到自动扣减课时,余额不足当场拦截</a:t>
            </a:r>
          </a:p>
          <a:p xmlns:a="http://schemas.openxmlformats.org/drawingml/2006/main">
            <a:pPr marL="127000" indent="-127000">
              <a:spcAft>
                <a:spcPts val="500"/>
              </a:spcAft>
              <a:buSzPct val="100000"/>
              <a:buChar char="•"/>
            </a:pPr>
            <a:r>
              <a:rPr sz="1150">
                <a:solidFill>
                  <a:srgbClr val="475569"/>
                </a:solidFill>
                <a:latin typeface="Arial"/>
                <a:ea typeface="Arial"/>
                <a:cs typeface="Arial"/>
              </a:rPr>
              <a:t>老师用平板即可点名,前台无需二次录入</a:t>
            </a:r>
          </a:p>
          <a:p xmlns:a="http://schemas.openxmlformats.org/drawingml/2006/main">
            <a:pPr marL="127000" indent="-127000">
              <a:buSzPct val="100000"/>
              <a:buChar char="•"/>
            </a:pPr>
            <a:r>
              <a:rPr sz="1150">
                <a:solidFill>
                  <a:srgbClr val="475569"/>
                </a:solidFill>
                <a:latin typeface="Arial"/>
                <a:ea typeface="Arial"/>
                <a:cs typeface="Arial"/>
              </a:rPr>
              <a:t>缺勤 / 补课情况在日志中可追溯</a:t>
            </a:r>
          </a:p>
        </p:txBody>
      </p:sp>
      <p:sp>
        <p:nvSpPr>
          <p:cNvPr id="23" name="Shape 20">
            <a:extLst xmlns:a="http://schemas.openxmlformats.org/drawingml/2006/main">
              <a:ext uri="{FF2B5EF4-FFF2-40B4-BE49-F238E27FC236}">
                <a16:creationId xmlns:a16="http://schemas.microsoft.com/office/drawing/2014/main" id="{74727F65-418C-434E-B191-DBF033AFB9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3640" y="1737360"/>
            <a:ext cx="5376672" cy="4526280"/>
          </a:xfrm>
          <a:prstGeom xmlns:a="http://schemas.openxmlformats.org/drawingml/2006/main" prst="roundRect">
            <a:avLst>
              <a:gd name="adj" fmla="val 1818"/>
            </a:avLst>
          </a:prstGeom>
          <a:solidFill xmlns:a="http://schemas.openxmlformats.org/drawingml/2006/main">
            <a:srgbClr val="FBFAF7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24" name="Shape 21">
            <a:extLst xmlns:a="http://schemas.openxmlformats.org/drawingml/2006/main">
              <a:ext uri="{FF2B5EF4-FFF2-40B4-BE49-F238E27FC236}">
                <a16:creationId xmlns:a16="http://schemas.microsoft.com/office/drawing/2014/main" id="{CF6AFB9F-DDAE-4D40-91F1-2B54B300D3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7960" y="1993392"/>
            <a:ext cx="475488" cy="47548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5B335"/>
          </a:solidFill>
        </p:spPr>
      </p:sp>
      <p:pic>
        <p:nvPicPr>
          <p:cNvPr id="69" name="Imag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ea340c108304ad1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661587" y="2117019"/>
            <a:ext cx="228234" cy="228234"/>
          </a:xfrm>
          <a:prstGeom xmlns:a="http://schemas.openxmlformats.org/drawingml/2006/main" prst="rect">
            <a:avLst/>
          </a:prstGeom>
        </p:spPr>
      </p:pic>
      <p:sp>
        <p:nvSpPr>
          <p:cNvPr id="26" name="Text 22">
            <a:extLst xmlns:a="http://schemas.openxmlformats.org/drawingml/2006/main">
              <a:ext uri="{FF2B5EF4-FFF2-40B4-BE49-F238E27FC236}">
                <a16:creationId xmlns:a16="http://schemas.microsoft.com/office/drawing/2014/main" id="{B31E95B1-A430-42C6-B562-EF1B1F303C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59752" y="2011680"/>
            <a:ext cx="365760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500" b="1">
                <a:solidFill>
                  <a:srgbClr val="0E1729"/>
                </a:solidFill>
                <a:latin typeface="Arial"/>
                <a:ea typeface="Arial"/>
                <a:cs typeface="Arial"/>
              </a:rPr>
              <a:t>课时账本(流水式)</a:t>
            </a:r>
          </a:p>
        </p:txBody>
      </p:sp>
      <p:sp>
        <p:nvSpPr>
          <p:cNvPr id="27" name="Text 23">
            <a:extLst xmlns:a="http://schemas.openxmlformats.org/drawingml/2006/main">
              <a:ext uri="{FF2B5EF4-FFF2-40B4-BE49-F238E27FC236}">
                <a16:creationId xmlns:a16="http://schemas.microsoft.com/office/drawing/2014/main" id="{22976569-2307-4E34-A1E6-F07B6C35DD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7960" y="2734056"/>
            <a:ext cx="68580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>
                <a:solidFill>
                  <a:srgbClr val="94A3B8"/>
                </a:solidFill>
                <a:latin typeface="Arial"/>
                <a:ea typeface="Arial"/>
                <a:cs typeface="Arial"/>
              </a:rPr>
              <a:t>03-02</a:t>
            </a:r>
          </a:p>
        </p:txBody>
      </p:sp>
      <p:sp>
        <p:nvSpPr>
          <p:cNvPr id="28" name="Text 24">
            <a:extLst xmlns:a="http://schemas.openxmlformats.org/drawingml/2006/main">
              <a:ext uri="{FF2B5EF4-FFF2-40B4-BE49-F238E27FC236}">
                <a16:creationId xmlns:a16="http://schemas.microsoft.com/office/drawing/2014/main" id="{0C758568-0FC7-4AD8-9A1E-328C62D1F5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69480" y="2734056"/>
            <a:ext cx="310896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>
                <a:solidFill>
                  <a:srgbClr val="16233D"/>
                </a:solidFill>
                <a:latin typeface="Arial"/>
                <a:ea typeface="Arial"/>
                <a:cs typeface="Arial"/>
              </a:rPr>
              <a:t>购买 10 次课包</a:t>
            </a:r>
          </a:p>
        </p:txBody>
      </p:sp>
      <p:sp>
        <p:nvSpPr>
          <p:cNvPr id="29" name="Text 25">
            <a:extLst xmlns:a="http://schemas.openxmlformats.org/drawingml/2006/main">
              <a:ext uri="{FF2B5EF4-FFF2-40B4-BE49-F238E27FC236}">
                <a16:creationId xmlns:a16="http://schemas.microsoft.com/office/drawing/2014/main" id="{48246165-1830-4135-AFDE-87C14355BA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24160" y="2734056"/>
            <a:ext cx="91440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1250" b="1">
                <a:solidFill>
                  <a:srgbClr val="15803D"/>
                </a:solidFill>
                <a:latin typeface="Arial"/>
                <a:ea typeface="Arial"/>
                <a:cs typeface="Arial"/>
              </a:rPr>
              <a:t>+10</a:t>
            </a:r>
          </a:p>
        </p:txBody>
      </p:sp>
      <p:sp>
        <p:nvSpPr>
          <p:cNvPr id="30" name="Shape 26">
            <a:extLst xmlns:a="http://schemas.openxmlformats.org/drawingml/2006/main">
              <a:ext uri="{FF2B5EF4-FFF2-40B4-BE49-F238E27FC236}">
                <a16:creationId xmlns:a16="http://schemas.microsoft.com/office/drawing/2014/main" id="{CFD7C96E-74D8-4F8A-9E64-24F99B7ED7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7960" y="3264408"/>
            <a:ext cx="4828032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2E8F0"/>
            </a:solidFill>
            <a:prstDash val="solid"/>
          </a:ln>
        </p:spPr>
      </p:sp>
      <p:sp>
        <p:nvSpPr>
          <p:cNvPr id="31" name="Text 27">
            <a:extLst xmlns:a="http://schemas.openxmlformats.org/drawingml/2006/main">
              <a:ext uri="{FF2B5EF4-FFF2-40B4-BE49-F238E27FC236}">
                <a16:creationId xmlns:a16="http://schemas.microsoft.com/office/drawing/2014/main" id="{900CC88F-C208-4735-96C2-DB0183BBDD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7960" y="3300984"/>
            <a:ext cx="68580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>
                <a:solidFill>
                  <a:srgbClr val="94A3B8"/>
                </a:solidFill>
                <a:latin typeface="Arial"/>
                <a:ea typeface="Arial"/>
                <a:cs typeface="Arial"/>
              </a:rPr>
              <a:t>03-09</a:t>
            </a:r>
          </a:p>
        </p:txBody>
      </p:sp>
      <p:sp>
        <p:nvSpPr>
          <p:cNvPr id="32" name="Text 28">
            <a:extLst xmlns:a="http://schemas.openxmlformats.org/drawingml/2006/main">
              <a:ext uri="{FF2B5EF4-FFF2-40B4-BE49-F238E27FC236}">
                <a16:creationId xmlns:a16="http://schemas.microsoft.com/office/drawing/2014/main" id="{37B80845-1E80-47DB-8ED2-10B7DB7D32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69480" y="3300984"/>
            <a:ext cx="310896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>
                <a:solidFill>
                  <a:srgbClr val="16233D"/>
                </a:solidFill>
                <a:latin typeface="Arial"/>
                <a:ea typeface="Arial"/>
                <a:cs typeface="Arial"/>
              </a:rPr>
              <a:t>到店签到(少儿美术)</a:t>
            </a:r>
          </a:p>
        </p:txBody>
      </p:sp>
      <p:sp>
        <p:nvSpPr>
          <p:cNvPr id="33" name="Text 29">
            <a:extLst xmlns:a="http://schemas.openxmlformats.org/drawingml/2006/main">
              <a:ext uri="{FF2B5EF4-FFF2-40B4-BE49-F238E27FC236}">
                <a16:creationId xmlns:a16="http://schemas.microsoft.com/office/drawing/2014/main" id="{0D002E2F-819C-47F9-9A21-C3A76B5DB7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24160" y="3300984"/>
            <a:ext cx="91440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1250" b="1">
                <a:solidFill>
                  <a:srgbClr val="475569"/>
                </a:solidFill>
                <a:latin typeface="Arial"/>
                <a:ea typeface="Arial"/>
                <a:cs typeface="Arial"/>
              </a:rPr>
              <a:t>−1</a:t>
            </a:r>
          </a:p>
        </p:txBody>
      </p:sp>
      <p:sp>
        <p:nvSpPr>
          <p:cNvPr id="34" name="Shape 30">
            <a:extLst xmlns:a="http://schemas.openxmlformats.org/drawingml/2006/main">
              <a:ext uri="{FF2B5EF4-FFF2-40B4-BE49-F238E27FC236}">
                <a16:creationId xmlns:a16="http://schemas.microsoft.com/office/drawing/2014/main" id="{63BAF412-6F1B-4FE0-BEAD-466A962313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7960" y="3831336"/>
            <a:ext cx="4828032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2E8F0"/>
            </a:solidFill>
            <a:prstDash val="solid"/>
          </a:ln>
        </p:spPr>
      </p:sp>
      <p:sp>
        <p:nvSpPr>
          <p:cNvPr id="35" name="Text 31">
            <a:extLst xmlns:a="http://schemas.openxmlformats.org/drawingml/2006/main">
              <a:ext uri="{FF2B5EF4-FFF2-40B4-BE49-F238E27FC236}">
                <a16:creationId xmlns:a16="http://schemas.microsoft.com/office/drawing/2014/main" id="{4FD0AECB-1F7C-4081-B095-DCEF937009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7960" y="3867912"/>
            <a:ext cx="68580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>
                <a:solidFill>
                  <a:srgbClr val="94A3B8"/>
                </a:solidFill>
                <a:latin typeface="Arial"/>
                <a:ea typeface="Arial"/>
                <a:cs typeface="Arial"/>
              </a:rPr>
              <a:t>03-16</a:t>
            </a:r>
          </a:p>
        </p:txBody>
      </p:sp>
      <p:sp>
        <p:nvSpPr>
          <p:cNvPr id="36" name="Text 32">
            <a:extLst xmlns:a="http://schemas.openxmlformats.org/drawingml/2006/main">
              <a:ext uri="{FF2B5EF4-FFF2-40B4-BE49-F238E27FC236}">
                <a16:creationId xmlns:a16="http://schemas.microsoft.com/office/drawing/2014/main" id="{4E013D27-BFC9-4F62-AA50-B0632FCCA6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69480" y="3867912"/>
            <a:ext cx="310896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>
                <a:solidFill>
                  <a:srgbClr val="16233D"/>
                </a:solidFill>
                <a:latin typeface="Arial"/>
                <a:ea typeface="Arial"/>
                <a:cs typeface="Arial"/>
              </a:rPr>
              <a:t>到店签到(少儿美术)</a:t>
            </a:r>
          </a:p>
        </p:txBody>
      </p:sp>
      <p:sp>
        <p:nvSpPr>
          <p:cNvPr id="37" name="Text 33">
            <a:extLst xmlns:a="http://schemas.openxmlformats.org/drawingml/2006/main">
              <a:ext uri="{FF2B5EF4-FFF2-40B4-BE49-F238E27FC236}">
                <a16:creationId xmlns:a16="http://schemas.microsoft.com/office/drawing/2014/main" id="{427EBBC3-6289-480D-BD3C-2F1986E2B7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24160" y="3867912"/>
            <a:ext cx="91440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1250" b="1">
                <a:solidFill>
                  <a:srgbClr val="475569"/>
                </a:solidFill>
                <a:latin typeface="Arial"/>
                <a:ea typeface="Arial"/>
                <a:cs typeface="Arial"/>
              </a:rPr>
              <a:t>−1</a:t>
            </a:r>
          </a:p>
        </p:txBody>
      </p:sp>
      <p:sp>
        <p:nvSpPr>
          <p:cNvPr id="38" name="Shape 34">
            <a:extLst xmlns:a="http://schemas.openxmlformats.org/drawingml/2006/main">
              <a:ext uri="{FF2B5EF4-FFF2-40B4-BE49-F238E27FC236}">
                <a16:creationId xmlns:a16="http://schemas.microsoft.com/office/drawing/2014/main" id="{DC8DA495-B273-4FF3-ADB0-139412C45B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7960" y="4398264"/>
            <a:ext cx="4828032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2E8F0"/>
            </a:solidFill>
            <a:prstDash val="solid"/>
          </a:ln>
        </p:spPr>
      </p:sp>
      <p:sp>
        <p:nvSpPr>
          <p:cNvPr id="39" name="Text 35">
            <a:extLst xmlns:a="http://schemas.openxmlformats.org/drawingml/2006/main">
              <a:ext uri="{FF2B5EF4-FFF2-40B4-BE49-F238E27FC236}">
                <a16:creationId xmlns:a16="http://schemas.microsoft.com/office/drawing/2014/main" id="{3BD4646C-51FC-402D-A1A0-6CA893E47D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7960" y="4434840"/>
            <a:ext cx="68580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>
                <a:solidFill>
                  <a:srgbClr val="94A3B8"/>
                </a:solidFill>
                <a:latin typeface="Arial"/>
                <a:ea typeface="Arial"/>
                <a:cs typeface="Arial"/>
              </a:rPr>
              <a:t>04-01</a:t>
            </a:r>
          </a:p>
        </p:txBody>
      </p:sp>
      <p:sp>
        <p:nvSpPr>
          <p:cNvPr id="40" name="Text 36">
            <a:extLst xmlns:a="http://schemas.openxmlformats.org/drawingml/2006/main">
              <a:ext uri="{FF2B5EF4-FFF2-40B4-BE49-F238E27FC236}">
                <a16:creationId xmlns:a16="http://schemas.microsoft.com/office/drawing/2014/main" id="{30409B29-2AB8-4CB8-93AC-D139567BA9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69480" y="4434840"/>
            <a:ext cx="310896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>
                <a:solidFill>
                  <a:srgbClr val="16233D"/>
                </a:solidFill>
                <a:latin typeface="Arial"/>
                <a:ea typeface="Arial"/>
                <a:cs typeface="Arial"/>
              </a:rPr>
              <a:t>退费冲减 · 店长操作</a:t>
            </a:r>
          </a:p>
        </p:txBody>
      </p:sp>
      <p:sp>
        <p:nvSpPr>
          <p:cNvPr id="41" name="Text 37">
            <a:extLst xmlns:a="http://schemas.openxmlformats.org/drawingml/2006/main">
              <a:ext uri="{FF2B5EF4-FFF2-40B4-BE49-F238E27FC236}">
                <a16:creationId xmlns:a16="http://schemas.microsoft.com/office/drawing/2014/main" id="{EA038F3F-B12B-4FD1-851F-A6A141CEF6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24160" y="4434840"/>
            <a:ext cx="91440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1250" b="1">
                <a:solidFill>
                  <a:srgbClr val="B91C1C"/>
                </a:solidFill>
                <a:latin typeface="Arial"/>
                <a:ea typeface="Arial"/>
                <a:cs typeface="Arial"/>
              </a:rPr>
              <a:t>−3</a:t>
            </a:r>
          </a:p>
        </p:txBody>
      </p:sp>
      <p:sp>
        <p:nvSpPr>
          <p:cNvPr id="42" name="Shape 38">
            <a:extLst xmlns:a="http://schemas.openxmlformats.org/drawingml/2006/main">
              <a:ext uri="{FF2B5EF4-FFF2-40B4-BE49-F238E27FC236}">
                <a16:creationId xmlns:a16="http://schemas.microsoft.com/office/drawing/2014/main" id="{AFD4FF1F-DA91-4F73-BCCC-6AA0F05BEE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7960" y="5138928"/>
            <a:ext cx="4828032" cy="868680"/>
          </a:xfrm>
          <a:prstGeom xmlns:a="http://schemas.openxmlformats.org/drawingml/2006/main" prst="roundRect">
            <a:avLst>
              <a:gd name="adj" fmla="val 6316"/>
            </a:avLst>
          </a:prstGeom>
          <a:solidFill xmlns:a="http://schemas.openxmlformats.org/drawingml/2006/main">
            <a:srgbClr val="FEF3C7"/>
          </a:solidFill>
        </p:spPr>
      </p:sp>
      <p:sp>
        <p:nvSpPr>
          <p:cNvPr id="43" name="Text 39">
            <a:extLst xmlns:a="http://schemas.openxmlformats.org/drawingml/2006/main">
              <a:ext uri="{FF2B5EF4-FFF2-40B4-BE49-F238E27FC236}">
                <a16:creationId xmlns:a16="http://schemas.microsoft.com/office/drawing/2014/main" id="{C1057778-74E8-4623-B3CB-F749C943A1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20840" y="5212080"/>
            <a:ext cx="4462272" cy="7315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>
                <a:solidFill>
                  <a:srgbClr val="78350F"/>
                </a:solidFill>
                <a:latin typeface="Arial"/>
                <a:ea typeface="Arial"/>
                <a:cs typeface="Arial"/>
              </a:rPr>
              <a:t>余额 = 每一笔流水之和。不是一个可以随手改掉的数字,每次变动都记录操作人、时间与原因。</a:t>
            </a:r>
          </a:p>
        </p:txBody>
      </p:sp>
    </p:spTree>
    <p:extLst>
      <p:ext uri="{BB962C8B-B14F-4D97-AF65-F5344CB8AC3E}">
        <p14:creationId xmlns:p14="http://schemas.microsoft.com/office/powerpoint/2010/main" val="57081430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AAF5ED52-D49F-42CD-A51A-C467899BF1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457200"/>
            <a:ext cx="182880" cy="182880"/>
          </a:xfrm>
          <a:prstGeom xmlns:a="http://schemas.openxmlformats.org/drawingml/2006/main" prst="star4">
            <a:avLst/>
          </a:prstGeom>
          <a:solidFill xmlns:a="http://schemas.openxmlformats.org/drawingml/2006/main">
            <a:srgbClr val="F5B335"/>
          </a:solidFill>
        </p:spPr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351D16E0-551F-4F5D-8B02-987CE8D43E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" y="384048"/>
            <a:ext cx="731520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b="1">
                <a:solidFill>
                  <a:srgbClr val="64748B"/>
                </a:solidFill>
                <a:latin typeface="Arial"/>
                <a:ea typeface="Arial"/>
                <a:cs typeface="Arial"/>
              </a:rPr>
              <a:t>运营 · 收费与退费管控</a:t>
            </a:r>
          </a:p>
        </p:txBody>
      </p:sp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FCBCCE53-4663-4647-9E94-6CE4CC0046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731520"/>
            <a:ext cx="11064240" cy="56692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700" b="1">
                <a:solidFill>
                  <a:srgbClr val="0E1729"/>
                </a:solidFill>
                <a:latin typeface="Arial"/>
                <a:ea typeface="Arial"/>
                <a:cs typeface="Arial"/>
              </a:rPr>
              <a:t>钱上的规矩写进系统,不写在人情里</a:t>
            </a:r>
          </a:p>
        </p:txBody>
      </p:sp>
      <p:sp>
        <p:nvSpPr>
          <p:cNvPr id="5" name="Text 3">
            <a:extLst xmlns:a="http://schemas.openxmlformats.org/drawingml/2006/main">
              <a:ext uri="{FF2B5EF4-FFF2-40B4-BE49-F238E27FC236}">
                <a16:creationId xmlns:a16="http://schemas.microsoft.com/office/drawing/2014/main" id="{F35D5DF3-6156-4CC2-958F-BDA1A88E51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473952"/>
            <a:ext cx="54864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1000">
                <a:solidFill>
                  <a:srgbClr val="94A3B8"/>
                </a:solidFill>
                <a:latin typeface="Arial"/>
                <a:ea typeface="Arial"/>
                <a:cs typeface="Arial"/>
              </a:rPr>
              <a:t>07</a:t>
            </a:r>
          </a:p>
        </p:txBody>
      </p:sp>
      <p:graphicFrame>
        <p:nvGraphicFramePr>
          <p:cNvPr id="27" name="Table 0"/>
          <p:cNvGraphicFramePr/>
          <p:nvPr/>
        </p:nvGraphicFramePr>
        <p:xfrm>
          <a:off xmlns:a="http://schemas.openxmlformats.org/drawingml/2006/main" x="548640" y="1783080"/>
          <a:ext xmlns:a="http://schemas.openxmlformats.org/drawingml/2006/main" cx="11091672" cy="91440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3044952"/>
                <a:gridCol w="1609344"/>
                <a:gridCol w="1609344"/>
                <a:gridCol w="1609344"/>
                <a:gridCol w="1609344"/>
                <a:gridCol w="1609344"/>
              </a:tblGrid>
              <a:tr h="4754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操作 / 角色</a:t>
                      </a:r>
                    </a:p>
                  </a:txBody>
                  <a:tcPr marL="91440" marR="91440" marT="54864" marB="54864" anchor="ctr">
                    <a:lnL w="12700" cmpd="sng">
                      <a:solidFill>
                        <a:srgbClr val="E2E8F0"/>
                      </a:solidFill>
                      <a:prstDash val="solid"/>
                    </a:lnL>
                    <a:lnR w="12700" cmpd="sng">
                      <a:solidFill>
                        <a:srgbClr val="E2E8F0"/>
                      </a:solidFill>
                      <a:prstDash val="solid"/>
                    </a:lnR>
                    <a:lnT w="12700" cmpd="sng">
                      <a:solidFill>
                        <a:srgbClr val="E2E8F0"/>
                      </a:solidFill>
                      <a:prstDash val="solid"/>
                    </a:lnT>
                    <a:lnB w="12700" cmpd="sng">
                      <a:solidFill>
                        <a:srgbClr val="E2E8F0"/>
                      </a:solidFill>
                      <a:prstDash val="soli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店主 owner</a:t>
                      </a:r>
                    </a:p>
                  </a:txBody>
                  <a:tcPr marL="91440" marR="91440" marT="54864" marB="54864" anchor="ctr">
                    <a:lnL w="12700" cmpd="sng">
                      <a:solidFill>
                        <a:srgbClr val="E2E8F0"/>
                      </a:solidFill>
                      <a:prstDash val="solid"/>
                    </a:lnL>
                    <a:lnR w="12700" cmpd="sng">
                      <a:solidFill>
                        <a:srgbClr val="E2E8F0"/>
                      </a:solidFill>
                      <a:prstDash val="solid"/>
                    </a:lnR>
                    <a:lnT w="12700" cmpd="sng">
                      <a:solidFill>
                        <a:srgbClr val="E2E8F0"/>
                      </a:solidFill>
                      <a:prstDash val="solid"/>
                    </a:lnT>
                    <a:lnB w="12700" cmpd="sng">
                      <a:solidFill>
                        <a:srgbClr val="E2E8F0"/>
                      </a:solidFill>
                      <a:prstDash val="soli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店长 manager</a:t>
                      </a:r>
                    </a:p>
                  </a:txBody>
                  <a:tcPr marL="91440" marR="91440" marT="54864" marB="54864" anchor="ctr">
                    <a:lnL w="12700" cmpd="sng">
                      <a:solidFill>
                        <a:srgbClr val="E2E8F0"/>
                      </a:solidFill>
                      <a:prstDash val="solid"/>
                    </a:lnL>
                    <a:lnR w="12700" cmpd="sng">
                      <a:solidFill>
                        <a:srgbClr val="E2E8F0"/>
                      </a:solidFill>
                      <a:prstDash val="solid"/>
                    </a:lnR>
                    <a:lnT w="12700" cmpd="sng">
                      <a:solidFill>
                        <a:srgbClr val="E2E8F0"/>
                      </a:solidFill>
                      <a:prstDash val="solid"/>
                    </a:lnT>
                    <a:lnB w="12700" cmpd="sng">
                      <a:solidFill>
                        <a:srgbClr val="E2E8F0"/>
                      </a:solidFill>
                      <a:prstDash val="soli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老师 teacher</a:t>
                      </a:r>
                    </a:p>
                  </a:txBody>
                  <a:tcPr marL="91440" marR="91440" marT="54864" marB="54864" anchor="ctr">
                    <a:lnL w="12700" cmpd="sng">
                      <a:solidFill>
                        <a:srgbClr val="E2E8F0"/>
                      </a:solidFill>
                      <a:prstDash val="solid"/>
                    </a:lnL>
                    <a:lnR w="12700" cmpd="sng">
                      <a:solidFill>
                        <a:srgbClr val="E2E8F0"/>
                      </a:solidFill>
                      <a:prstDash val="solid"/>
                    </a:lnR>
                    <a:lnT w="12700" cmpd="sng">
                      <a:solidFill>
                        <a:srgbClr val="E2E8F0"/>
                      </a:solidFill>
                      <a:prstDash val="solid"/>
                    </a:lnT>
                    <a:lnB w="12700" cmpd="sng">
                      <a:solidFill>
                        <a:srgbClr val="E2E8F0"/>
                      </a:solidFill>
                      <a:prstDash val="soli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前台 front desk</a:t>
                      </a:r>
                    </a:p>
                  </a:txBody>
                  <a:tcPr marL="91440" marR="91440" marT="54864" marB="54864" anchor="ctr">
                    <a:lnL w="12700" cmpd="sng">
                      <a:solidFill>
                        <a:srgbClr val="E2E8F0"/>
                      </a:solidFill>
                      <a:prstDash val="solid"/>
                    </a:lnL>
                    <a:lnR w="12700" cmpd="sng">
                      <a:solidFill>
                        <a:srgbClr val="E2E8F0"/>
                      </a:solidFill>
                      <a:prstDash val="solid"/>
                    </a:lnR>
                    <a:lnT w="12700" cmpd="sng">
                      <a:solidFill>
                        <a:srgbClr val="E2E8F0"/>
                      </a:solidFill>
                      <a:prstDash val="solid"/>
                    </a:lnT>
                    <a:lnB w="12700" cmpd="sng">
                      <a:solidFill>
                        <a:srgbClr val="E2E8F0"/>
                      </a:solidFill>
                      <a:prstDash val="soli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员工 staff</a:t>
                      </a:r>
                    </a:p>
                  </a:txBody>
                  <a:tcPr marL="91440" marR="91440" marT="54864" marB="54864" anchor="ctr">
                    <a:lnL w="12700" cmpd="sng">
                      <a:solidFill>
                        <a:srgbClr val="E2E8F0"/>
                      </a:solidFill>
                      <a:prstDash val="solid"/>
                    </a:lnL>
                    <a:lnR w="12700" cmpd="sng">
                      <a:solidFill>
                        <a:srgbClr val="E2E8F0"/>
                      </a:solidFill>
                      <a:prstDash val="solid"/>
                    </a:lnR>
                    <a:lnT w="12700" cmpd="sng">
                      <a:solidFill>
                        <a:srgbClr val="E2E8F0"/>
                      </a:solidFill>
                      <a:prstDash val="solid"/>
                    </a:lnT>
                    <a:lnB w="12700" cmpd="sng">
                      <a:solidFill>
                        <a:srgbClr val="E2E8F0"/>
                      </a:solidFill>
                      <a:prstDash val="solid"/>
                    </a:lnB>
                    <a:solidFill>
                      <a:srgbClr val="0F172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sz="1200" b="1">
                          <a:solidFill>
                            <a:srgbClr val="1E293B"/>
                          </a:solidFill>
                          <a:latin typeface="Arial"/>
                          <a:ea typeface="Arial"/>
                          <a:cs typeface="Arial"/>
                        </a:rPr>
                        <a:t>收费与课时录入</a:t>
                      </a:r>
                    </a:p>
                  </a:txBody>
                  <a:tcPr marL="91440" marR="91440" marT="54864" marB="54864" anchor="ctr">
                    <a:lnL w="12700" cmpd="sng">
                      <a:solidFill>
                        <a:srgbClr val="E2E8F0"/>
                      </a:solidFill>
                      <a:prstDash val="solid"/>
                    </a:lnL>
                    <a:lnR w="12700" cmpd="sng">
                      <a:solidFill>
                        <a:srgbClr val="E2E8F0"/>
                      </a:solidFill>
                      <a:prstDash val="solid"/>
                    </a:lnR>
                    <a:lnT w="12700" cmpd="sng">
                      <a:solidFill>
                        <a:srgbClr val="E2E8F0"/>
                      </a:solidFill>
                      <a:prstDash val="solid"/>
                    </a:lnT>
                    <a:lnB w="12700" cmpd="sng">
                      <a:solidFill>
                        <a:srgbClr val="E2E8F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sz="1200" b="1">
                          <a:solidFill>
                            <a:srgbClr val="0F172A"/>
                          </a:solidFill>
                          <a:latin typeface="Arial"/>
                          <a:ea typeface="Arial"/>
                          <a:cs typeface="Arial"/>
                        </a:rPr>
                        <a:t>✓</a:t>
                      </a:r>
                    </a:p>
                  </a:txBody>
                  <a:tcPr marL="91440" marR="91440" marT="54864" marB="54864" anchor="ctr">
                    <a:lnL w="12700" cmpd="sng">
                      <a:solidFill>
                        <a:srgbClr val="E2E8F0"/>
                      </a:solidFill>
                      <a:prstDash val="solid"/>
                    </a:lnL>
                    <a:lnR w="12700" cmpd="sng">
                      <a:solidFill>
                        <a:srgbClr val="E2E8F0"/>
                      </a:solidFill>
                      <a:prstDash val="solid"/>
                    </a:lnR>
                    <a:lnT w="12700" cmpd="sng">
                      <a:solidFill>
                        <a:srgbClr val="E2E8F0"/>
                      </a:solidFill>
                      <a:prstDash val="solid"/>
                    </a:lnT>
                    <a:lnB w="12700" cmpd="sng">
                      <a:solidFill>
                        <a:srgbClr val="E2E8F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sz="1200" b="1">
                          <a:solidFill>
                            <a:srgbClr val="0F172A"/>
                          </a:solidFill>
                          <a:latin typeface="Arial"/>
                          <a:ea typeface="Arial"/>
                          <a:cs typeface="Arial"/>
                        </a:rPr>
                        <a:t>✓</a:t>
                      </a:r>
                    </a:p>
                  </a:txBody>
                  <a:tcPr marL="91440" marR="91440" marT="54864" marB="54864" anchor="ctr">
                    <a:lnL w="12700" cmpd="sng">
                      <a:solidFill>
                        <a:srgbClr val="E2E8F0"/>
                      </a:solidFill>
                      <a:prstDash val="solid"/>
                    </a:lnL>
                    <a:lnR w="12700" cmpd="sng">
                      <a:solidFill>
                        <a:srgbClr val="E2E8F0"/>
                      </a:solidFill>
                      <a:prstDash val="solid"/>
                    </a:lnR>
                    <a:lnT w="12700" cmpd="sng">
                      <a:solidFill>
                        <a:srgbClr val="E2E8F0"/>
                      </a:solidFill>
                      <a:prstDash val="solid"/>
                    </a:lnT>
                    <a:lnB w="12700" cmpd="sng">
                      <a:solidFill>
                        <a:srgbClr val="E2E8F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sz="1200">
                          <a:solidFill>
                            <a:srgbClr val="CBD5E1"/>
                          </a:solidFill>
                          <a:latin typeface="Arial"/>
                          <a:ea typeface="Arial"/>
                          <a:cs typeface="Arial"/>
                        </a:rPr>
                        <a:t>—</a:t>
                      </a:r>
                    </a:p>
                  </a:txBody>
                  <a:tcPr marL="91440" marR="91440" marT="54864" marB="54864" anchor="ctr">
                    <a:lnL w="12700" cmpd="sng">
                      <a:solidFill>
                        <a:srgbClr val="E2E8F0"/>
                      </a:solidFill>
                      <a:prstDash val="solid"/>
                    </a:lnL>
                    <a:lnR w="12700" cmpd="sng">
                      <a:solidFill>
                        <a:srgbClr val="E2E8F0"/>
                      </a:solidFill>
                      <a:prstDash val="solid"/>
                    </a:lnR>
                    <a:lnT w="12700" cmpd="sng">
                      <a:solidFill>
                        <a:srgbClr val="E2E8F0"/>
                      </a:solidFill>
                      <a:prstDash val="solid"/>
                    </a:lnT>
                    <a:lnB w="12700" cmpd="sng">
                      <a:solidFill>
                        <a:srgbClr val="E2E8F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sz="1200" b="1">
                          <a:solidFill>
                            <a:srgbClr val="0F172A"/>
                          </a:solidFill>
                          <a:latin typeface="Arial"/>
                          <a:ea typeface="Arial"/>
                          <a:cs typeface="Arial"/>
                        </a:rPr>
                        <a:t>✓</a:t>
                      </a:r>
                    </a:p>
                  </a:txBody>
                  <a:tcPr marL="91440" marR="91440" marT="54864" marB="54864" anchor="ctr">
                    <a:lnL w="12700" cmpd="sng">
                      <a:solidFill>
                        <a:srgbClr val="E2E8F0"/>
                      </a:solidFill>
                      <a:prstDash val="solid"/>
                    </a:lnL>
                    <a:lnR w="12700" cmpd="sng">
                      <a:solidFill>
                        <a:srgbClr val="E2E8F0"/>
                      </a:solidFill>
                      <a:prstDash val="solid"/>
                    </a:lnR>
                    <a:lnT w="12700" cmpd="sng">
                      <a:solidFill>
                        <a:srgbClr val="E2E8F0"/>
                      </a:solidFill>
                      <a:prstDash val="solid"/>
                    </a:lnT>
                    <a:lnB w="12700" cmpd="sng">
                      <a:solidFill>
                        <a:srgbClr val="E2E8F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sz="1200" b="1">
                          <a:solidFill>
                            <a:srgbClr val="0F172A"/>
                          </a:solidFill>
                          <a:latin typeface="Arial"/>
                          <a:ea typeface="Arial"/>
                          <a:cs typeface="Arial"/>
                        </a:rPr>
                        <a:t>✓</a:t>
                      </a:r>
                    </a:p>
                  </a:txBody>
                  <a:tcPr marL="91440" marR="91440" marT="54864" marB="54864" anchor="ctr">
                    <a:lnL w="12700" cmpd="sng">
                      <a:solidFill>
                        <a:srgbClr val="E2E8F0"/>
                      </a:solidFill>
                      <a:prstDash val="solid"/>
                    </a:lnL>
                    <a:lnR w="12700" cmpd="sng">
                      <a:solidFill>
                        <a:srgbClr val="E2E8F0"/>
                      </a:solidFill>
                      <a:prstDash val="solid"/>
                    </a:lnR>
                    <a:lnT w="12700" cmpd="sng">
                      <a:solidFill>
                        <a:srgbClr val="E2E8F0"/>
                      </a:solidFill>
                      <a:prstDash val="solid"/>
                    </a:lnT>
                    <a:lnB w="12700" cmpd="sng">
                      <a:solidFill>
                        <a:srgbClr val="E2E8F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sz="1200" b="1">
                          <a:solidFill>
                            <a:srgbClr val="1E293B"/>
                          </a:solidFill>
                          <a:latin typeface="Arial"/>
                          <a:ea typeface="Arial"/>
                          <a:cs typeface="Arial"/>
                        </a:rPr>
                        <a:t>课时退费</a:t>
                      </a:r>
                    </a:p>
                  </a:txBody>
                  <a:tcPr marL="91440" marR="91440" marT="54864" marB="54864" anchor="ctr">
                    <a:lnL w="12700" cmpd="sng">
                      <a:solidFill>
                        <a:srgbClr val="E2E8F0"/>
                      </a:solidFill>
                      <a:prstDash val="solid"/>
                    </a:lnL>
                    <a:lnR w="12700" cmpd="sng">
                      <a:solidFill>
                        <a:srgbClr val="E2E8F0"/>
                      </a:solidFill>
                      <a:prstDash val="solid"/>
                    </a:lnR>
                    <a:lnT w="12700" cmpd="sng">
                      <a:solidFill>
                        <a:srgbClr val="E2E8F0"/>
                      </a:solidFill>
                      <a:prstDash val="solid"/>
                    </a:lnT>
                    <a:lnB w="12700" cmpd="sng">
                      <a:solidFill>
                        <a:srgbClr val="E2E8F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sz="1200" b="1">
                          <a:solidFill>
                            <a:srgbClr val="0F172A"/>
                          </a:solidFill>
                          <a:latin typeface="Arial"/>
                          <a:ea typeface="Arial"/>
                          <a:cs typeface="Arial"/>
                        </a:rPr>
                        <a:t>✓</a:t>
                      </a:r>
                    </a:p>
                  </a:txBody>
                  <a:tcPr marL="91440" marR="91440" marT="54864" marB="54864" anchor="ctr">
                    <a:lnL w="12700" cmpd="sng">
                      <a:solidFill>
                        <a:srgbClr val="E2E8F0"/>
                      </a:solidFill>
                      <a:prstDash val="solid"/>
                    </a:lnL>
                    <a:lnR w="12700" cmpd="sng">
                      <a:solidFill>
                        <a:srgbClr val="E2E8F0"/>
                      </a:solidFill>
                      <a:prstDash val="solid"/>
                    </a:lnR>
                    <a:lnT w="12700" cmpd="sng">
                      <a:solidFill>
                        <a:srgbClr val="E2E8F0"/>
                      </a:solidFill>
                      <a:prstDash val="solid"/>
                    </a:lnT>
                    <a:lnB w="12700" cmpd="sng">
                      <a:solidFill>
                        <a:srgbClr val="E2E8F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sz="1200" b="1">
                          <a:solidFill>
                            <a:srgbClr val="0F172A"/>
                          </a:solidFill>
                          <a:latin typeface="Arial"/>
                          <a:ea typeface="Arial"/>
                          <a:cs typeface="Arial"/>
                        </a:rPr>
                        <a:t>✓</a:t>
                      </a:r>
                    </a:p>
                  </a:txBody>
                  <a:tcPr marL="91440" marR="91440" marT="54864" marB="54864" anchor="ctr">
                    <a:lnL w="12700" cmpd="sng">
                      <a:solidFill>
                        <a:srgbClr val="E2E8F0"/>
                      </a:solidFill>
                      <a:prstDash val="solid"/>
                    </a:lnL>
                    <a:lnR w="12700" cmpd="sng">
                      <a:solidFill>
                        <a:srgbClr val="E2E8F0"/>
                      </a:solidFill>
                      <a:prstDash val="solid"/>
                    </a:lnR>
                    <a:lnT w="12700" cmpd="sng">
                      <a:solidFill>
                        <a:srgbClr val="E2E8F0"/>
                      </a:solidFill>
                      <a:prstDash val="solid"/>
                    </a:lnT>
                    <a:lnB w="12700" cmpd="sng">
                      <a:solidFill>
                        <a:srgbClr val="E2E8F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sz="1200">
                          <a:solidFill>
                            <a:srgbClr val="CBD5E1"/>
                          </a:solidFill>
                          <a:latin typeface="Arial"/>
                          <a:ea typeface="Arial"/>
                          <a:cs typeface="Arial"/>
                        </a:rPr>
                        <a:t>—</a:t>
                      </a:r>
                    </a:p>
                  </a:txBody>
                  <a:tcPr marL="91440" marR="91440" marT="54864" marB="54864" anchor="ctr">
                    <a:lnL w="12700" cmpd="sng">
                      <a:solidFill>
                        <a:srgbClr val="E2E8F0"/>
                      </a:solidFill>
                      <a:prstDash val="solid"/>
                    </a:lnL>
                    <a:lnR w="12700" cmpd="sng">
                      <a:solidFill>
                        <a:srgbClr val="E2E8F0"/>
                      </a:solidFill>
                      <a:prstDash val="solid"/>
                    </a:lnR>
                    <a:lnT w="12700" cmpd="sng">
                      <a:solidFill>
                        <a:srgbClr val="E2E8F0"/>
                      </a:solidFill>
                      <a:prstDash val="solid"/>
                    </a:lnT>
                    <a:lnB w="12700" cmpd="sng">
                      <a:solidFill>
                        <a:srgbClr val="E2E8F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sz="1200">
                          <a:solidFill>
                            <a:srgbClr val="CBD5E1"/>
                          </a:solidFill>
                          <a:latin typeface="Arial"/>
                          <a:ea typeface="Arial"/>
                          <a:cs typeface="Arial"/>
                        </a:rPr>
                        <a:t>—</a:t>
                      </a:r>
                    </a:p>
                  </a:txBody>
                  <a:tcPr marL="91440" marR="91440" marT="54864" marB="54864" anchor="ctr">
                    <a:lnL w="12700" cmpd="sng">
                      <a:solidFill>
                        <a:srgbClr val="E2E8F0"/>
                      </a:solidFill>
                      <a:prstDash val="solid"/>
                    </a:lnL>
                    <a:lnR w="12700" cmpd="sng">
                      <a:solidFill>
                        <a:srgbClr val="E2E8F0"/>
                      </a:solidFill>
                      <a:prstDash val="solid"/>
                    </a:lnR>
                    <a:lnT w="12700" cmpd="sng">
                      <a:solidFill>
                        <a:srgbClr val="E2E8F0"/>
                      </a:solidFill>
                      <a:prstDash val="solid"/>
                    </a:lnT>
                    <a:lnB w="12700" cmpd="sng">
                      <a:solidFill>
                        <a:srgbClr val="E2E8F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sz="1200">
                          <a:solidFill>
                            <a:srgbClr val="CBD5E1"/>
                          </a:solidFill>
                          <a:latin typeface="Arial"/>
                          <a:ea typeface="Arial"/>
                          <a:cs typeface="Arial"/>
                        </a:rPr>
                        <a:t>—</a:t>
                      </a:r>
                    </a:p>
                  </a:txBody>
                  <a:tcPr marL="91440" marR="91440" marT="54864" marB="54864" anchor="ctr">
                    <a:lnL w="12700" cmpd="sng">
                      <a:solidFill>
                        <a:srgbClr val="E2E8F0"/>
                      </a:solidFill>
                      <a:prstDash val="solid"/>
                    </a:lnL>
                    <a:lnR w="12700" cmpd="sng">
                      <a:solidFill>
                        <a:srgbClr val="E2E8F0"/>
                      </a:solidFill>
                      <a:prstDash val="solid"/>
                    </a:lnR>
                    <a:lnT w="12700" cmpd="sng">
                      <a:solidFill>
                        <a:srgbClr val="E2E8F0"/>
                      </a:solidFill>
                      <a:prstDash val="solid"/>
                    </a:lnT>
                    <a:lnB w="12700" cmpd="sng">
                      <a:solidFill>
                        <a:srgbClr val="E2E8F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sz="1200" b="1">
                          <a:solidFill>
                            <a:srgbClr val="1E293B"/>
                          </a:solidFill>
                          <a:latin typeface="Arial"/>
                          <a:ea typeface="Arial"/>
                          <a:cs typeface="Arial"/>
                        </a:rPr>
                        <a:t>作品集对外分享</a:t>
                      </a:r>
                    </a:p>
                  </a:txBody>
                  <a:tcPr marL="91440" marR="91440" marT="54864" marB="54864" anchor="ctr">
                    <a:lnL w="12700" cmpd="sng">
                      <a:solidFill>
                        <a:srgbClr val="E2E8F0"/>
                      </a:solidFill>
                      <a:prstDash val="solid"/>
                    </a:lnL>
                    <a:lnR w="12700" cmpd="sng">
                      <a:solidFill>
                        <a:srgbClr val="E2E8F0"/>
                      </a:solidFill>
                      <a:prstDash val="solid"/>
                    </a:lnR>
                    <a:lnT w="12700" cmpd="sng">
                      <a:solidFill>
                        <a:srgbClr val="E2E8F0"/>
                      </a:solidFill>
                      <a:prstDash val="solid"/>
                    </a:lnT>
                    <a:lnB w="12700" cmpd="sng">
                      <a:solidFill>
                        <a:srgbClr val="E2E8F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sz="1200" b="1">
                          <a:solidFill>
                            <a:srgbClr val="0F172A"/>
                          </a:solidFill>
                          <a:latin typeface="Arial"/>
                          <a:ea typeface="Arial"/>
                          <a:cs typeface="Arial"/>
                        </a:rPr>
                        <a:t>✓</a:t>
                      </a:r>
                    </a:p>
                  </a:txBody>
                  <a:tcPr marL="91440" marR="91440" marT="54864" marB="54864" anchor="ctr">
                    <a:lnL w="12700" cmpd="sng">
                      <a:solidFill>
                        <a:srgbClr val="E2E8F0"/>
                      </a:solidFill>
                      <a:prstDash val="solid"/>
                    </a:lnL>
                    <a:lnR w="12700" cmpd="sng">
                      <a:solidFill>
                        <a:srgbClr val="E2E8F0"/>
                      </a:solidFill>
                      <a:prstDash val="solid"/>
                    </a:lnR>
                    <a:lnT w="12700" cmpd="sng">
                      <a:solidFill>
                        <a:srgbClr val="E2E8F0"/>
                      </a:solidFill>
                      <a:prstDash val="solid"/>
                    </a:lnT>
                    <a:lnB w="12700" cmpd="sng">
                      <a:solidFill>
                        <a:srgbClr val="E2E8F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sz="1200" b="1">
                          <a:solidFill>
                            <a:srgbClr val="0F172A"/>
                          </a:solidFill>
                          <a:latin typeface="Arial"/>
                          <a:ea typeface="Arial"/>
                          <a:cs typeface="Arial"/>
                        </a:rPr>
                        <a:t>✓</a:t>
                      </a:r>
                    </a:p>
                  </a:txBody>
                  <a:tcPr marL="91440" marR="91440" marT="54864" marB="54864" anchor="ctr">
                    <a:lnL w="12700" cmpd="sng">
                      <a:solidFill>
                        <a:srgbClr val="E2E8F0"/>
                      </a:solidFill>
                      <a:prstDash val="solid"/>
                    </a:lnL>
                    <a:lnR w="12700" cmpd="sng">
                      <a:solidFill>
                        <a:srgbClr val="E2E8F0"/>
                      </a:solidFill>
                      <a:prstDash val="solid"/>
                    </a:lnR>
                    <a:lnT w="12700" cmpd="sng">
                      <a:solidFill>
                        <a:srgbClr val="E2E8F0"/>
                      </a:solidFill>
                      <a:prstDash val="solid"/>
                    </a:lnT>
                    <a:lnB w="12700" cmpd="sng">
                      <a:solidFill>
                        <a:srgbClr val="E2E8F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sz="1200">
                          <a:solidFill>
                            <a:srgbClr val="CBD5E1"/>
                          </a:solidFill>
                          <a:latin typeface="Arial"/>
                          <a:ea typeface="Arial"/>
                          <a:cs typeface="Arial"/>
                        </a:rPr>
                        <a:t>—</a:t>
                      </a:r>
                    </a:p>
                  </a:txBody>
                  <a:tcPr marL="91440" marR="91440" marT="54864" marB="54864" anchor="ctr">
                    <a:lnL w="12700" cmpd="sng">
                      <a:solidFill>
                        <a:srgbClr val="E2E8F0"/>
                      </a:solidFill>
                      <a:prstDash val="solid"/>
                    </a:lnL>
                    <a:lnR w="12700" cmpd="sng">
                      <a:solidFill>
                        <a:srgbClr val="E2E8F0"/>
                      </a:solidFill>
                      <a:prstDash val="solid"/>
                    </a:lnR>
                    <a:lnT w="12700" cmpd="sng">
                      <a:solidFill>
                        <a:srgbClr val="E2E8F0"/>
                      </a:solidFill>
                      <a:prstDash val="solid"/>
                    </a:lnT>
                    <a:lnB w="12700" cmpd="sng">
                      <a:solidFill>
                        <a:srgbClr val="E2E8F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sz="1200">
                          <a:solidFill>
                            <a:srgbClr val="CBD5E1"/>
                          </a:solidFill>
                          <a:latin typeface="Arial"/>
                          <a:ea typeface="Arial"/>
                          <a:cs typeface="Arial"/>
                        </a:rPr>
                        <a:t>—</a:t>
                      </a:r>
                    </a:p>
                  </a:txBody>
                  <a:tcPr marL="91440" marR="91440" marT="54864" marB="54864" anchor="ctr">
                    <a:lnL w="12700" cmpd="sng">
                      <a:solidFill>
                        <a:srgbClr val="E2E8F0"/>
                      </a:solidFill>
                      <a:prstDash val="solid"/>
                    </a:lnL>
                    <a:lnR w="12700" cmpd="sng">
                      <a:solidFill>
                        <a:srgbClr val="E2E8F0"/>
                      </a:solidFill>
                      <a:prstDash val="solid"/>
                    </a:lnR>
                    <a:lnT w="12700" cmpd="sng">
                      <a:solidFill>
                        <a:srgbClr val="E2E8F0"/>
                      </a:solidFill>
                      <a:prstDash val="solid"/>
                    </a:lnT>
                    <a:lnB w="12700" cmpd="sng">
                      <a:solidFill>
                        <a:srgbClr val="E2E8F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sz="1200">
                          <a:solidFill>
                            <a:srgbClr val="CBD5E1"/>
                          </a:solidFill>
                          <a:latin typeface="Arial"/>
                          <a:ea typeface="Arial"/>
                          <a:cs typeface="Arial"/>
                        </a:rPr>
                        <a:t>—</a:t>
                      </a:r>
                    </a:p>
                  </a:txBody>
                  <a:tcPr marL="91440" marR="91440" marT="54864" marB="54864" anchor="ctr">
                    <a:lnL w="12700" cmpd="sng">
                      <a:solidFill>
                        <a:srgbClr val="E2E8F0"/>
                      </a:solidFill>
                      <a:prstDash val="solid"/>
                    </a:lnL>
                    <a:lnR w="12700" cmpd="sng">
                      <a:solidFill>
                        <a:srgbClr val="E2E8F0"/>
                      </a:solidFill>
                      <a:prstDash val="solid"/>
                    </a:lnR>
                    <a:lnT w="12700" cmpd="sng">
                      <a:solidFill>
                        <a:srgbClr val="E2E8F0"/>
                      </a:solidFill>
                      <a:prstDash val="solid"/>
                    </a:lnT>
                    <a:lnB w="12700" cmpd="sng">
                      <a:solidFill>
                        <a:srgbClr val="E2E8F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sz="1200" b="1">
                          <a:solidFill>
                            <a:srgbClr val="1E293B"/>
                          </a:solidFill>
                          <a:latin typeface="Arial"/>
                          <a:ea typeface="Arial"/>
                          <a:cs typeface="Arial"/>
                        </a:rPr>
                        <a:t>数据导出 / 经营报表</a:t>
                      </a:r>
                    </a:p>
                  </a:txBody>
                  <a:tcPr marL="91440" marR="91440" marT="54864" marB="54864" anchor="ctr">
                    <a:lnL w="12700" cmpd="sng">
                      <a:solidFill>
                        <a:srgbClr val="E2E8F0"/>
                      </a:solidFill>
                      <a:prstDash val="solid"/>
                    </a:lnL>
                    <a:lnR w="12700" cmpd="sng">
                      <a:solidFill>
                        <a:srgbClr val="E2E8F0"/>
                      </a:solidFill>
                      <a:prstDash val="solid"/>
                    </a:lnR>
                    <a:lnT w="12700" cmpd="sng">
                      <a:solidFill>
                        <a:srgbClr val="E2E8F0"/>
                      </a:solidFill>
                      <a:prstDash val="solid"/>
                    </a:lnT>
                    <a:lnB w="12700" cmpd="sng">
                      <a:solidFill>
                        <a:srgbClr val="E2E8F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sz="1200" b="1">
                          <a:solidFill>
                            <a:srgbClr val="0F172A"/>
                          </a:solidFill>
                          <a:latin typeface="Arial"/>
                          <a:ea typeface="Arial"/>
                          <a:cs typeface="Arial"/>
                        </a:rPr>
                        <a:t>✓</a:t>
                      </a:r>
                    </a:p>
                  </a:txBody>
                  <a:tcPr marL="91440" marR="91440" marT="54864" marB="54864" anchor="ctr">
                    <a:lnL w="12700" cmpd="sng">
                      <a:solidFill>
                        <a:srgbClr val="E2E8F0"/>
                      </a:solidFill>
                      <a:prstDash val="solid"/>
                    </a:lnL>
                    <a:lnR w="12700" cmpd="sng">
                      <a:solidFill>
                        <a:srgbClr val="E2E8F0"/>
                      </a:solidFill>
                      <a:prstDash val="solid"/>
                    </a:lnR>
                    <a:lnT w="12700" cmpd="sng">
                      <a:solidFill>
                        <a:srgbClr val="E2E8F0"/>
                      </a:solidFill>
                      <a:prstDash val="solid"/>
                    </a:lnT>
                    <a:lnB w="12700" cmpd="sng">
                      <a:solidFill>
                        <a:srgbClr val="E2E8F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sz="1200" b="1">
                          <a:solidFill>
                            <a:srgbClr val="0F172A"/>
                          </a:solidFill>
                          <a:latin typeface="Arial"/>
                          <a:ea typeface="Arial"/>
                          <a:cs typeface="Arial"/>
                        </a:rPr>
                        <a:t>✓</a:t>
                      </a:r>
                    </a:p>
                  </a:txBody>
                  <a:tcPr marL="91440" marR="91440" marT="54864" marB="54864" anchor="ctr">
                    <a:lnL w="12700" cmpd="sng">
                      <a:solidFill>
                        <a:srgbClr val="E2E8F0"/>
                      </a:solidFill>
                      <a:prstDash val="solid"/>
                    </a:lnL>
                    <a:lnR w="12700" cmpd="sng">
                      <a:solidFill>
                        <a:srgbClr val="E2E8F0"/>
                      </a:solidFill>
                      <a:prstDash val="solid"/>
                    </a:lnR>
                    <a:lnT w="12700" cmpd="sng">
                      <a:solidFill>
                        <a:srgbClr val="E2E8F0"/>
                      </a:solidFill>
                      <a:prstDash val="solid"/>
                    </a:lnT>
                    <a:lnB w="12700" cmpd="sng">
                      <a:solidFill>
                        <a:srgbClr val="E2E8F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sz="1200">
                          <a:solidFill>
                            <a:srgbClr val="CBD5E1"/>
                          </a:solidFill>
                          <a:latin typeface="Arial"/>
                          <a:ea typeface="Arial"/>
                          <a:cs typeface="Arial"/>
                        </a:rPr>
                        <a:t>—</a:t>
                      </a:r>
                    </a:p>
                  </a:txBody>
                  <a:tcPr marL="91440" marR="91440" marT="54864" marB="54864" anchor="ctr">
                    <a:lnL w="12700" cmpd="sng">
                      <a:solidFill>
                        <a:srgbClr val="E2E8F0"/>
                      </a:solidFill>
                      <a:prstDash val="solid"/>
                    </a:lnL>
                    <a:lnR w="12700" cmpd="sng">
                      <a:solidFill>
                        <a:srgbClr val="E2E8F0"/>
                      </a:solidFill>
                      <a:prstDash val="solid"/>
                    </a:lnR>
                    <a:lnT w="12700" cmpd="sng">
                      <a:solidFill>
                        <a:srgbClr val="E2E8F0"/>
                      </a:solidFill>
                      <a:prstDash val="solid"/>
                    </a:lnT>
                    <a:lnB w="12700" cmpd="sng">
                      <a:solidFill>
                        <a:srgbClr val="E2E8F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sz="1200">
                          <a:solidFill>
                            <a:srgbClr val="CBD5E1"/>
                          </a:solidFill>
                          <a:latin typeface="Arial"/>
                          <a:ea typeface="Arial"/>
                          <a:cs typeface="Arial"/>
                        </a:rPr>
                        <a:t>—</a:t>
                      </a:r>
                    </a:p>
                  </a:txBody>
                  <a:tcPr marL="91440" marR="91440" marT="54864" marB="54864" anchor="ctr">
                    <a:lnL w="12700" cmpd="sng">
                      <a:solidFill>
                        <a:srgbClr val="E2E8F0"/>
                      </a:solidFill>
                      <a:prstDash val="solid"/>
                    </a:lnL>
                    <a:lnR w="12700" cmpd="sng">
                      <a:solidFill>
                        <a:srgbClr val="E2E8F0"/>
                      </a:solidFill>
                      <a:prstDash val="solid"/>
                    </a:lnR>
                    <a:lnT w="12700" cmpd="sng">
                      <a:solidFill>
                        <a:srgbClr val="E2E8F0"/>
                      </a:solidFill>
                      <a:prstDash val="solid"/>
                    </a:lnT>
                    <a:lnB w="12700" cmpd="sng">
                      <a:solidFill>
                        <a:srgbClr val="E2E8F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sz="1200">
                          <a:solidFill>
                            <a:srgbClr val="CBD5E1"/>
                          </a:solidFill>
                          <a:latin typeface="Arial"/>
                          <a:ea typeface="Arial"/>
                          <a:cs typeface="Arial"/>
                        </a:rPr>
                        <a:t>—</a:t>
                      </a:r>
                    </a:p>
                  </a:txBody>
                  <a:tcPr marL="91440" marR="91440" marT="54864" marB="54864" anchor="ctr">
                    <a:lnL w="12700" cmpd="sng">
                      <a:solidFill>
                        <a:srgbClr val="E2E8F0"/>
                      </a:solidFill>
                      <a:prstDash val="solid"/>
                    </a:lnL>
                    <a:lnR w="12700" cmpd="sng">
                      <a:solidFill>
                        <a:srgbClr val="E2E8F0"/>
                      </a:solidFill>
                      <a:prstDash val="solid"/>
                    </a:lnR>
                    <a:lnT w="12700" cmpd="sng">
                      <a:solidFill>
                        <a:srgbClr val="E2E8F0"/>
                      </a:solidFill>
                      <a:prstDash val="solid"/>
                    </a:lnT>
                    <a:lnB w="12700" cmpd="sng">
                      <a:solidFill>
                        <a:srgbClr val="E2E8F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sz="1200" b="1">
                          <a:solidFill>
                            <a:srgbClr val="1E293B"/>
                          </a:solidFill>
                          <a:latin typeface="Arial"/>
                          <a:ea typeface="Arial"/>
                          <a:cs typeface="Arial"/>
                        </a:rPr>
                        <a:t>系统设置</a:t>
                      </a:r>
                    </a:p>
                  </a:txBody>
                  <a:tcPr marL="91440" marR="91440" marT="54864" marB="54864" anchor="ctr">
                    <a:lnL w="12700" cmpd="sng">
                      <a:solidFill>
                        <a:srgbClr val="E2E8F0"/>
                      </a:solidFill>
                      <a:prstDash val="solid"/>
                    </a:lnL>
                    <a:lnR w="12700" cmpd="sng">
                      <a:solidFill>
                        <a:srgbClr val="E2E8F0"/>
                      </a:solidFill>
                      <a:prstDash val="solid"/>
                    </a:lnR>
                    <a:lnT w="12700" cmpd="sng">
                      <a:solidFill>
                        <a:srgbClr val="E2E8F0"/>
                      </a:solidFill>
                      <a:prstDash val="solid"/>
                    </a:lnT>
                    <a:lnB w="12700" cmpd="sng">
                      <a:solidFill>
                        <a:srgbClr val="E2E8F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sz="1200" b="1">
                          <a:solidFill>
                            <a:srgbClr val="0F172A"/>
                          </a:solidFill>
                          <a:latin typeface="Arial"/>
                          <a:ea typeface="Arial"/>
                          <a:cs typeface="Arial"/>
                        </a:rPr>
                        <a:t>✓</a:t>
                      </a:r>
                    </a:p>
                  </a:txBody>
                  <a:tcPr marL="91440" marR="91440" marT="54864" marB="54864" anchor="ctr">
                    <a:lnL w="12700" cmpd="sng">
                      <a:solidFill>
                        <a:srgbClr val="E2E8F0"/>
                      </a:solidFill>
                      <a:prstDash val="solid"/>
                    </a:lnL>
                    <a:lnR w="12700" cmpd="sng">
                      <a:solidFill>
                        <a:srgbClr val="E2E8F0"/>
                      </a:solidFill>
                      <a:prstDash val="solid"/>
                    </a:lnR>
                    <a:lnT w="12700" cmpd="sng">
                      <a:solidFill>
                        <a:srgbClr val="E2E8F0"/>
                      </a:solidFill>
                      <a:prstDash val="solid"/>
                    </a:lnT>
                    <a:lnB w="12700" cmpd="sng">
                      <a:solidFill>
                        <a:srgbClr val="E2E8F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sz="1200">
                          <a:solidFill>
                            <a:srgbClr val="CBD5E1"/>
                          </a:solidFill>
                          <a:latin typeface="Arial"/>
                          <a:ea typeface="Arial"/>
                          <a:cs typeface="Arial"/>
                        </a:rPr>
                        <a:t>—</a:t>
                      </a:r>
                    </a:p>
                  </a:txBody>
                  <a:tcPr marL="91440" marR="91440" marT="54864" marB="54864" anchor="ctr">
                    <a:lnL w="12700" cmpd="sng">
                      <a:solidFill>
                        <a:srgbClr val="E2E8F0"/>
                      </a:solidFill>
                      <a:prstDash val="solid"/>
                    </a:lnL>
                    <a:lnR w="12700" cmpd="sng">
                      <a:solidFill>
                        <a:srgbClr val="E2E8F0"/>
                      </a:solidFill>
                      <a:prstDash val="solid"/>
                    </a:lnR>
                    <a:lnT w="12700" cmpd="sng">
                      <a:solidFill>
                        <a:srgbClr val="E2E8F0"/>
                      </a:solidFill>
                      <a:prstDash val="solid"/>
                    </a:lnT>
                    <a:lnB w="12700" cmpd="sng">
                      <a:solidFill>
                        <a:srgbClr val="E2E8F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sz="1200">
                          <a:solidFill>
                            <a:srgbClr val="CBD5E1"/>
                          </a:solidFill>
                          <a:latin typeface="Arial"/>
                          <a:ea typeface="Arial"/>
                          <a:cs typeface="Arial"/>
                        </a:rPr>
                        <a:t>—</a:t>
                      </a:r>
                    </a:p>
                  </a:txBody>
                  <a:tcPr marL="91440" marR="91440" marT="54864" marB="54864" anchor="ctr">
                    <a:lnL w="12700" cmpd="sng">
                      <a:solidFill>
                        <a:srgbClr val="E2E8F0"/>
                      </a:solidFill>
                      <a:prstDash val="solid"/>
                    </a:lnL>
                    <a:lnR w="12700" cmpd="sng">
                      <a:solidFill>
                        <a:srgbClr val="E2E8F0"/>
                      </a:solidFill>
                      <a:prstDash val="solid"/>
                    </a:lnR>
                    <a:lnT w="12700" cmpd="sng">
                      <a:solidFill>
                        <a:srgbClr val="E2E8F0"/>
                      </a:solidFill>
                      <a:prstDash val="solid"/>
                    </a:lnT>
                    <a:lnB w="12700" cmpd="sng">
                      <a:solidFill>
                        <a:srgbClr val="E2E8F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sz="1200">
                          <a:solidFill>
                            <a:srgbClr val="CBD5E1"/>
                          </a:solidFill>
                          <a:latin typeface="Arial"/>
                          <a:ea typeface="Arial"/>
                          <a:cs typeface="Arial"/>
                        </a:rPr>
                        <a:t>—</a:t>
                      </a:r>
                    </a:p>
                  </a:txBody>
                  <a:tcPr marL="91440" marR="91440" marT="54864" marB="54864" anchor="ctr">
                    <a:lnL w="12700" cmpd="sng">
                      <a:solidFill>
                        <a:srgbClr val="E2E8F0"/>
                      </a:solidFill>
                      <a:prstDash val="solid"/>
                    </a:lnL>
                    <a:lnR w="12700" cmpd="sng">
                      <a:solidFill>
                        <a:srgbClr val="E2E8F0"/>
                      </a:solidFill>
                      <a:prstDash val="solid"/>
                    </a:lnR>
                    <a:lnT w="12700" cmpd="sng">
                      <a:solidFill>
                        <a:srgbClr val="E2E8F0"/>
                      </a:solidFill>
                      <a:prstDash val="solid"/>
                    </a:lnT>
                    <a:lnB w="12700" cmpd="sng">
                      <a:solidFill>
                        <a:srgbClr val="E2E8F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sz="1200">
                          <a:solidFill>
                            <a:srgbClr val="CBD5E1"/>
                          </a:solidFill>
                          <a:latin typeface="Arial"/>
                          <a:ea typeface="Arial"/>
                          <a:cs typeface="Arial"/>
                        </a:rPr>
                        <a:t>—</a:t>
                      </a:r>
                    </a:p>
                  </a:txBody>
                  <a:tcPr marL="91440" marR="91440" marT="54864" marB="54864" anchor="ctr">
                    <a:lnL w="12700" cmpd="sng">
                      <a:solidFill>
                        <a:srgbClr val="E2E8F0"/>
                      </a:solidFill>
                      <a:prstDash val="solid"/>
                    </a:lnL>
                    <a:lnR w="12700" cmpd="sng">
                      <a:solidFill>
                        <a:srgbClr val="E2E8F0"/>
                      </a:solidFill>
                      <a:prstDash val="solid"/>
                    </a:lnR>
                    <a:lnT w="12700" cmpd="sng">
                      <a:solidFill>
                        <a:srgbClr val="E2E8F0"/>
                      </a:solidFill>
                      <a:prstDash val="solid"/>
                    </a:lnT>
                    <a:lnB w="12700" cmpd="sng">
                      <a:solidFill>
                        <a:srgbClr val="E2E8F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Shape 4">
            <a:extLst xmlns:a="http://schemas.openxmlformats.org/drawingml/2006/main">
              <a:ext uri="{FF2B5EF4-FFF2-40B4-BE49-F238E27FC236}">
                <a16:creationId xmlns:a16="http://schemas.microsoft.com/office/drawing/2014/main" id="{ECB306F7-B3D1-42D4-BC60-DE4C7EB2AF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4983480"/>
            <a:ext cx="3520440" cy="1234440"/>
          </a:xfrm>
          <a:prstGeom xmlns:a="http://schemas.openxmlformats.org/drawingml/2006/main" prst="roundRect">
            <a:avLst>
              <a:gd name="adj" fmla="val 6667"/>
            </a:avLst>
          </a:prstGeom>
          <a:solidFill xmlns:a="http://schemas.openxmlformats.org/drawingml/2006/main">
            <a:srgbClr val="F7F5F2"/>
          </a:solidFill>
        </p:spPr>
      </p:sp>
      <p:sp>
        <p:nvSpPr>
          <p:cNvPr id="8" name="Shape 5">
            <a:extLst xmlns:a="http://schemas.openxmlformats.org/drawingml/2006/main">
              <a:ext uri="{FF2B5EF4-FFF2-40B4-BE49-F238E27FC236}">
                <a16:creationId xmlns:a16="http://schemas.microsoft.com/office/drawing/2014/main" id="{FC670B38-085D-4D1D-8B51-244EF42895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5202936"/>
            <a:ext cx="438912" cy="43891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5B335"/>
          </a:solidFill>
        </p:spPr>
      </p:sp>
      <p:pic>
        <p:nvPicPr>
          <p:cNvPr id="30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353113d94a54842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891357" y="5317053"/>
            <a:ext cx="210678" cy="210678"/>
          </a:xfrm>
          <a:prstGeom xmlns:a="http://schemas.openxmlformats.org/drawingml/2006/main" prst="rect">
            <a:avLst/>
          </a:prstGeom>
        </p:spPr>
      </p:pic>
      <p:sp>
        <p:nvSpPr>
          <p:cNvPr id="10" name="Text 6">
            <a:extLst xmlns:a="http://schemas.openxmlformats.org/drawingml/2006/main">
              <a:ext uri="{FF2B5EF4-FFF2-40B4-BE49-F238E27FC236}">
                <a16:creationId xmlns:a16="http://schemas.microsoft.com/office/drawing/2014/main" id="{0B18FE28-8663-43E7-98CC-683D5DB349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3312" y="5148072"/>
            <a:ext cx="2514600" cy="11887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spcAft>
                <a:spcPts val="300"/>
              </a:spcAft>
              <a:buNone/>
            </a:pPr>
            <a:r>
              <a:rPr sz="1200" b="1">
                <a:solidFill>
                  <a:srgbClr val="0E1729"/>
                </a:solidFill>
                <a:latin typeface="Arial"/>
                <a:ea typeface="Arial"/>
                <a:cs typeface="Arial"/>
              </a:rPr>
              <a:t>高危动作系统级上锁</a:t>
            </a:r>
          </a:p>
          <a:p xmlns:a="http://schemas.openxmlformats.org/drawingml/2006/main">
            <a:pPr marL="0" indent="0">
              <a:buNone/>
            </a:pPr>
            <a:r>
              <a:rPr sz="950">
                <a:solidFill>
                  <a:srgbClr val="0E1729"/>
                </a:solidFill>
                <a:latin typeface="Arial"/>
                <a:ea typeface="Arial"/>
                <a:cs typeface="Arial"/>
              </a:rPr>
              <a:t>退费与对外分享仅限店主/店长,</a:t>
            </a:r>
          </a:p>
          <a:p xmlns:a="http://schemas.openxmlformats.org/drawingml/2006/main">
            <a:pPr marL="0" indent="0">
              <a:buNone/>
            </a:pPr>
            <a:r>
              <a:rPr sz="950">
                <a:solidFill>
                  <a:srgbClr val="0E1729"/>
                </a:solidFill>
                <a:latin typeface="Arial"/>
                <a:ea typeface="Arial"/>
                <a:cs typeface="Arial"/>
              </a:rPr>
              <a:t>权限写死在后端,前端绕不过</a:t>
            </a:r>
          </a:p>
        </p:txBody>
      </p:sp>
      <p:sp>
        <p:nvSpPr>
          <p:cNvPr id="11" name="Shape 7">
            <a:extLst xmlns:a="http://schemas.openxmlformats.org/drawingml/2006/main">
              <a:ext uri="{FF2B5EF4-FFF2-40B4-BE49-F238E27FC236}">
                <a16:creationId xmlns:a16="http://schemas.microsoft.com/office/drawing/2014/main" id="{A34B89FB-07EC-4646-A27D-B819D10FC3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34256" y="4983480"/>
            <a:ext cx="3520440" cy="1234440"/>
          </a:xfrm>
          <a:prstGeom xmlns:a="http://schemas.openxmlformats.org/drawingml/2006/main" prst="roundRect">
            <a:avLst>
              <a:gd name="adj" fmla="val 6667"/>
            </a:avLst>
          </a:prstGeom>
          <a:solidFill xmlns:a="http://schemas.openxmlformats.org/drawingml/2006/main">
            <a:srgbClr val="F7F5F2"/>
          </a:solidFill>
        </p:spPr>
      </p:sp>
      <p:sp>
        <p:nvSpPr>
          <p:cNvPr id="12" name="Shape 8">
            <a:extLst xmlns:a="http://schemas.openxmlformats.org/drawingml/2006/main">
              <a:ext uri="{FF2B5EF4-FFF2-40B4-BE49-F238E27FC236}">
                <a16:creationId xmlns:a16="http://schemas.microsoft.com/office/drawing/2014/main" id="{2D387D0D-5F58-4014-BABF-811044C9E0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62856" y="5202936"/>
            <a:ext cx="438912" cy="43891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E1729"/>
          </a:solidFill>
        </p:spPr>
      </p:sp>
      <p:pic>
        <p:nvPicPr>
          <p:cNvPr id="34" name="Imag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e5cb2a6391045c9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4676973" y="5317053"/>
            <a:ext cx="210678" cy="210678"/>
          </a:xfrm>
          <a:prstGeom xmlns:a="http://schemas.openxmlformats.org/drawingml/2006/main" prst="rect">
            <a:avLst/>
          </a:prstGeom>
        </p:spPr>
      </p:pic>
      <p:sp>
        <p:nvSpPr>
          <p:cNvPr id="14" name="Text 9">
            <a:extLst xmlns:a="http://schemas.openxmlformats.org/drawingml/2006/main">
              <a:ext uri="{FF2B5EF4-FFF2-40B4-BE49-F238E27FC236}">
                <a16:creationId xmlns:a16="http://schemas.microsoft.com/office/drawing/2014/main" id="{266EC2E5-478B-45DB-AF1A-1439B2BB68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38928" y="5148072"/>
            <a:ext cx="2514600" cy="11887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spcAft>
                <a:spcPts val="300"/>
              </a:spcAft>
              <a:buNone/>
            </a:pPr>
            <a:r>
              <a:rPr sz="1200" b="1">
                <a:solidFill>
                  <a:srgbClr val="0E1729"/>
                </a:solidFill>
                <a:latin typeface="Arial"/>
                <a:ea typeface="Arial"/>
                <a:cs typeface="Arial"/>
              </a:rPr>
              <a:t>前台能收不能退</a:t>
            </a:r>
          </a:p>
          <a:p xmlns:a="http://schemas.openxmlformats.org/drawingml/2006/main">
            <a:pPr marL="0" indent="0">
              <a:buNone/>
            </a:pPr>
            <a:r>
              <a:rPr sz="950">
                <a:solidFill>
                  <a:srgbClr val="0E1729"/>
                </a:solidFill>
                <a:latin typeface="Arial"/>
                <a:ea typeface="Arial"/>
                <a:cs typeface="Arial"/>
              </a:rPr>
              <a:t>前台可录入收费与课时,</a:t>
            </a:r>
          </a:p>
          <a:p xmlns:a="http://schemas.openxmlformats.org/drawingml/2006/main">
            <a:pPr marL="0" indent="0">
              <a:buNone/>
            </a:pPr>
            <a:r>
              <a:rPr sz="950">
                <a:solidFill>
                  <a:srgbClr val="0E1729"/>
                </a:solidFill>
                <a:latin typeface="Arial"/>
                <a:ea typeface="Arial"/>
                <a:cs typeface="Arial"/>
              </a:rPr>
              <a:t>退费必须升级到管理层</a:t>
            </a:r>
          </a:p>
        </p:txBody>
      </p:sp>
      <p:sp>
        <p:nvSpPr>
          <p:cNvPr id="15" name="Shape 10">
            <a:extLst xmlns:a="http://schemas.openxmlformats.org/drawingml/2006/main">
              <a:ext uri="{FF2B5EF4-FFF2-40B4-BE49-F238E27FC236}">
                <a16:creationId xmlns:a16="http://schemas.microsoft.com/office/drawing/2014/main" id="{3B7D1879-A371-4E2D-8FFD-14560E043A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9872" y="4983480"/>
            <a:ext cx="3520440" cy="1234440"/>
          </a:xfrm>
          <a:prstGeom xmlns:a="http://schemas.openxmlformats.org/drawingml/2006/main" prst="roundRect">
            <a:avLst>
              <a:gd name="adj" fmla="val 6667"/>
            </a:avLst>
          </a:prstGeom>
          <a:solidFill xmlns:a="http://schemas.openxmlformats.org/drawingml/2006/main">
            <a:srgbClr val="F7F5F2"/>
          </a:solidFill>
        </p:spPr>
      </p:sp>
      <p:sp>
        <p:nvSpPr>
          <p:cNvPr id="16" name="Shape 11">
            <a:extLst xmlns:a="http://schemas.openxmlformats.org/drawingml/2006/main">
              <a:ext uri="{FF2B5EF4-FFF2-40B4-BE49-F238E27FC236}">
                <a16:creationId xmlns:a16="http://schemas.microsoft.com/office/drawing/2014/main" id="{1CAB51D1-F3A2-456F-B17E-3427C11C45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48472" y="5202936"/>
            <a:ext cx="438912" cy="43891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E1729"/>
          </a:solidFill>
        </p:spPr>
      </p:sp>
      <p:pic>
        <p:nvPicPr>
          <p:cNvPr id="38" name="Image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e01eaff6cb346f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8462589" y="5317053"/>
            <a:ext cx="210678" cy="210678"/>
          </a:xfrm>
          <a:prstGeom xmlns:a="http://schemas.openxmlformats.org/drawingml/2006/main" prst="rect">
            <a:avLst/>
          </a:prstGeom>
        </p:spPr>
      </p:pic>
      <p:sp>
        <p:nvSpPr>
          <p:cNvPr id="18" name="Text 12">
            <a:extLst xmlns:a="http://schemas.openxmlformats.org/drawingml/2006/main">
              <a:ext uri="{FF2B5EF4-FFF2-40B4-BE49-F238E27FC236}">
                <a16:creationId xmlns:a16="http://schemas.microsoft.com/office/drawing/2014/main" id="{8DF772E3-D46C-481C-9F65-3B2CDC3EC3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24544" y="5148072"/>
            <a:ext cx="2514600" cy="11887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spcAft>
                <a:spcPts val="300"/>
              </a:spcAft>
              <a:buNone/>
            </a:pPr>
            <a:r>
              <a:rPr sz="1200" b="1">
                <a:solidFill>
                  <a:srgbClr val="0E1729"/>
                </a:solidFill>
                <a:latin typeface="Arial"/>
                <a:ea typeface="Arial"/>
                <a:cs typeface="Arial"/>
              </a:rPr>
              <a:t>每一步有审计</a:t>
            </a:r>
          </a:p>
          <a:p xmlns:a="http://schemas.openxmlformats.org/drawingml/2006/main">
            <a:pPr marL="0" indent="0">
              <a:buNone/>
            </a:pPr>
            <a:r>
              <a:rPr sz="950">
                <a:solidFill>
                  <a:srgbClr val="0E1729"/>
                </a:solidFill>
                <a:latin typeface="Arial"/>
                <a:ea typeface="Arial"/>
                <a:cs typeface="Arial"/>
              </a:rPr>
              <a:t>谁在何时退了几节课,</a:t>
            </a:r>
          </a:p>
          <a:p xmlns:a="http://schemas.openxmlformats.org/drawingml/2006/main">
            <a:pPr marL="0" indent="0">
              <a:buNone/>
            </a:pPr>
            <a:r>
              <a:rPr sz="950">
                <a:solidFill>
                  <a:srgbClr val="0E1729"/>
                </a:solidFill>
                <a:latin typeface="Arial"/>
                <a:ea typeface="Arial"/>
                <a:cs typeface="Arial"/>
              </a:rPr>
              <a:t>审计日志一查便知</a:t>
            </a:r>
          </a:p>
        </p:txBody>
      </p:sp>
    </p:spTree>
    <p:extLst>
      <p:ext uri="{BB962C8B-B14F-4D97-AF65-F5344CB8AC3E}">
        <p14:creationId xmlns:p14="http://schemas.microsoft.com/office/powerpoint/2010/main" val="1172402673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53AB4FB0-2DEF-4715-B778-06118E1DC7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457200"/>
            <a:ext cx="182880" cy="182880"/>
          </a:xfrm>
          <a:prstGeom xmlns:a="http://schemas.openxmlformats.org/drawingml/2006/main" prst="star4">
            <a:avLst/>
          </a:prstGeom>
          <a:solidFill xmlns:a="http://schemas.openxmlformats.org/drawingml/2006/main">
            <a:srgbClr val="F5B335"/>
          </a:solidFill>
        </p:spPr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FCA5B4E5-E6A9-4A2E-B346-30FBE5FDB6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" y="384048"/>
            <a:ext cx="731520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b="1">
                <a:solidFill>
                  <a:srgbClr val="64748B"/>
                </a:solidFill>
                <a:latin typeface="Arial"/>
                <a:ea typeface="Arial"/>
                <a:cs typeface="Arial"/>
              </a:rPr>
              <a:t>品牌 · 个性化</a:t>
            </a:r>
          </a:p>
        </p:txBody>
      </p:sp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EBFE8831-9A85-423E-AF34-14EB7E940F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731520"/>
            <a:ext cx="11064240" cy="56692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700" b="1">
                <a:solidFill>
                  <a:srgbClr val="0E1729"/>
                </a:solidFill>
                <a:latin typeface="Arial"/>
                <a:ea typeface="Arial"/>
                <a:cs typeface="Arial"/>
              </a:rPr>
              <a:t>你的品牌在台前，平台在幕后</a:t>
            </a:r>
          </a:p>
        </p:txBody>
      </p:sp>
      <p:sp>
        <p:nvSpPr>
          <p:cNvPr id="5" name="Text 3">
            <a:extLst xmlns:a="http://schemas.openxmlformats.org/drawingml/2006/main">
              <a:ext uri="{FF2B5EF4-FFF2-40B4-BE49-F238E27FC236}">
                <a16:creationId xmlns:a16="http://schemas.microsoft.com/office/drawing/2014/main" id="{00C0782D-E2C5-409E-AD3E-C4FFE6AD32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473952"/>
            <a:ext cx="54864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1000">
                <a:solidFill>
                  <a:srgbClr val="94A3B8"/>
                </a:solidFill>
                <a:latin typeface="Arial"/>
                <a:ea typeface="Arial"/>
                <a:cs typeface="Arial"/>
              </a:rPr>
              <a:t>08</a:t>
            </a:r>
          </a:p>
        </p:txBody>
      </p:sp>
      <p:sp>
        <p:nvSpPr>
          <p:cNvPr id="6" name="Text 4">
            <a:extLst xmlns:a="http://schemas.openxmlformats.org/drawingml/2006/main">
              <a:ext uri="{FF2B5EF4-FFF2-40B4-BE49-F238E27FC236}">
                <a16:creationId xmlns:a16="http://schemas.microsoft.com/office/drawing/2014/main" id="{0539A620-CDFB-417F-A500-BC357D0985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737360"/>
            <a:ext cx="5852160" cy="46634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/>
            <a:r>
              <a:rPr sz="1350" b="1">
                <a:solidFill>
                  <a:srgbClr val="0E1729"/>
                </a:solidFill>
                <a:latin typeface="Arial"/>
                <a:ea typeface="Arial"/>
                <a:cs typeface="Arial"/>
              </a:rPr>
              <a:t>四角星 · 创造力的起点</a:t>
            </a:r>
          </a:p>
          <a:p xmlns:a="http://schemas.openxmlformats.org/drawingml/2006/main">
            <a:pPr marL="48"/>
            <a:r>
              <a:rPr sz="1150">
                <a:solidFill>
                  <a:srgbClr val="0E1729"/>
                </a:solidFill>
                <a:latin typeface="Arial"/>
                <a:ea typeface="Arial"/>
                <a:cs typeface="Arial"/>
              </a:rPr>
              <a:t>从一个清晰的创意原点出发，把想法带进真实的教学与作品。</a:t>
            </a:r>
          </a:p>
          <a:p xmlns:a="http://schemas.openxmlformats.org/drawingml/2006/main">
            <a:pPr marL="0"/>
            <a:r>
              <a:rPr sz="1350" b="1">
                <a:solidFill>
                  <a:srgbClr val="0E1729"/>
                </a:solidFill>
                <a:latin typeface="Arial"/>
                <a:ea typeface="Arial"/>
                <a:cs typeface="Arial"/>
              </a:rPr>
              <a:t>三根羽片 · 成长 / 上升 / 可能性</a:t>
            </a:r>
          </a:p>
          <a:p xmlns:a="http://schemas.openxmlformats.org/drawingml/2006/main">
            <a:pPr marL="48"/>
            <a:r>
              <a:rPr sz="1150">
                <a:solidFill>
                  <a:srgbClr val="0E1729"/>
                </a:solidFill>
                <a:latin typeface="Arial"/>
                <a:ea typeface="Arial"/>
                <a:cs typeface="Arial"/>
              </a:rPr>
              <a:t>三层向上展开，比例源自黄金分割序列 136 : 84 : 52。</a:t>
            </a:r>
          </a:p>
          <a:p xmlns:a="http://schemas.openxmlformats.org/drawingml/2006/main">
            <a:pPr marL="0"/>
            <a:r>
              <a:rPr sz="1350" b="1">
                <a:solidFill>
                  <a:srgbClr val="0E1729"/>
                </a:solidFill>
                <a:latin typeface="Arial"/>
                <a:ea typeface="Arial"/>
                <a:cs typeface="Arial"/>
              </a:rPr>
              <a:t>你的品牌在台前</a:t>
            </a:r>
          </a:p>
          <a:p xmlns:a="http://schemas.openxmlformats.org/drawingml/2006/main">
            <a:pPr marL="48"/>
            <a:r>
              <a:rPr sz="1150">
                <a:solidFill>
                  <a:srgbClr val="0E1729"/>
                </a:solidFill>
                <a:latin typeface="Arial"/>
                <a:ea typeface="Arial"/>
                <a:cs typeface="Arial"/>
              </a:rPr>
              <a:t>Studio Admin / CMS / Portal / Register 均显示租户 Logo 与名称。</a:t>
            </a:r>
          </a:p>
          <a:p xmlns:a="http://schemas.openxmlformats.org/drawingml/2006/main">
            <a:pPr marL="0"/>
            <a:r>
              <a:rPr sz="1350" b="1">
                <a:solidFill>
                  <a:srgbClr val="0E1729"/>
                </a:solidFill>
                <a:latin typeface="Arial"/>
                <a:ea typeface="Arial"/>
                <a:cs typeface="Arial"/>
              </a:rPr>
              <a:t>平台不抢左上角</a:t>
            </a:r>
          </a:p>
          <a:p xmlns:a="http://schemas.openxmlformats.org/drawingml/2006/main">
            <a:pPr marL="48"/>
            <a:r>
              <a:rPr sz="1150">
                <a:solidFill>
                  <a:srgbClr val="0E1729"/>
                </a:solidFill>
                <a:latin typeface="Arial"/>
                <a:ea typeface="Arial"/>
                <a:cs typeface="Arial"/>
              </a:rPr>
              <a:t>没有 Logo 时只显示工作室名称，不用平台或制作方标识代替。</a:t>
            </a:r>
          </a:p>
          <a:p xmlns:a="http://schemas.openxmlformats.org/drawingml/2006/main">
            <a:pPr marL="0"/>
            <a:r>
              <a:rPr sz="1350" b="1">
                <a:solidFill>
                  <a:srgbClr val="0E1729"/>
                </a:solidFill>
                <a:latin typeface="Arial"/>
                <a:ea typeface="Arial"/>
                <a:cs typeface="Arial"/>
              </a:rPr>
              <a:t>低调制作方署名</a:t>
            </a:r>
          </a:p>
          <a:p xmlns:a="http://schemas.openxmlformats.org/drawingml/2006/main">
            <a:pPr marL="48"/>
            <a:r>
              <a:rPr sz="1150">
                <a:solidFill>
                  <a:srgbClr val="0E1729"/>
                </a:solidFill>
                <a:latin typeface="Arial"/>
                <a:ea typeface="Arial"/>
                <a:cs typeface="Arial"/>
              </a:rPr>
              <a:t>页脚仅保留 Powered by Paradise Production，不干扰客户品牌。</a:t>
            </a:r>
          </a:p>
        </p:txBody>
      </p:sp>
      <p:sp>
        <p:nvSpPr>
          <p:cNvPr id="7" name="Shape 5">
            <a:extLst xmlns:a="http://schemas.openxmlformats.org/drawingml/2006/main">
              <a:ext uri="{FF2B5EF4-FFF2-40B4-BE49-F238E27FC236}">
                <a16:creationId xmlns:a16="http://schemas.microsoft.com/office/drawing/2014/main" id="{1ECAAB6C-4EB5-41CF-A108-C3390C4263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2280" y="1783080"/>
            <a:ext cx="2395728" cy="969264"/>
          </a:xfrm>
          <a:prstGeom xmlns:a="http://schemas.openxmlformats.org/drawingml/2006/main" prst="roundRect">
            <a:avLst>
              <a:gd name="adj" fmla="val 7547"/>
            </a:avLst>
          </a:prstGeom>
          <a:solidFill xmlns:a="http://schemas.openxmlformats.org/drawingml/2006/main">
            <a:srgbClr val="F3ECEA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8" name="Shape 6">
            <a:extLst xmlns:a="http://schemas.openxmlformats.org/drawingml/2006/main">
              <a:ext uri="{FF2B5EF4-FFF2-40B4-BE49-F238E27FC236}">
                <a16:creationId xmlns:a16="http://schemas.microsoft.com/office/drawing/2014/main" id="{99E69E9B-2960-4FA8-BB09-01C2A8FC59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95160" y="2066544"/>
            <a:ext cx="402336" cy="40233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E9985"/>
          </a:solidFill>
        </p:spPr>
      </p:sp>
      <p:sp>
        <p:nvSpPr>
          <p:cNvPr id="9" name="Text 7">
            <a:extLst xmlns:a="http://schemas.openxmlformats.org/drawingml/2006/main">
              <a:ext uri="{FF2B5EF4-FFF2-40B4-BE49-F238E27FC236}">
                <a16:creationId xmlns:a16="http://schemas.microsoft.com/office/drawing/2014/main" id="{A5E0E216-D1DC-4F8E-A379-0F95ECF24E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5512" y="1929384"/>
            <a:ext cx="1572768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50" b="1">
                <a:solidFill>
                  <a:srgbClr val="16233D"/>
                </a:solidFill>
                <a:latin typeface="Arial"/>
                <a:ea typeface="Arial"/>
                <a:cs typeface="Arial"/>
              </a:rPr>
              <a:t>陶土工坊</a:t>
            </a:r>
          </a:p>
        </p:txBody>
      </p:sp>
      <p:sp>
        <p:nvSpPr>
          <p:cNvPr id="10" name="Text 8">
            <a:extLst xmlns:a="http://schemas.openxmlformats.org/drawingml/2006/main">
              <a:ext uri="{FF2B5EF4-FFF2-40B4-BE49-F238E27FC236}">
                <a16:creationId xmlns:a16="http://schemas.microsoft.com/office/drawing/2014/main" id="{CBF52F22-067D-4ACC-A3DF-009C0C6C74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5512" y="2286000"/>
            <a:ext cx="1572768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>
                <a:solidFill>
                  <a:srgbClr val="64748B"/>
                </a:solidFill>
                <a:latin typeface="Arial"/>
                <a:ea typeface="Arial"/>
                <a:cs typeface="Arial"/>
              </a:rPr>
              <a:t>明暗双模式</a:t>
            </a:r>
          </a:p>
        </p:txBody>
      </p:sp>
      <p:sp>
        <p:nvSpPr>
          <p:cNvPr id="11" name="Shape 9">
            <a:extLst xmlns:a="http://schemas.openxmlformats.org/drawingml/2006/main">
              <a:ext uri="{FF2B5EF4-FFF2-40B4-BE49-F238E27FC236}">
                <a16:creationId xmlns:a16="http://schemas.microsoft.com/office/drawing/2014/main" id="{4F47AADE-0205-440D-90C4-A7B9E8B8B2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72600" y="1783080"/>
            <a:ext cx="2395728" cy="969264"/>
          </a:xfrm>
          <a:prstGeom xmlns:a="http://schemas.openxmlformats.org/drawingml/2006/main" prst="roundRect">
            <a:avLst>
              <a:gd name="adj" fmla="val 7547"/>
            </a:avLst>
          </a:prstGeom>
          <a:solidFill xmlns:a="http://schemas.openxmlformats.org/drawingml/2006/main">
            <a:srgbClr val="F3EFEA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12" name="Shape 10">
            <a:extLst xmlns:a="http://schemas.openxmlformats.org/drawingml/2006/main">
              <a:ext uri="{FF2B5EF4-FFF2-40B4-BE49-F238E27FC236}">
                <a16:creationId xmlns:a16="http://schemas.microsoft.com/office/drawing/2014/main" id="{95BC3106-6BE5-44F3-99FB-14DBC7CE2E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55480" y="2066544"/>
            <a:ext cx="402336" cy="40233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49F74"/>
          </a:solidFill>
        </p:spPr>
      </p:sp>
      <p:sp>
        <p:nvSpPr>
          <p:cNvPr id="13" name="Text 11">
            <a:extLst xmlns:a="http://schemas.openxmlformats.org/drawingml/2006/main">
              <a:ext uri="{FF2B5EF4-FFF2-40B4-BE49-F238E27FC236}">
                <a16:creationId xmlns:a16="http://schemas.microsoft.com/office/drawing/2014/main" id="{A7E92840-6BE4-43C0-AF35-3DE9D1FDBF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85832" y="1929384"/>
            <a:ext cx="1572768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50" b="1">
                <a:solidFill>
                  <a:srgbClr val="16233D"/>
                </a:solidFill>
                <a:latin typeface="Arial"/>
                <a:ea typeface="Arial"/>
                <a:cs typeface="Arial"/>
              </a:rPr>
              <a:t>复古印刷</a:t>
            </a:r>
          </a:p>
        </p:txBody>
      </p:sp>
      <p:sp>
        <p:nvSpPr>
          <p:cNvPr id="14" name="Text 12">
            <a:extLst xmlns:a="http://schemas.openxmlformats.org/drawingml/2006/main">
              <a:ext uri="{FF2B5EF4-FFF2-40B4-BE49-F238E27FC236}">
                <a16:creationId xmlns:a16="http://schemas.microsoft.com/office/drawing/2014/main" id="{D62A5F3E-B4A3-4BA4-A405-744A90B329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85832" y="2286000"/>
            <a:ext cx="1572768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>
                <a:solidFill>
                  <a:srgbClr val="64748B"/>
                </a:solidFill>
                <a:latin typeface="Arial"/>
                <a:ea typeface="Arial"/>
                <a:cs typeface="Arial"/>
              </a:rPr>
              <a:t>明暗双模式</a:t>
            </a:r>
          </a:p>
        </p:txBody>
      </p:sp>
      <p:sp>
        <p:nvSpPr>
          <p:cNvPr id="15" name="Shape 13">
            <a:extLst xmlns:a="http://schemas.openxmlformats.org/drawingml/2006/main">
              <a:ext uri="{FF2B5EF4-FFF2-40B4-BE49-F238E27FC236}">
                <a16:creationId xmlns:a16="http://schemas.microsoft.com/office/drawing/2014/main" id="{097DE3F4-D3C0-4F9D-ACAC-F9B075E712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2280" y="2898648"/>
            <a:ext cx="2395728" cy="969264"/>
          </a:xfrm>
          <a:prstGeom xmlns:a="http://schemas.openxmlformats.org/drawingml/2006/main" prst="roundRect">
            <a:avLst>
              <a:gd name="adj" fmla="val 7547"/>
            </a:avLst>
          </a:prstGeom>
          <a:solidFill xmlns:a="http://schemas.openxmlformats.org/drawingml/2006/main">
            <a:srgbClr val="EFEEEE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16" name="Shape 14">
            <a:extLst xmlns:a="http://schemas.openxmlformats.org/drawingml/2006/main">
              <a:ext uri="{FF2B5EF4-FFF2-40B4-BE49-F238E27FC236}">
                <a16:creationId xmlns:a16="http://schemas.microsoft.com/office/drawing/2014/main" id="{F789F7B4-1384-43B9-A94D-372E68D884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95160" y="3182112"/>
            <a:ext cx="402336" cy="40233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A8580"/>
          </a:solidFill>
        </p:spPr>
      </p:sp>
      <p:sp>
        <p:nvSpPr>
          <p:cNvPr id="17" name="Text 15">
            <a:extLst xmlns:a="http://schemas.openxmlformats.org/drawingml/2006/main">
              <a:ext uri="{FF2B5EF4-FFF2-40B4-BE49-F238E27FC236}">
                <a16:creationId xmlns:a16="http://schemas.microsoft.com/office/drawing/2014/main" id="{AD944A40-F927-42F3-9942-84EABC7EA0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5512" y="3044952"/>
            <a:ext cx="1572768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50" b="1">
                <a:solidFill>
                  <a:srgbClr val="16233D"/>
                </a:solidFill>
                <a:latin typeface="Arial"/>
                <a:ea typeface="Arial"/>
                <a:cs typeface="Arial"/>
              </a:rPr>
              <a:t>黑白纸墨</a:t>
            </a:r>
          </a:p>
        </p:txBody>
      </p:sp>
      <p:sp>
        <p:nvSpPr>
          <p:cNvPr id="18" name="Text 16">
            <a:extLst xmlns:a="http://schemas.openxmlformats.org/drawingml/2006/main">
              <a:ext uri="{FF2B5EF4-FFF2-40B4-BE49-F238E27FC236}">
                <a16:creationId xmlns:a16="http://schemas.microsoft.com/office/drawing/2014/main" id="{1AB56AA8-048C-4308-B963-C39250C765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5512" y="3401568"/>
            <a:ext cx="1572768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>
                <a:solidFill>
                  <a:srgbClr val="64748B"/>
                </a:solidFill>
                <a:latin typeface="Arial"/>
                <a:ea typeface="Arial"/>
                <a:cs typeface="Arial"/>
              </a:rPr>
              <a:t>明暗双模式</a:t>
            </a:r>
          </a:p>
        </p:txBody>
      </p:sp>
      <p:sp>
        <p:nvSpPr>
          <p:cNvPr id="19" name="Shape 17">
            <a:extLst xmlns:a="http://schemas.openxmlformats.org/drawingml/2006/main">
              <a:ext uri="{FF2B5EF4-FFF2-40B4-BE49-F238E27FC236}">
                <a16:creationId xmlns:a16="http://schemas.microsoft.com/office/drawing/2014/main" id="{D040255F-5581-4C65-8AFE-7237A8E854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72600" y="2898648"/>
            <a:ext cx="2395728" cy="969264"/>
          </a:xfrm>
          <a:prstGeom xmlns:a="http://schemas.openxmlformats.org/drawingml/2006/main" prst="roundRect">
            <a:avLst>
              <a:gd name="adj" fmla="val 7547"/>
            </a:avLst>
          </a:prstGeom>
          <a:solidFill xmlns:a="http://schemas.openxmlformats.org/drawingml/2006/main">
            <a:srgbClr val="E9EFF3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20" name="Shape 18">
            <a:extLst xmlns:a="http://schemas.openxmlformats.org/drawingml/2006/main">
              <a:ext uri="{FF2B5EF4-FFF2-40B4-BE49-F238E27FC236}">
                <a16:creationId xmlns:a16="http://schemas.microsoft.com/office/drawing/2014/main" id="{14A8E3D4-9EFD-4A3F-9C12-29863D34E4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55480" y="3182112"/>
            <a:ext cx="402336" cy="40233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95BF"/>
          </a:solidFill>
        </p:spPr>
      </p:sp>
      <p:sp>
        <p:nvSpPr>
          <p:cNvPr id="21" name="Text 19">
            <a:extLst xmlns:a="http://schemas.openxmlformats.org/drawingml/2006/main">
              <a:ext uri="{FF2B5EF4-FFF2-40B4-BE49-F238E27FC236}">
                <a16:creationId xmlns:a16="http://schemas.microsoft.com/office/drawing/2014/main" id="{55FDFA74-56FB-4D09-8EA0-B1D36E3898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85832" y="3044952"/>
            <a:ext cx="1572768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50" b="1">
                <a:solidFill>
                  <a:srgbClr val="16233D"/>
                </a:solidFill>
                <a:latin typeface="Arial"/>
                <a:ea typeface="Arial"/>
                <a:cs typeface="Arial"/>
              </a:rPr>
              <a:t>静谧海港</a:t>
            </a:r>
          </a:p>
        </p:txBody>
      </p:sp>
      <p:sp>
        <p:nvSpPr>
          <p:cNvPr id="22" name="Text 20">
            <a:extLst xmlns:a="http://schemas.openxmlformats.org/drawingml/2006/main">
              <a:ext uri="{FF2B5EF4-FFF2-40B4-BE49-F238E27FC236}">
                <a16:creationId xmlns:a16="http://schemas.microsoft.com/office/drawing/2014/main" id="{D890AEAF-6196-4693-8E5F-BE3A88E05B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85832" y="3401568"/>
            <a:ext cx="1572768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>
                <a:solidFill>
                  <a:srgbClr val="64748B"/>
                </a:solidFill>
                <a:latin typeface="Arial"/>
                <a:ea typeface="Arial"/>
                <a:cs typeface="Arial"/>
              </a:rPr>
              <a:t>明暗双模式</a:t>
            </a:r>
          </a:p>
        </p:txBody>
      </p:sp>
      <p:sp>
        <p:nvSpPr>
          <p:cNvPr id="23" name="Shape 21">
            <a:extLst xmlns:a="http://schemas.openxmlformats.org/drawingml/2006/main">
              <a:ext uri="{FF2B5EF4-FFF2-40B4-BE49-F238E27FC236}">
                <a16:creationId xmlns:a16="http://schemas.microsoft.com/office/drawing/2014/main" id="{59306BFF-CC5C-4D09-BA78-56BCE9980D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2280" y="4014216"/>
            <a:ext cx="2395728" cy="969264"/>
          </a:xfrm>
          <a:prstGeom xmlns:a="http://schemas.openxmlformats.org/drawingml/2006/main" prst="roundRect">
            <a:avLst>
              <a:gd name="adj" fmla="val 7547"/>
            </a:avLst>
          </a:prstGeom>
          <a:solidFill xmlns:a="http://schemas.openxmlformats.org/drawingml/2006/main">
            <a:srgbClr val="EBF2EE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24" name="Shape 22">
            <a:extLst xmlns:a="http://schemas.openxmlformats.org/drawingml/2006/main">
              <a:ext uri="{FF2B5EF4-FFF2-40B4-BE49-F238E27FC236}">
                <a16:creationId xmlns:a16="http://schemas.microsoft.com/office/drawing/2014/main" id="{9D705F1A-707E-4F17-A49A-D97D48A7FE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95160" y="4297680"/>
            <a:ext cx="402336" cy="40233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F9E77"/>
          </a:solidFill>
        </p:spPr>
      </p:sp>
      <p:sp>
        <p:nvSpPr>
          <p:cNvPr id="25" name="Text 23">
            <a:extLst xmlns:a="http://schemas.openxmlformats.org/drawingml/2006/main">
              <a:ext uri="{FF2B5EF4-FFF2-40B4-BE49-F238E27FC236}">
                <a16:creationId xmlns:a16="http://schemas.microsoft.com/office/drawing/2014/main" id="{0914AB2B-5BC4-4F16-829B-34974023C6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5512" y="4160520"/>
            <a:ext cx="1572768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50" b="1">
                <a:solidFill>
                  <a:srgbClr val="16233D"/>
                </a:solidFill>
                <a:latin typeface="Arial"/>
                <a:ea typeface="Arial"/>
                <a:cs typeface="Arial"/>
              </a:rPr>
              <a:t>雪松林</a:t>
            </a:r>
          </a:p>
        </p:txBody>
      </p:sp>
      <p:sp>
        <p:nvSpPr>
          <p:cNvPr id="26" name="Text 24">
            <a:extLst xmlns:a="http://schemas.openxmlformats.org/drawingml/2006/main">
              <a:ext uri="{FF2B5EF4-FFF2-40B4-BE49-F238E27FC236}">
                <a16:creationId xmlns:a16="http://schemas.microsoft.com/office/drawing/2014/main" id="{69FB6B03-550F-4AC1-8629-5AAE18F5A8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5512" y="4517136"/>
            <a:ext cx="1572768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>
                <a:solidFill>
                  <a:srgbClr val="64748B"/>
                </a:solidFill>
                <a:latin typeface="Arial"/>
                <a:ea typeface="Arial"/>
                <a:cs typeface="Arial"/>
              </a:rPr>
              <a:t>明暗双模式</a:t>
            </a:r>
          </a:p>
        </p:txBody>
      </p:sp>
      <p:sp>
        <p:nvSpPr>
          <p:cNvPr id="27" name="Shape 25">
            <a:extLst xmlns:a="http://schemas.openxmlformats.org/drawingml/2006/main">
              <a:ext uri="{FF2B5EF4-FFF2-40B4-BE49-F238E27FC236}">
                <a16:creationId xmlns:a16="http://schemas.microsoft.com/office/drawing/2014/main" id="{98018C9B-2550-435B-9604-C210699096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72600" y="4014216"/>
            <a:ext cx="2395728" cy="969264"/>
          </a:xfrm>
          <a:prstGeom xmlns:a="http://schemas.openxmlformats.org/drawingml/2006/main" prst="roundRect">
            <a:avLst>
              <a:gd name="adj" fmla="val 7547"/>
            </a:avLst>
          </a:prstGeom>
          <a:solidFill xmlns:a="http://schemas.openxmlformats.org/drawingml/2006/main">
            <a:srgbClr val="F0EBF2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28" name="Shape 26">
            <a:extLst xmlns:a="http://schemas.openxmlformats.org/drawingml/2006/main">
              <a:ext uri="{FF2B5EF4-FFF2-40B4-BE49-F238E27FC236}">
                <a16:creationId xmlns:a16="http://schemas.microsoft.com/office/drawing/2014/main" id="{9A1046F4-C5FD-481C-8C86-1250E1ADCE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55480" y="4297680"/>
            <a:ext cx="402336" cy="40233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97DB8"/>
          </a:solidFill>
        </p:spPr>
      </p:sp>
      <p:sp>
        <p:nvSpPr>
          <p:cNvPr id="29" name="Text 27">
            <a:extLst xmlns:a="http://schemas.openxmlformats.org/drawingml/2006/main">
              <a:ext uri="{FF2B5EF4-FFF2-40B4-BE49-F238E27FC236}">
                <a16:creationId xmlns:a16="http://schemas.microsoft.com/office/drawing/2014/main" id="{C72782CB-73FD-45EB-8445-2B08EBFCF8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85832" y="4160520"/>
            <a:ext cx="1572768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50" b="1">
                <a:solidFill>
                  <a:srgbClr val="16233D"/>
                </a:solidFill>
                <a:latin typeface="Arial"/>
                <a:ea typeface="Arial"/>
                <a:cs typeface="Arial"/>
              </a:rPr>
              <a:t>独奏紫</a:t>
            </a:r>
          </a:p>
        </p:txBody>
      </p:sp>
      <p:sp>
        <p:nvSpPr>
          <p:cNvPr id="30" name="Text 28">
            <a:extLst xmlns:a="http://schemas.openxmlformats.org/drawingml/2006/main">
              <a:ext uri="{FF2B5EF4-FFF2-40B4-BE49-F238E27FC236}">
                <a16:creationId xmlns:a16="http://schemas.microsoft.com/office/drawing/2014/main" id="{432AF56E-A5A2-403A-B4BB-DEDA9DB871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85832" y="4517136"/>
            <a:ext cx="1572768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>
                <a:solidFill>
                  <a:srgbClr val="64748B"/>
                </a:solidFill>
                <a:latin typeface="Arial"/>
                <a:ea typeface="Arial"/>
                <a:cs typeface="Arial"/>
              </a:rPr>
              <a:t>明暗双模式</a:t>
            </a:r>
          </a:p>
        </p:txBody>
      </p:sp>
      <p:sp>
        <p:nvSpPr>
          <p:cNvPr id="31" name="Shape 29">
            <a:extLst xmlns:a="http://schemas.openxmlformats.org/drawingml/2006/main">
              <a:ext uri="{FF2B5EF4-FFF2-40B4-BE49-F238E27FC236}">
                <a16:creationId xmlns:a16="http://schemas.microsoft.com/office/drawing/2014/main" id="{8F4E604A-B9F7-4F9F-A236-EEB5D216E1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2280" y="5129784"/>
            <a:ext cx="2395728" cy="969264"/>
          </a:xfrm>
          <a:prstGeom xmlns:a="http://schemas.openxmlformats.org/drawingml/2006/main" prst="roundRect">
            <a:avLst>
              <a:gd name="adj" fmla="val 7547"/>
            </a:avLst>
          </a:prstGeom>
          <a:solidFill xmlns:a="http://schemas.openxmlformats.org/drawingml/2006/main">
            <a:srgbClr val="F3EAED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32" name="Shape 30">
            <a:extLst xmlns:a="http://schemas.openxmlformats.org/drawingml/2006/main">
              <a:ext uri="{FF2B5EF4-FFF2-40B4-BE49-F238E27FC236}">
                <a16:creationId xmlns:a16="http://schemas.microsoft.com/office/drawing/2014/main" id="{939D3DEE-7E3C-45C8-9616-9F05F89B5E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95160" y="5413248"/>
            <a:ext cx="402336" cy="40233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0788D"/>
          </a:solidFill>
        </p:spPr>
      </p:sp>
      <p:sp>
        <p:nvSpPr>
          <p:cNvPr id="33" name="Text 31">
            <a:extLst xmlns:a="http://schemas.openxmlformats.org/drawingml/2006/main">
              <a:ext uri="{FF2B5EF4-FFF2-40B4-BE49-F238E27FC236}">
                <a16:creationId xmlns:a16="http://schemas.microsoft.com/office/drawing/2014/main" id="{68B2A5A9-D7C0-46BD-942C-165DC8964C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5512" y="5276088"/>
            <a:ext cx="1572768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50" b="1">
                <a:solidFill>
                  <a:srgbClr val="16233D"/>
                </a:solidFill>
                <a:latin typeface="Arial"/>
                <a:ea typeface="Arial"/>
                <a:cs typeface="Arial"/>
              </a:rPr>
              <a:t>排练玫瑰</a:t>
            </a:r>
          </a:p>
        </p:txBody>
      </p:sp>
      <p:sp>
        <p:nvSpPr>
          <p:cNvPr id="34" name="Text 32">
            <a:extLst xmlns:a="http://schemas.openxmlformats.org/drawingml/2006/main">
              <a:ext uri="{FF2B5EF4-FFF2-40B4-BE49-F238E27FC236}">
                <a16:creationId xmlns:a16="http://schemas.microsoft.com/office/drawing/2014/main" id="{24BC7B16-FB14-4669-BCFB-37810B52C7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5512" y="5632704"/>
            <a:ext cx="1572768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>
                <a:solidFill>
                  <a:srgbClr val="64748B"/>
                </a:solidFill>
                <a:latin typeface="Arial"/>
                <a:ea typeface="Arial"/>
                <a:cs typeface="Arial"/>
              </a:rPr>
              <a:t>明暗双模式</a:t>
            </a:r>
          </a:p>
        </p:txBody>
      </p:sp>
      <p:sp>
        <p:nvSpPr>
          <p:cNvPr id="35" name="Shape 33">
            <a:extLst xmlns:a="http://schemas.openxmlformats.org/drawingml/2006/main">
              <a:ext uri="{FF2B5EF4-FFF2-40B4-BE49-F238E27FC236}">
                <a16:creationId xmlns:a16="http://schemas.microsoft.com/office/drawing/2014/main" id="{321AA55D-3D6E-4CFD-9195-EFBBB58F94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72600" y="5129784"/>
            <a:ext cx="2395728" cy="969264"/>
          </a:xfrm>
          <a:prstGeom xmlns:a="http://schemas.openxmlformats.org/drawingml/2006/main" prst="roundRect">
            <a:avLst>
              <a:gd name="adj" fmla="val 7547"/>
            </a:avLst>
          </a:prstGeom>
          <a:solidFill xmlns:a="http://schemas.openxmlformats.org/drawingml/2006/main">
            <a:srgbClr val="12180B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36" name="Shape 34">
            <a:extLst xmlns:a="http://schemas.openxmlformats.org/drawingml/2006/main">
              <a:ext uri="{FF2B5EF4-FFF2-40B4-BE49-F238E27FC236}">
                <a16:creationId xmlns:a16="http://schemas.microsoft.com/office/drawing/2014/main" id="{6686E6C9-CBC8-4A17-BDD5-2D9F2F265E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55480" y="5413248"/>
            <a:ext cx="402336" cy="40233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5B926"/>
          </a:solidFill>
        </p:spPr>
      </p:sp>
      <p:sp>
        <p:nvSpPr>
          <p:cNvPr id="37" name="Text 35">
            <a:extLst xmlns:a="http://schemas.openxmlformats.org/drawingml/2006/main">
              <a:ext uri="{FF2B5EF4-FFF2-40B4-BE49-F238E27FC236}">
                <a16:creationId xmlns:a16="http://schemas.microsoft.com/office/drawing/2014/main" id="{A82DCD95-7347-4E59-8AC4-FA8AA39DCD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85832" y="5276088"/>
            <a:ext cx="1572768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街机青柠</a:t>
            </a:r>
          </a:p>
        </p:txBody>
      </p:sp>
      <p:sp>
        <p:nvSpPr>
          <p:cNvPr id="38" name="Text 36">
            <a:extLst xmlns:a="http://schemas.openxmlformats.org/drawingml/2006/main">
              <a:ext uri="{FF2B5EF4-FFF2-40B4-BE49-F238E27FC236}">
                <a16:creationId xmlns:a16="http://schemas.microsoft.com/office/drawing/2014/main" id="{10973F19-A18C-4A2C-916E-EC4C10ABEB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85832" y="5632704"/>
            <a:ext cx="1572768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>
                <a:solidFill>
                  <a:srgbClr val="A0A996"/>
                </a:solidFill>
                <a:latin typeface="Arial"/>
                <a:ea typeface="Arial"/>
                <a:cs typeface="Arial"/>
              </a:rPr>
              <a:t>深色模式</a:t>
            </a:r>
          </a:p>
        </p:txBody>
      </p:sp>
      <p:sp>
        <p:nvSpPr>
          <p:cNvPr id="39" name="Text 37">
            <a:extLst xmlns:a="http://schemas.openxmlformats.org/drawingml/2006/main">
              <a:ext uri="{FF2B5EF4-FFF2-40B4-BE49-F238E27FC236}">
                <a16:creationId xmlns:a16="http://schemas.microsoft.com/office/drawing/2014/main" id="{05E654F5-B82F-4AAD-B070-D331577C84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2280" y="6263640"/>
            <a:ext cx="493776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50">
                <a:solidFill>
                  <a:srgbClr val="94A3B8"/>
                </a:solidFill>
                <a:latin typeface="Arial"/>
                <a:ea typeface="Arial"/>
                <a:cs typeface="Arial"/>
              </a:rPr>
              <a:t>↑ 内置主题实拍色 · 全部通过 WCAG AA 对比度校验</a:t>
            </a:r>
          </a:p>
        </p:txBody>
      </p:sp>
    </p:spTree>
    <p:extLst>
      <p:ext uri="{BB962C8B-B14F-4D97-AF65-F5344CB8AC3E}">
        <p14:creationId xmlns:p14="http://schemas.microsoft.com/office/powerpoint/2010/main" val="192895387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41023498-1F50-41F7-AD6A-2546FD22D7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457200"/>
            <a:ext cx="182880" cy="182880"/>
          </a:xfrm>
          <a:prstGeom xmlns:a="http://schemas.openxmlformats.org/drawingml/2006/main" prst="star4">
            <a:avLst/>
          </a:prstGeom>
          <a:solidFill xmlns:a="http://schemas.openxmlformats.org/drawingml/2006/main">
            <a:srgbClr val="F5B335"/>
          </a:solidFill>
        </p:spPr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48156394-08AB-45FF-980C-3EDD2E3303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" y="384048"/>
            <a:ext cx="731520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b="1">
                <a:solidFill>
                  <a:srgbClr val="64748B"/>
                </a:solidFill>
                <a:latin typeface="Arial"/>
                <a:ea typeface="Arial"/>
                <a:cs typeface="Arial"/>
              </a:rPr>
              <a:t>家庭端 · 自助查询</a:t>
            </a:r>
          </a:p>
        </p:txBody>
      </p:sp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84643B8C-54E8-410A-8548-0FEBB25FE4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731520"/>
            <a:ext cx="11064240" cy="56692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700" b="1">
                <a:solidFill>
                  <a:srgbClr val="0E1729"/>
                </a:solidFill>
                <a:latin typeface="Arial"/>
                <a:ea typeface="Arial"/>
                <a:cs typeface="Arial"/>
              </a:rPr>
              <a:t>家长看到的不是数字,是孩子的成长轨迹</a:t>
            </a:r>
          </a:p>
        </p:txBody>
      </p:sp>
      <p:sp>
        <p:nvSpPr>
          <p:cNvPr id="5" name="Text 3">
            <a:extLst xmlns:a="http://schemas.openxmlformats.org/drawingml/2006/main">
              <a:ext uri="{FF2B5EF4-FFF2-40B4-BE49-F238E27FC236}">
                <a16:creationId xmlns:a16="http://schemas.microsoft.com/office/drawing/2014/main" id="{7C7F992B-F9F2-461F-9411-2455D06EED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473952"/>
            <a:ext cx="54864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1000">
                <a:solidFill>
                  <a:srgbClr val="94A3B8"/>
                </a:solidFill>
                <a:latin typeface="Arial"/>
                <a:ea typeface="Arial"/>
                <a:cs typeface="Arial"/>
              </a:rPr>
              <a:t>09</a:t>
            </a:r>
          </a:p>
        </p:txBody>
      </p:sp>
      <p:sp>
        <p:nvSpPr>
          <p:cNvPr id="6" name="Text 4">
            <a:extLst xmlns:a="http://schemas.openxmlformats.org/drawingml/2006/main">
              <a:ext uri="{FF2B5EF4-FFF2-40B4-BE49-F238E27FC236}">
                <a16:creationId xmlns:a16="http://schemas.microsoft.com/office/drawing/2014/main" id="{22AD6ABD-E84F-43CC-B10C-F96D352C1C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737360"/>
            <a:ext cx="6217920" cy="46634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152400" indent="-152400">
              <a:spcAft>
                <a:spcPts val="200"/>
              </a:spcAft>
              <a:buSzPct val="100000"/>
              <a:buChar char="•"/>
            </a:pPr>
            <a:r>
              <a:rPr sz="1350" b="1">
                <a:solidFill>
                  <a:srgbClr val="0E1729"/>
                </a:solidFill>
                <a:latin typeface="Arial"/>
                <a:ea typeface="Arial"/>
                <a:cs typeface="Arial"/>
              </a:rPr>
              <a:t>一个访问码,查清所有事</a:t>
            </a:r>
          </a:p>
          <a:p xmlns:a="http://schemas.openxmlformats.org/drawingml/2006/main">
            <a:pPr marL="0" lvl="1" indent="0">
              <a:spcAft>
                <a:spcPts val="1200"/>
              </a:spcAft>
              <a:buNone/>
            </a:pPr>
            <a:r>
              <a:rPr sz="1150">
                <a:solidFill>
                  <a:srgbClr val="0E1729"/>
                </a:solidFill>
                <a:latin typeface="Arial"/>
                <a:ea typeface="Arial"/>
                <a:cs typeface="Arial"/>
              </a:rPr>
              <a:t>机构签发 6 位访问码,家长用 姓名 + 手机号 + 访问码 登入自助区</a:t>
            </a:r>
          </a:p>
          <a:p xmlns:a="http://schemas.openxmlformats.org/drawingml/2006/main">
            <a:pPr marL="152400" indent="-152400">
              <a:spcAft>
                <a:spcPts val="200"/>
              </a:spcAft>
              <a:buSzPct val="100000"/>
              <a:buChar char="•"/>
            </a:pPr>
            <a:r>
              <a:rPr sz="1350" b="1">
                <a:solidFill>
                  <a:srgbClr val="0E1729"/>
                </a:solidFill>
                <a:latin typeface="Arial"/>
                <a:ea typeface="Arial"/>
                <a:cs typeface="Arial"/>
              </a:rPr>
              <a:t>无需注册、无需下载</a:t>
            </a:r>
          </a:p>
          <a:p xmlns:a="http://schemas.openxmlformats.org/drawingml/2006/main">
            <a:pPr marL="0" lvl="1" indent="0">
              <a:spcAft>
                <a:spcPts val="1200"/>
              </a:spcAft>
              <a:buNone/>
            </a:pPr>
            <a:r>
              <a:rPr sz="1150">
                <a:solidFill>
                  <a:srgbClr val="0E1729"/>
                </a:solidFill>
                <a:latin typeface="Arial"/>
                <a:ea typeface="Arial"/>
                <a:cs typeface="Arial"/>
              </a:rPr>
              <a:t>手机浏览器直接用,对家长零门槛</a:t>
            </a:r>
          </a:p>
          <a:p xmlns:a="http://schemas.openxmlformats.org/drawingml/2006/main">
            <a:pPr marL="152400" indent="-152400">
              <a:spcAft>
                <a:spcPts val="200"/>
              </a:spcAft>
              <a:buSzPct val="100000"/>
              <a:buChar char="•"/>
            </a:pPr>
            <a:r>
              <a:rPr sz="1350" b="1">
                <a:solidFill>
                  <a:srgbClr val="0E1729"/>
                </a:solidFill>
                <a:latin typeface="Arial"/>
                <a:ea typeface="Arial"/>
                <a:cs typeface="Arial"/>
              </a:rPr>
              <a:t>课时余额与消课记录</a:t>
            </a:r>
          </a:p>
          <a:p xmlns:a="http://schemas.openxmlformats.org/drawingml/2006/main">
            <a:pPr marL="0" lvl="1" indent="0">
              <a:spcAft>
                <a:spcPts val="1200"/>
              </a:spcAft>
              <a:buNone/>
            </a:pPr>
            <a:r>
              <a:rPr sz="1150">
                <a:solidFill>
                  <a:srgbClr val="0E1729"/>
                </a:solidFill>
                <a:latin typeface="Arial"/>
                <a:ea typeface="Arial"/>
                <a:cs typeface="Arial"/>
              </a:rPr>
              <a:t>还剩几次课、每次课扣在哪一天,一目了然</a:t>
            </a:r>
          </a:p>
          <a:p xmlns:a="http://schemas.openxmlformats.org/drawingml/2006/main">
            <a:pPr marL="152400" indent="-152400">
              <a:spcAft>
                <a:spcPts val="200"/>
              </a:spcAft>
              <a:buSzPct val="100000"/>
              <a:buChar char="•"/>
            </a:pPr>
            <a:r>
              <a:rPr sz="1350" b="1">
                <a:solidFill>
                  <a:srgbClr val="0E1729"/>
                </a:solidFill>
                <a:latin typeface="Arial"/>
                <a:ea typeface="Arial"/>
                <a:cs typeface="Arial"/>
              </a:rPr>
              <a:t>孩子的作品集</a:t>
            </a:r>
          </a:p>
          <a:p xmlns:a="http://schemas.openxmlformats.org/drawingml/2006/main">
            <a:pPr marL="0" lvl="1" indent="0">
              <a:spcAft>
                <a:spcPts val="1200"/>
              </a:spcAft>
              <a:buNone/>
            </a:pPr>
            <a:r>
              <a:rPr sz="1150">
                <a:solidFill>
                  <a:srgbClr val="0E1729"/>
                </a:solidFill>
                <a:latin typeface="Arial"/>
                <a:ea typeface="Arial"/>
                <a:cs typeface="Arial"/>
              </a:rPr>
              <a:t>机构上传的作品与成长记录,家长随时可看</a:t>
            </a:r>
          </a:p>
          <a:p xmlns:a="http://schemas.openxmlformats.org/drawingml/2006/main">
            <a:pPr marL="152400" indent="-152400">
              <a:spcAft>
                <a:spcPts val="200"/>
              </a:spcAft>
              <a:buSzPct val="100000"/>
              <a:buChar char="•"/>
            </a:pPr>
            <a:r>
              <a:rPr sz="1350" b="1">
                <a:solidFill>
                  <a:srgbClr val="0E1729"/>
                </a:solidFill>
                <a:latin typeface="Arial"/>
                <a:ea typeface="Arial"/>
                <a:cs typeface="Arial"/>
              </a:rPr>
              <a:t>安全的短时会话</a:t>
            </a:r>
          </a:p>
          <a:p xmlns:a="http://schemas.openxmlformats.org/drawingml/2006/main">
            <a:pPr marL="0" lvl="1" indent="0">
              <a:spcAft>
                <a:spcPts val="1200"/>
              </a:spcAft>
              <a:buNone/>
            </a:pPr>
            <a:r>
              <a:rPr sz="1150">
                <a:solidFill>
                  <a:srgbClr val="0E1729"/>
                </a:solidFill>
                <a:latin typeface="Arial"/>
                <a:ea typeface="Arial"/>
                <a:cs typeface="Arial"/>
              </a:rPr>
              <a:t>会话一小时自动过期;访问码可随时撤销重发,错试有锁定保护</a:t>
            </a:r>
          </a:p>
        </p:txBody>
      </p:sp>
      <p:sp>
        <p:nvSpPr>
          <p:cNvPr id="7" name="Shape 5">
            <a:extLst xmlns:a="http://schemas.openxmlformats.org/drawingml/2006/main">
              <a:ext uri="{FF2B5EF4-FFF2-40B4-BE49-F238E27FC236}">
                <a16:creationId xmlns:a16="http://schemas.microsoft.com/office/drawing/2014/main" id="{BE626224-322B-4A68-AD2A-4884D27E71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3840" y="1600200"/>
            <a:ext cx="2880360" cy="4663440"/>
          </a:xfrm>
          <a:prstGeom xmlns:a="http://schemas.openxmlformats.org/drawingml/2006/main" prst="roundRect">
            <a:avLst>
              <a:gd name="adj" fmla="val 698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31750">
            <a:solidFill>
              <a:srgbClr val="0E1729"/>
            </a:solidFill>
            <a:prstDash val="solid"/>
          </a:ln>
          <a:effectLst xmlns:a="http://schemas.openxmlformats.org/drawingml/2006/main">
            <a:outerShdw blurRad="127000" dist="38100" dir="5400000" sx="100000" sy="100000" kx="0" ky="0" algn="bl" rotWithShape="0">
              <a:srgbClr val="0F172A">
                <a:alpha val="15000"/>
              </a:srgbClr>
            </a:outerShdw>
          </a:effectLst>
        </p:spPr>
      </p:sp>
      <p:sp>
        <p:nvSpPr>
          <p:cNvPr id="8" name="Shape 6">
            <a:extLst xmlns:a="http://schemas.openxmlformats.org/drawingml/2006/main">
              <a:ext uri="{FF2B5EF4-FFF2-40B4-BE49-F238E27FC236}">
                <a16:creationId xmlns:a16="http://schemas.microsoft.com/office/drawing/2014/main" id="{39663AA2-139E-4987-98CD-5B918ADA1B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69680" y="1728216"/>
            <a:ext cx="868680" cy="109728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2E8F0"/>
          </a:solidFill>
        </p:spPr>
      </p:sp>
      <p:sp>
        <p:nvSpPr>
          <p:cNvPr id="9" name="Text 7">
            <a:extLst xmlns:a="http://schemas.openxmlformats.org/drawingml/2006/main">
              <a:ext uri="{FF2B5EF4-FFF2-40B4-BE49-F238E27FC236}">
                <a16:creationId xmlns:a16="http://schemas.microsoft.com/office/drawing/2014/main" id="{E79F731E-7FD7-427D-8BD5-CB1799C9CE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8160" y="1984248"/>
            <a:ext cx="233172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 b="1">
                <a:solidFill>
                  <a:srgbClr val="0E1729"/>
                </a:solidFill>
                <a:latin typeface="Arial"/>
                <a:ea typeface="Arial"/>
                <a:cs typeface="Arial"/>
              </a:rPr>
              <a:t>学员中心 · Student Area</a:t>
            </a:r>
          </a:p>
        </p:txBody>
      </p:sp>
      <p:sp>
        <p:nvSpPr>
          <p:cNvPr id="10" name="Shape 8">
            <a:extLst xmlns:a="http://schemas.openxmlformats.org/drawingml/2006/main">
              <a:ext uri="{FF2B5EF4-FFF2-40B4-BE49-F238E27FC236}">
                <a16:creationId xmlns:a16="http://schemas.microsoft.com/office/drawing/2014/main" id="{32A021B7-A482-467D-8024-CB0F5B6887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8160" y="2377440"/>
            <a:ext cx="2331720" cy="1143000"/>
          </a:xfrm>
          <a:prstGeom xmlns:a="http://schemas.openxmlformats.org/drawingml/2006/main" prst="roundRect">
            <a:avLst>
              <a:gd name="adj" fmla="val 6400"/>
            </a:avLst>
          </a:prstGeom>
          <a:solidFill xmlns:a="http://schemas.openxmlformats.org/drawingml/2006/main">
            <a:srgbClr val="0E1729"/>
          </a:solidFill>
        </p:spPr>
      </p:sp>
      <p:sp>
        <p:nvSpPr>
          <p:cNvPr id="11" name="Text 9">
            <a:extLst xmlns:a="http://schemas.openxmlformats.org/drawingml/2006/main">
              <a:ext uri="{FF2B5EF4-FFF2-40B4-BE49-F238E27FC236}">
                <a16:creationId xmlns:a16="http://schemas.microsoft.com/office/drawing/2014/main" id="{8557D8C8-B680-45FA-A7A8-6895E23EEE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5320" y="2468880"/>
            <a:ext cx="1188720" cy="685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3400" b="1">
                <a:solidFill>
                  <a:srgbClr val="F5B335"/>
                </a:solidFill>
                <a:latin typeface="Arial"/>
                <a:ea typeface="Arial"/>
                <a:cs typeface="Arial"/>
              </a:rPr>
              <a:t>12</a:t>
            </a:r>
          </a:p>
        </p:txBody>
      </p:sp>
      <p:sp>
        <p:nvSpPr>
          <p:cNvPr id="12" name="Text 10">
            <a:extLst xmlns:a="http://schemas.openxmlformats.org/drawingml/2006/main">
              <a:ext uri="{FF2B5EF4-FFF2-40B4-BE49-F238E27FC236}">
                <a16:creationId xmlns:a16="http://schemas.microsoft.com/office/drawing/2014/main" id="{0AFA3581-DE87-428F-AAF2-83C05D8999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81160" y="2624328"/>
            <a:ext cx="1234440" cy="7315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000">
                <a:solidFill>
                  <a:srgbClr val="FFFFFF"/>
                </a:solidFill>
                <a:latin typeface="Arial"/>
                <a:ea typeface="Arial"/>
                <a:cs typeface="Arial"/>
              </a:rPr>
              <a:t>剩余课时</a:t>
            </a:r>
          </a:p>
          <a:p xmlns:a="http://schemas.openxmlformats.org/drawingml/2006/main">
            <a:pPr marL="0" indent="0">
              <a:buNone/>
            </a:pPr>
            <a:r>
              <a:rPr sz="850">
                <a:solidFill>
                  <a:srgbClr val="94A3B8"/>
                </a:solidFill>
                <a:latin typeface="Arial"/>
                <a:ea typeface="Arial"/>
                <a:cs typeface="Arial"/>
              </a:rPr>
              <a:t>少儿美术 · 10 次卡</a:t>
            </a:r>
          </a:p>
        </p:txBody>
      </p:sp>
      <p:sp>
        <p:nvSpPr>
          <p:cNvPr id="13" name="Text 11">
            <a:extLst xmlns:a="http://schemas.openxmlformats.org/drawingml/2006/main">
              <a:ext uri="{FF2B5EF4-FFF2-40B4-BE49-F238E27FC236}">
                <a16:creationId xmlns:a16="http://schemas.microsoft.com/office/drawing/2014/main" id="{D2E3FEB1-6C6A-4721-9C09-CB8A2F7BC5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8160" y="3648456"/>
            <a:ext cx="18288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50" b="1">
                <a:solidFill>
                  <a:srgbClr val="64748B"/>
                </a:solidFill>
                <a:latin typeface="Arial"/>
                <a:ea typeface="Arial"/>
                <a:cs typeface="Arial"/>
              </a:rPr>
              <a:t>最近消课</a:t>
            </a:r>
          </a:p>
        </p:txBody>
      </p:sp>
      <p:sp>
        <p:nvSpPr>
          <p:cNvPr id="14" name="Shape 12">
            <a:extLst xmlns:a="http://schemas.openxmlformats.org/drawingml/2006/main">
              <a:ext uri="{FF2B5EF4-FFF2-40B4-BE49-F238E27FC236}">
                <a16:creationId xmlns:a16="http://schemas.microsoft.com/office/drawing/2014/main" id="{3EFFAD61-F8D6-4324-9157-91DD660D4C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8160" y="3941064"/>
            <a:ext cx="2331720" cy="36576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F7F5F2"/>
          </a:solidFill>
        </p:spPr>
      </p:sp>
      <p:sp>
        <p:nvSpPr>
          <p:cNvPr id="15" name="Text 13">
            <a:extLst xmlns:a="http://schemas.openxmlformats.org/drawingml/2006/main">
              <a:ext uri="{FF2B5EF4-FFF2-40B4-BE49-F238E27FC236}">
                <a16:creationId xmlns:a16="http://schemas.microsoft.com/office/drawing/2014/main" id="{8D763D60-E30F-4BCC-909A-34746AA067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7888" y="3941064"/>
            <a:ext cx="164592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850">
                <a:solidFill>
                  <a:srgbClr val="475569"/>
                </a:solidFill>
                <a:latin typeface="Arial"/>
                <a:ea typeface="Arial"/>
                <a:cs typeface="Arial"/>
              </a:rPr>
              <a:t>03-16 周六 16:00</a:t>
            </a:r>
          </a:p>
        </p:txBody>
      </p:sp>
      <p:sp>
        <p:nvSpPr>
          <p:cNvPr id="16" name="Text 14">
            <a:extLst xmlns:a="http://schemas.openxmlformats.org/drawingml/2006/main">
              <a:ext uri="{FF2B5EF4-FFF2-40B4-BE49-F238E27FC236}">
                <a16:creationId xmlns:a16="http://schemas.microsoft.com/office/drawing/2014/main" id="{E255100C-E2F9-4B0F-A7A6-3CECDCF640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29800" y="3941064"/>
            <a:ext cx="54864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50" b="1">
                <a:solidFill>
                  <a:srgbClr val="16233D"/>
                </a:solidFill>
                <a:latin typeface="Arial"/>
                <a:ea typeface="Arial"/>
                <a:cs typeface="Arial"/>
              </a:rPr>
              <a:t>−1</a:t>
            </a:r>
          </a:p>
        </p:txBody>
      </p:sp>
      <p:sp>
        <p:nvSpPr>
          <p:cNvPr id="17" name="Shape 15">
            <a:extLst xmlns:a="http://schemas.openxmlformats.org/drawingml/2006/main">
              <a:ext uri="{FF2B5EF4-FFF2-40B4-BE49-F238E27FC236}">
                <a16:creationId xmlns:a16="http://schemas.microsoft.com/office/drawing/2014/main" id="{8E5A6368-0C9C-41DD-B4D1-540CAA9C4B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8160" y="4398264"/>
            <a:ext cx="2331720" cy="36576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F7F5F2"/>
          </a:solidFill>
        </p:spPr>
      </p:sp>
      <p:sp>
        <p:nvSpPr>
          <p:cNvPr id="18" name="Text 16">
            <a:extLst xmlns:a="http://schemas.openxmlformats.org/drawingml/2006/main">
              <a:ext uri="{FF2B5EF4-FFF2-40B4-BE49-F238E27FC236}">
                <a16:creationId xmlns:a16="http://schemas.microsoft.com/office/drawing/2014/main" id="{919712DE-17CB-47F8-A8E9-D76A5E9C7B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7888" y="4398264"/>
            <a:ext cx="164592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850">
                <a:solidFill>
                  <a:srgbClr val="475569"/>
                </a:solidFill>
                <a:latin typeface="Arial"/>
                <a:ea typeface="Arial"/>
                <a:cs typeface="Arial"/>
              </a:rPr>
              <a:t>03-09 周六 16:00</a:t>
            </a:r>
          </a:p>
        </p:txBody>
      </p:sp>
      <p:sp>
        <p:nvSpPr>
          <p:cNvPr id="19" name="Text 17">
            <a:extLst xmlns:a="http://schemas.openxmlformats.org/drawingml/2006/main">
              <a:ext uri="{FF2B5EF4-FFF2-40B4-BE49-F238E27FC236}">
                <a16:creationId xmlns:a16="http://schemas.microsoft.com/office/drawing/2014/main" id="{78107516-0467-43AB-96EE-21A352F283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29800" y="4398264"/>
            <a:ext cx="54864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50" b="1">
                <a:solidFill>
                  <a:srgbClr val="16233D"/>
                </a:solidFill>
                <a:latin typeface="Arial"/>
                <a:ea typeface="Arial"/>
                <a:cs typeface="Arial"/>
              </a:rPr>
              <a:t>−1</a:t>
            </a:r>
          </a:p>
        </p:txBody>
      </p:sp>
      <p:sp>
        <p:nvSpPr>
          <p:cNvPr id="20" name="Text 18">
            <a:extLst xmlns:a="http://schemas.openxmlformats.org/drawingml/2006/main">
              <a:ext uri="{FF2B5EF4-FFF2-40B4-BE49-F238E27FC236}">
                <a16:creationId xmlns:a16="http://schemas.microsoft.com/office/drawing/2014/main" id="{BBEF6AC7-F6CB-49AE-BF67-E54FE9A3AC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8160" y="4946904"/>
            <a:ext cx="18288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50" b="1">
                <a:solidFill>
                  <a:srgbClr val="64748B"/>
                </a:solidFill>
                <a:latin typeface="Arial"/>
                <a:ea typeface="Arial"/>
                <a:cs typeface="Arial"/>
              </a:rPr>
              <a:t>作品集</a:t>
            </a:r>
          </a:p>
        </p:txBody>
      </p:sp>
      <p:sp>
        <p:nvSpPr>
          <p:cNvPr id="21" name="Shape 19">
            <a:extLst xmlns:a="http://schemas.openxmlformats.org/drawingml/2006/main">
              <a:ext uri="{FF2B5EF4-FFF2-40B4-BE49-F238E27FC236}">
                <a16:creationId xmlns:a16="http://schemas.microsoft.com/office/drawing/2014/main" id="{4A52F014-A6A1-46E4-96D9-AC06324739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8160" y="5239512"/>
            <a:ext cx="512064" cy="512064"/>
          </a:xfrm>
          <a:prstGeom xmlns:a="http://schemas.openxmlformats.org/drawingml/2006/main" prst="roundRect">
            <a:avLst>
              <a:gd name="adj" fmla="val 8929"/>
            </a:avLst>
          </a:prstGeom>
          <a:solidFill xmlns:a="http://schemas.openxmlformats.org/drawingml/2006/main">
            <a:srgbClr val="CE9985">
              <a:alpha val="75000"/>
            </a:srgbClr>
          </a:solidFill>
        </p:spPr>
      </p:sp>
      <p:sp>
        <p:nvSpPr>
          <p:cNvPr id="22" name="Shape 20">
            <a:extLst xmlns:a="http://schemas.openxmlformats.org/drawingml/2006/main">
              <a:ext uri="{FF2B5EF4-FFF2-40B4-BE49-F238E27FC236}">
                <a16:creationId xmlns:a16="http://schemas.microsoft.com/office/drawing/2014/main" id="{A9DE0E6B-0739-4A28-B40D-5B43F03945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41664" y="5239512"/>
            <a:ext cx="512064" cy="512064"/>
          </a:xfrm>
          <a:prstGeom xmlns:a="http://schemas.openxmlformats.org/drawingml/2006/main" prst="roundRect">
            <a:avLst>
              <a:gd name="adj" fmla="val 8929"/>
            </a:avLst>
          </a:prstGeom>
          <a:solidFill xmlns:a="http://schemas.openxmlformats.org/drawingml/2006/main">
            <a:srgbClr val="77ABCF">
              <a:alpha val="75000"/>
            </a:srgbClr>
          </a:solidFill>
        </p:spPr>
      </p:sp>
      <p:sp>
        <p:nvSpPr>
          <p:cNvPr id="23" name="Shape 21">
            <a:extLst xmlns:a="http://schemas.openxmlformats.org/drawingml/2006/main">
              <a:ext uri="{FF2B5EF4-FFF2-40B4-BE49-F238E27FC236}">
                <a16:creationId xmlns:a16="http://schemas.microsoft.com/office/drawing/2014/main" id="{F53B60FE-F3AE-4A22-BA0C-46283F1C33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45168" y="5239512"/>
            <a:ext cx="512064" cy="512064"/>
          </a:xfrm>
          <a:prstGeom xmlns:a="http://schemas.openxmlformats.org/drawingml/2006/main" prst="roundRect">
            <a:avLst>
              <a:gd name="adj" fmla="val 8929"/>
            </a:avLst>
          </a:prstGeom>
          <a:solidFill xmlns:a="http://schemas.openxmlformats.org/drawingml/2006/main">
            <a:srgbClr val="F59E0B">
              <a:alpha val="75000"/>
            </a:srgbClr>
          </a:solidFill>
        </p:spPr>
      </p:sp>
      <p:sp>
        <p:nvSpPr>
          <p:cNvPr id="24" name="Shape 22">
            <a:extLst xmlns:a="http://schemas.openxmlformats.org/drawingml/2006/main">
              <a:ext uri="{FF2B5EF4-FFF2-40B4-BE49-F238E27FC236}">
                <a16:creationId xmlns:a16="http://schemas.microsoft.com/office/drawing/2014/main" id="{5AF0ECB4-97DA-4B70-867A-E1DAF6D07B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48672" y="5239512"/>
            <a:ext cx="512064" cy="512064"/>
          </a:xfrm>
          <a:prstGeom xmlns:a="http://schemas.openxmlformats.org/drawingml/2006/main" prst="roundRect">
            <a:avLst>
              <a:gd name="adj" fmla="val 8929"/>
            </a:avLst>
          </a:prstGeom>
          <a:solidFill xmlns:a="http://schemas.openxmlformats.org/drawingml/2006/main">
            <a:srgbClr val="6FB48F">
              <a:alpha val="75000"/>
            </a:srgbClr>
          </a:solidFill>
        </p:spPr>
      </p:sp>
      <p:sp>
        <p:nvSpPr>
          <p:cNvPr id="25" name="Shape 23">
            <a:extLst xmlns:a="http://schemas.openxmlformats.org/drawingml/2006/main">
              <a:ext uri="{FF2B5EF4-FFF2-40B4-BE49-F238E27FC236}">
                <a16:creationId xmlns:a16="http://schemas.microsoft.com/office/drawing/2014/main" id="{8D847B7B-64F8-4D80-8666-E4C5B93291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5349240"/>
            <a:ext cx="6583680" cy="868680"/>
          </a:xfrm>
          <a:prstGeom xmlns:a="http://schemas.openxmlformats.org/drawingml/2006/main" prst="roundRect">
            <a:avLst>
              <a:gd name="adj" fmla="val 9474"/>
            </a:avLst>
          </a:prstGeom>
          <a:solidFill xmlns:a="http://schemas.openxmlformats.org/drawingml/2006/main">
            <a:srgbClr val="FEF3C7"/>
          </a:solidFill>
        </p:spPr>
      </p:sp>
      <p:sp>
        <p:nvSpPr>
          <p:cNvPr id="26" name="Text 24">
            <a:extLst xmlns:a="http://schemas.openxmlformats.org/drawingml/2006/main">
              <a:ext uri="{FF2B5EF4-FFF2-40B4-BE49-F238E27FC236}">
                <a16:creationId xmlns:a16="http://schemas.microsoft.com/office/drawing/2014/main" id="{9C260C68-4602-4D78-A087-973F7D1325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5349240"/>
            <a:ext cx="6126480" cy="8686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00">
                <a:solidFill>
                  <a:srgbClr val="78350F"/>
                </a:solidFill>
                <a:latin typeface="Arial"/>
                <a:ea typeface="Arial"/>
                <a:cs typeface="Arial"/>
              </a:rPr>
              <a:t>省下来的,是前台每天几十次的重复报数;留下来的,是家长随时翻得到的成长记录。</a:t>
            </a:r>
          </a:p>
        </p:txBody>
      </p:sp>
    </p:spTree>
    <p:extLst>
      <p:ext uri="{BB962C8B-B14F-4D97-AF65-F5344CB8AC3E}">
        <p14:creationId xmlns:p14="http://schemas.microsoft.com/office/powerpoint/2010/main" val="1664019034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0BA9A4BB-C2BB-4070-B73D-2B118DF7AA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457200"/>
            <a:ext cx="182880" cy="182880"/>
          </a:xfrm>
          <a:prstGeom xmlns:a="http://schemas.openxmlformats.org/drawingml/2006/main" prst="star4">
            <a:avLst/>
          </a:prstGeom>
          <a:solidFill xmlns:a="http://schemas.openxmlformats.org/drawingml/2006/main">
            <a:srgbClr val="F5B335"/>
          </a:solidFill>
        </p:spPr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E6FC5A0A-47A6-48C6-9F75-922DB4AA33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" y="384048"/>
            <a:ext cx="731520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b="1">
                <a:solidFill>
                  <a:srgbClr val="64748B"/>
                </a:solidFill>
                <a:latin typeface="Arial"/>
                <a:ea typeface="Arial"/>
                <a:cs typeface="Arial"/>
              </a:rPr>
              <a:t>数据安全与隐私</a:t>
            </a:r>
          </a:p>
        </p:txBody>
      </p:sp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1A1DE05D-3951-48E0-A0ED-54E473EF57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731520"/>
            <a:ext cx="11064240" cy="56692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700" b="1">
                <a:solidFill>
                  <a:srgbClr val="0E1729"/>
                </a:solidFill>
                <a:latin typeface="Arial"/>
                <a:ea typeface="Arial"/>
                <a:cs typeface="Arial"/>
              </a:rPr>
              <a:t>孩子的作品与隐私,像原作一样保管</a:t>
            </a:r>
          </a:p>
        </p:txBody>
      </p:sp>
      <p:sp>
        <p:nvSpPr>
          <p:cNvPr id="5" name="Text 3">
            <a:extLst xmlns:a="http://schemas.openxmlformats.org/drawingml/2006/main">
              <a:ext uri="{FF2B5EF4-FFF2-40B4-BE49-F238E27FC236}">
                <a16:creationId xmlns:a16="http://schemas.microsoft.com/office/drawing/2014/main" id="{7F623FE2-BCB2-474E-94FC-A34A4D14AB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473952"/>
            <a:ext cx="54864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1000">
                <a:solidFill>
                  <a:srgbClr val="94A3B8"/>
                </a:solidFill>
                <a:latin typeface="Arial"/>
                <a:ea typeface="Arial"/>
                <a:cs typeface="Arial"/>
              </a:rPr>
              <a:t>10</a:t>
            </a:r>
          </a:p>
        </p:txBody>
      </p:sp>
      <p:sp>
        <p:nvSpPr>
          <p:cNvPr id="6" name="Shape 4">
            <a:extLst xmlns:a="http://schemas.openxmlformats.org/drawingml/2006/main">
              <a:ext uri="{FF2B5EF4-FFF2-40B4-BE49-F238E27FC236}">
                <a16:creationId xmlns:a16="http://schemas.microsoft.com/office/drawing/2014/main" id="{79B0B362-DB71-42EC-B3DF-A3F51E3C2E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691640"/>
            <a:ext cx="5431536" cy="2121408"/>
          </a:xfrm>
          <a:prstGeom xmlns:a="http://schemas.openxmlformats.org/drawingml/2006/main" prst="roundRect">
            <a:avLst>
              <a:gd name="adj" fmla="val 3879"/>
            </a:avLst>
          </a:prstGeom>
          <a:solidFill xmlns:a="http://schemas.openxmlformats.org/drawingml/2006/main">
            <a:srgbClr val="FBFAF7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7" name="Shape 5">
            <a:extLst xmlns:a="http://schemas.openxmlformats.org/drawingml/2006/main">
              <a:ext uri="{FF2B5EF4-FFF2-40B4-BE49-F238E27FC236}">
                <a16:creationId xmlns:a16="http://schemas.microsoft.com/office/drawing/2014/main" id="{C35E969C-CAA5-4A68-B36C-DB9278D07C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1965960"/>
            <a:ext cx="1572768" cy="566928"/>
          </a:xfrm>
          <a:prstGeom xmlns:a="http://schemas.openxmlformats.org/drawingml/2006/main" prst="roundRect">
            <a:avLst>
              <a:gd name="adj" fmla="val 12903"/>
            </a:avLst>
          </a:prstGeom>
          <a:solidFill xmlns:a="http://schemas.openxmlformats.org/drawingml/2006/main">
            <a:srgbClr val="0E1729"/>
          </a:solidFill>
        </p:spPr>
      </p:sp>
      <p:sp>
        <p:nvSpPr>
          <p:cNvPr id="8" name="Text 6">
            <a:extLst xmlns:a="http://schemas.openxmlformats.org/drawingml/2006/main">
              <a:ext uri="{FF2B5EF4-FFF2-40B4-BE49-F238E27FC236}">
                <a16:creationId xmlns:a16="http://schemas.microsoft.com/office/drawing/2014/main" id="{012AB549-8C88-4F94-9174-3AFC2B1378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1965960"/>
            <a:ext cx="1572768" cy="56692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201 项</a:t>
            </a:r>
          </a:p>
        </p:txBody>
      </p:sp>
      <p:sp>
        <p:nvSpPr>
          <p:cNvPr id="9" name="Text 7">
            <a:extLst xmlns:a="http://schemas.openxmlformats.org/drawingml/2006/main">
              <a:ext uri="{FF2B5EF4-FFF2-40B4-BE49-F238E27FC236}">
                <a16:creationId xmlns:a16="http://schemas.microsoft.com/office/drawing/2014/main" id="{13403AC5-0F40-49CE-985C-085ED2010E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60320" y="2002536"/>
            <a:ext cx="3191256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50" b="1">
                <a:solidFill>
                  <a:srgbClr val="0E1729"/>
                </a:solidFill>
                <a:latin typeface="Arial"/>
                <a:ea typeface="Arial"/>
                <a:cs typeface="Arial"/>
              </a:rPr>
              <a:t>租户隔离自动化检查</a:t>
            </a:r>
          </a:p>
        </p:txBody>
      </p:sp>
      <p:sp>
        <p:nvSpPr>
          <p:cNvPr id="10" name="Text 8">
            <a:extLst xmlns:a="http://schemas.openxmlformats.org/drawingml/2006/main">
              <a:ext uri="{FF2B5EF4-FFF2-40B4-BE49-F238E27FC236}">
                <a16:creationId xmlns:a16="http://schemas.microsoft.com/office/drawing/2014/main" id="{D2A4E3BB-83E3-4D29-A39E-ACF19A0FC8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2715768"/>
            <a:ext cx="4864608" cy="9601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>
                <a:solidFill>
                  <a:srgbClr val="475569"/>
                </a:solidFill>
                <a:latin typeface="Arial"/>
                <a:ea typeface="Arial"/>
                <a:cs typeface="Arial"/>
              </a:rPr>
              <a:t>每家机构的数据严格隔离,跨店访问必须失败——每次发版 201 项隔离测试全绿才允许上线</a:t>
            </a:r>
          </a:p>
        </p:txBody>
      </p:sp>
      <p:sp>
        <p:nvSpPr>
          <p:cNvPr id="11" name="Shape 9">
            <a:extLst xmlns:a="http://schemas.openxmlformats.org/drawingml/2006/main">
              <a:ext uri="{FF2B5EF4-FFF2-40B4-BE49-F238E27FC236}">
                <a16:creationId xmlns:a16="http://schemas.microsoft.com/office/drawing/2014/main" id="{FDAF71B2-4B52-4AD3-BD0E-85C975705A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08776" y="1691640"/>
            <a:ext cx="5431536" cy="2121408"/>
          </a:xfrm>
          <a:prstGeom xmlns:a="http://schemas.openxmlformats.org/drawingml/2006/main" prst="roundRect">
            <a:avLst>
              <a:gd name="adj" fmla="val 3879"/>
            </a:avLst>
          </a:prstGeom>
          <a:solidFill xmlns:a="http://schemas.openxmlformats.org/drawingml/2006/main">
            <a:srgbClr val="FBFAF7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12" name="Shape 10">
            <a:extLst xmlns:a="http://schemas.openxmlformats.org/drawingml/2006/main">
              <a:ext uri="{FF2B5EF4-FFF2-40B4-BE49-F238E27FC236}">
                <a16:creationId xmlns:a16="http://schemas.microsoft.com/office/drawing/2014/main" id="{60D664CA-9F37-4B63-895A-8F8B60A9C1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83096" y="1965960"/>
            <a:ext cx="1572768" cy="566928"/>
          </a:xfrm>
          <a:prstGeom xmlns:a="http://schemas.openxmlformats.org/drawingml/2006/main" prst="roundRect">
            <a:avLst>
              <a:gd name="adj" fmla="val 12903"/>
            </a:avLst>
          </a:prstGeom>
          <a:solidFill xmlns:a="http://schemas.openxmlformats.org/drawingml/2006/main">
            <a:srgbClr val="F5B335"/>
          </a:solidFill>
        </p:spPr>
      </p:sp>
      <p:sp>
        <p:nvSpPr>
          <p:cNvPr id="13" name="Text 11">
            <a:extLst xmlns:a="http://schemas.openxmlformats.org/drawingml/2006/main">
              <a:ext uri="{FF2B5EF4-FFF2-40B4-BE49-F238E27FC236}">
                <a16:creationId xmlns:a16="http://schemas.microsoft.com/office/drawing/2014/main" id="{F9763574-97BD-46C7-A7C4-6CB2497771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83096" y="1965960"/>
            <a:ext cx="1572768" cy="56692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500" b="1">
                <a:solidFill>
                  <a:srgbClr val="0E1729"/>
                </a:solidFill>
                <a:latin typeface="Arial"/>
                <a:ea typeface="Arial"/>
                <a:cs typeface="Arial"/>
              </a:rPr>
              <a:t>同意链</a:t>
            </a:r>
          </a:p>
        </p:txBody>
      </p:sp>
      <p:sp>
        <p:nvSpPr>
          <p:cNvPr id="14" name="Text 12">
            <a:extLst xmlns:a="http://schemas.openxmlformats.org/drawingml/2006/main">
              <a:ext uri="{FF2B5EF4-FFF2-40B4-BE49-F238E27FC236}">
                <a16:creationId xmlns:a16="http://schemas.microsoft.com/office/drawing/2014/main" id="{676B6E9C-E1D4-4FE6-9188-254CD756E6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0456" y="2002536"/>
            <a:ext cx="3191256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50" b="1">
                <a:solidFill>
                  <a:srgbClr val="0E1729"/>
                </a:solidFill>
                <a:latin typeface="Arial"/>
                <a:ea typeface="Arial"/>
                <a:cs typeface="Arial"/>
              </a:rPr>
              <a:t>未成年人照片保护</a:t>
            </a:r>
          </a:p>
        </p:txBody>
      </p:sp>
      <p:sp>
        <p:nvSpPr>
          <p:cNvPr id="15" name="Text 13">
            <a:extLst xmlns:a="http://schemas.openxmlformats.org/drawingml/2006/main">
              <a:ext uri="{FF2B5EF4-FFF2-40B4-BE49-F238E27FC236}">
                <a16:creationId xmlns:a16="http://schemas.microsoft.com/office/drawing/2014/main" id="{2FC8FE0C-A95D-4CC5-A34D-F766B161C8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83096" y="2715768"/>
            <a:ext cx="4864608" cy="9601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>
                <a:solidFill>
                  <a:srgbClr val="475569"/>
                </a:solidFill>
                <a:latin typeface="Arial"/>
                <a:ea typeface="Arial"/>
                <a:cs typeface="Arial"/>
              </a:rPr>
              <a:t>作品公开须记录监护人同意;同意与撤回是只增不改的事件链,撤回立即从公开区下线</a:t>
            </a:r>
          </a:p>
        </p:txBody>
      </p:sp>
      <p:sp>
        <p:nvSpPr>
          <p:cNvPr id="16" name="Shape 14">
            <a:extLst xmlns:a="http://schemas.openxmlformats.org/drawingml/2006/main">
              <a:ext uri="{FF2B5EF4-FFF2-40B4-BE49-F238E27FC236}">
                <a16:creationId xmlns:a16="http://schemas.microsoft.com/office/drawing/2014/main" id="{64BC42F2-747F-4411-BBF9-86B18845B1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4087368"/>
            <a:ext cx="5431536" cy="2121408"/>
          </a:xfrm>
          <a:prstGeom xmlns:a="http://schemas.openxmlformats.org/drawingml/2006/main" prst="roundRect">
            <a:avLst>
              <a:gd name="adj" fmla="val 3879"/>
            </a:avLst>
          </a:prstGeom>
          <a:solidFill xmlns:a="http://schemas.openxmlformats.org/drawingml/2006/main">
            <a:srgbClr val="FBFAF7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17" name="Shape 15">
            <a:extLst xmlns:a="http://schemas.openxmlformats.org/drawingml/2006/main">
              <a:ext uri="{FF2B5EF4-FFF2-40B4-BE49-F238E27FC236}">
                <a16:creationId xmlns:a16="http://schemas.microsoft.com/office/drawing/2014/main" id="{FF602E45-7B3C-4782-A958-F84989FEC8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4361688"/>
            <a:ext cx="1572768" cy="566928"/>
          </a:xfrm>
          <a:prstGeom xmlns:a="http://schemas.openxmlformats.org/drawingml/2006/main" prst="roundRect">
            <a:avLst>
              <a:gd name="adj" fmla="val 12903"/>
            </a:avLst>
          </a:prstGeom>
          <a:solidFill xmlns:a="http://schemas.openxmlformats.org/drawingml/2006/main">
            <a:srgbClr val="0E1729"/>
          </a:solidFill>
        </p:spPr>
      </p:sp>
      <p:sp>
        <p:nvSpPr>
          <p:cNvPr id="18" name="Text 16">
            <a:extLst xmlns:a="http://schemas.openxmlformats.org/drawingml/2006/main">
              <a:ext uri="{FF2B5EF4-FFF2-40B4-BE49-F238E27FC236}">
                <a16:creationId xmlns:a16="http://schemas.microsoft.com/office/drawing/2014/main" id="{42F5C870-B39B-4E34-8AC3-02F3EDADE1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4361688"/>
            <a:ext cx="1572768" cy="56692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全程留痕</a:t>
            </a:r>
          </a:p>
        </p:txBody>
      </p:sp>
      <p:sp>
        <p:nvSpPr>
          <p:cNvPr id="19" name="Text 17">
            <a:extLst xmlns:a="http://schemas.openxmlformats.org/drawingml/2006/main">
              <a:ext uri="{FF2B5EF4-FFF2-40B4-BE49-F238E27FC236}">
                <a16:creationId xmlns:a16="http://schemas.microsoft.com/office/drawing/2014/main" id="{45B4E26F-68E8-41C6-B417-84F0A73B0B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60320" y="4398264"/>
            <a:ext cx="3191256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50" b="1">
                <a:solidFill>
                  <a:srgbClr val="0E1729"/>
                </a:solidFill>
                <a:latin typeface="Arial"/>
                <a:ea typeface="Arial"/>
                <a:cs typeface="Arial"/>
              </a:rPr>
              <a:t>平台方进店必须亮牌</a:t>
            </a:r>
          </a:p>
        </p:txBody>
      </p:sp>
      <p:sp>
        <p:nvSpPr>
          <p:cNvPr id="20" name="Text 18">
            <a:extLst xmlns:a="http://schemas.openxmlformats.org/drawingml/2006/main">
              <a:ext uri="{FF2B5EF4-FFF2-40B4-BE49-F238E27FC236}">
                <a16:creationId xmlns:a16="http://schemas.microsoft.com/office/drawing/2014/main" id="{577A886D-9C9B-42F5-9EB7-0114048012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5111496"/>
            <a:ext cx="4864608" cy="9601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>
                <a:solidFill>
                  <a:srgbClr val="475569"/>
                </a:solidFill>
                <a:latin typeface="Arial"/>
                <a:ea typeface="Arial"/>
                <a:cs typeface="Arial"/>
              </a:rPr>
              <a:t>平台人员查看机构数据必须开启支持模式:填写原因、写入审计日志、页面横幅明示</a:t>
            </a:r>
          </a:p>
        </p:txBody>
      </p:sp>
      <p:sp>
        <p:nvSpPr>
          <p:cNvPr id="21" name="Shape 19">
            <a:extLst xmlns:a="http://schemas.openxmlformats.org/drawingml/2006/main">
              <a:ext uri="{FF2B5EF4-FFF2-40B4-BE49-F238E27FC236}">
                <a16:creationId xmlns:a16="http://schemas.microsoft.com/office/drawing/2014/main" id="{4B127841-80D9-4D4F-8A3E-F37A86D91C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08776" y="4087368"/>
            <a:ext cx="5431536" cy="2121408"/>
          </a:xfrm>
          <a:prstGeom xmlns:a="http://schemas.openxmlformats.org/drawingml/2006/main" prst="roundRect">
            <a:avLst>
              <a:gd name="adj" fmla="val 3879"/>
            </a:avLst>
          </a:prstGeom>
          <a:solidFill xmlns:a="http://schemas.openxmlformats.org/drawingml/2006/main">
            <a:srgbClr val="FBFAF7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22" name="Shape 20">
            <a:extLst xmlns:a="http://schemas.openxmlformats.org/drawingml/2006/main">
              <a:ext uri="{FF2B5EF4-FFF2-40B4-BE49-F238E27FC236}">
                <a16:creationId xmlns:a16="http://schemas.microsoft.com/office/drawing/2014/main" id="{7D5C6373-B26F-4C16-9C29-A5ABC1562B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83096" y="4361688"/>
            <a:ext cx="1572768" cy="566928"/>
          </a:xfrm>
          <a:prstGeom xmlns:a="http://schemas.openxmlformats.org/drawingml/2006/main" prst="roundRect">
            <a:avLst>
              <a:gd name="adj" fmla="val 12903"/>
            </a:avLst>
          </a:prstGeom>
          <a:solidFill xmlns:a="http://schemas.openxmlformats.org/drawingml/2006/main">
            <a:srgbClr val="0E1729"/>
          </a:solidFill>
        </p:spPr>
      </p:sp>
      <p:sp>
        <p:nvSpPr>
          <p:cNvPr id="23" name="Text 21">
            <a:extLst xmlns:a="http://schemas.openxmlformats.org/drawingml/2006/main">
              <a:ext uri="{FF2B5EF4-FFF2-40B4-BE49-F238E27FC236}">
                <a16:creationId xmlns:a16="http://schemas.microsoft.com/office/drawing/2014/main" id="{D6F6C4B3-1FC0-41E3-AD10-B87B21D5DD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83096" y="4361688"/>
            <a:ext cx="1572768" cy="56692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1–90 天</a:t>
            </a:r>
          </a:p>
        </p:txBody>
      </p:sp>
      <p:sp>
        <p:nvSpPr>
          <p:cNvPr id="24" name="Text 22">
            <a:extLst xmlns:a="http://schemas.openxmlformats.org/drawingml/2006/main">
              <a:ext uri="{FF2B5EF4-FFF2-40B4-BE49-F238E27FC236}">
                <a16:creationId xmlns:a16="http://schemas.microsoft.com/office/drawing/2014/main" id="{67EC87BF-EB21-4118-BE62-02D030532F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0456" y="4398264"/>
            <a:ext cx="3191256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50" b="1">
                <a:solidFill>
                  <a:srgbClr val="0E1729"/>
                </a:solidFill>
                <a:latin typeface="Arial"/>
                <a:ea typeface="Arial"/>
                <a:cs typeface="Arial"/>
              </a:rPr>
              <a:t>分享链接强制到期</a:t>
            </a:r>
          </a:p>
        </p:txBody>
      </p:sp>
      <p:sp>
        <p:nvSpPr>
          <p:cNvPr id="25" name="Text 23">
            <a:extLst xmlns:a="http://schemas.openxmlformats.org/drawingml/2006/main">
              <a:ext uri="{FF2B5EF4-FFF2-40B4-BE49-F238E27FC236}">
                <a16:creationId xmlns:a16="http://schemas.microsoft.com/office/drawing/2014/main" id="{5ABF7C25-6E5B-4838-BE6E-48748DD1A1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83096" y="5111496"/>
            <a:ext cx="4864608" cy="9601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>
                <a:solidFill>
                  <a:srgbClr val="475569"/>
                </a:solidFill>
                <a:latin typeface="Arial"/>
                <a:ea typeface="Arial"/>
                <a:cs typeface="Arial"/>
              </a:rPr>
              <a:t>作品集对外分享链接必须设定有效期,可随时撤销;失效链接立即拒绝访问</a:t>
            </a:r>
          </a:p>
        </p:txBody>
      </p:sp>
    </p:spTree>
    <p:extLst>
      <p:ext uri="{BB962C8B-B14F-4D97-AF65-F5344CB8AC3E}">
        <p14:creationId xmlns:p14="http://schemas.microsoft.com/office/powerpoint/2010/main" val="803534479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6DCCFB62-8383-4288-9D6C-B22DBBB7D9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457200"/>
            <a:ext cx="182880" cy="182880"/>
          </a:xfrm>
          <a:prstGeom xmlns:a="http://schemas.openxmlformats.org/drawingml/2006/main" prst="star4">
            <a:avLst/>
          </a:prstGeom>
          <a:solidFill xmlns:a="http://schemas.openxmlformats.org/drawingml/2006/main">
            <a:srgbClr val="F5B335"/>
          </a:solidFill>
        </p:spPr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7CE6FA7D-ED57-43B6-B099-F4185A3198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" y="384048"/>
            <a:ext cx="731520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b="1">
                <a:solidFill>
                  <a:srgbClr val="64748B"/>
                </a:solidFill>
                <a:latin typeface="Arial"/>
                <a:ea typeface="Arial"/>
                <a:cs typeface="Arial"/>
              </a:rPr>
              <a:t>定价</a:t>
            </a:r>
          </a:p>
        </p:txBody>
      </p:sp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B63B31C4-C514-441F-B180-AAE7BCB4CA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731520"/>
            <a:ext cx="11064240" cy="56692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700" b="1">
                <a:solidFill>
                  <a:srgbClr val="0E1729"/>
                </a:solidFill>
                <a:latin typeface="Arial"/>
                <a:ea typeface="Arial"/>
                <a:cs typeface="Arial"/>
              </a:rPr>
              <a:t>透明定价,随工作室一起成长</a:t>
            </a:r>
          </a:p>
        </p:txBody>
      </p:sp>
      <p:sp>
        <p:nvSpPr>
          <p:cNvPr id="5" name="Text 3">
            <a:extLst xmlns:a="http://schemas.openxmlformats.org/drawingml/2006/main">
              <a:ext uri="{FF2B5EF4-FFF2-40B4-BE49-F238E27FC236}">
                <a16:creationId xmlns:a16="http://schemas.microsoft.com/office/drawing/2014/main" id="{6CC2FF92-57AB-4575-9B0C-19501FDC91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473952"/>
            <a:ext cx="54864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1000">
                <a:solidFill>
                  <a:srgbClr val="94A3B8"/>
                </a:solidFill>
                <a:latin typeface="Arial"/>
                <a:ea typeface="Arial"/>
                <a:cs typeface="Arial"/>
              </a:rPr>
              <a:t>11</a:t>
            </a:r>
          </a:p>
        </p:txBody>
      </p:sp>
      <p:graphicFrame>
        <p:nvGraphicFramePr>
          <p:cNvPr id="14" name="Table 0"/>
          <p:cNvGraphicFramePr/>
          <p:nvPr/>
        </p:nvGraphicFramePr>
        <p:xfrm>
          <a:off xmlns:a="http://schemas.openxmlformats.org/drawingml/2006/main" x="822960" y="1691640"/>
          <a:ext xmlns:a="http://schemas.openxmlformats.org/drawingml/2006/main" cx="10543032" cy="91440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3410712"/>
                <a:gridCol w="2377440"/>
                <a:gridCol w="2377440"/>
                <a:gridCol w="2377440"/>
              </a:tblGrid>
              <a:tr h="3840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</a:p>
                  </a:txBody>
                  <a:tcPr marL="73152" marR="73152" marT="36576" marB="36576" anchor="ctr">
                    <a:lnL w="0" cmpd="sng">
                      <a:noFill/>
                    </a:lnL>
                    <a:lnR w="0" cmpd="sng">
                      <a:noFill/>
                    </a:lnR>
                    <a:lnT w="0" cmpd="sng">
                      <a:noFill/>
                    </a:lnT>
                    <a:lnB w="12700" cmpd="sng">
                      <a:solidFill>
                        <a:srgbClr val="E2E8F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Starter</a:t>
                      </a:r>
                    </a:p>
                    <a:p>
                      <a:pPr marL="0" indent="0" algn="ctr">
                        <a:buNone/>
                      </a:pPr>
                      <a:r>
                        <a:rPr sz="1100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AUD 49 / 月</a:t>
                      </a:r>
                    </a:p>
                  </a:txBody>
                  <a:tcPr marL="73152" marR="73152" marT="36576" marB="36576" anchor="ctr">
                    <a:lnL w="12700" cmpd="sng">
                      <a:solidFill>
                        <a:srgbClr val="E2E8F0"/>
                      </a:solidFill>
                      <a:prstDash val="solid"/>
                    </a:lnL>
                    <a:lnR w="12700" cmpd="sng">
                      <a:solidFill>
                        <a:srgbClr val="E2E8F0"/>
                      </a:solidFill>
                      <a:prstDash val="solid"/>
                    </a:lnR>
                    <a:lnT w="12700" cmpd="sng">
                      <a:solidFill>
                        <a:srgbClr val="E2E8F0"/>
                      </a:solidFill>
                      <a:prstDash val="solid"/>
                    </a:lnT>
                    <a:lnB w="12700" cmpd="sng">
                      <a:solidFill>
                        <a:srgbClr val="E2E8F0"/>
                      </a:solidFill>
                      <a:prstDash val="solid"/>
                    </a:lnB>
                    <a:solidFill>
                      <a:srgbClr val="33415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sz="1400" b="1">
                          <a:solidFill>
                            <a:srgbClr val="0F172A"/>
                          </a:solidFill>
                          <a:latin typeface="Arial"/>
                          <a:ea typeface="Arial"/>
                          <a:cs typeface="Arial"/>
                        </a:rPr>
                        <a:t>Studio · 推荐</a:t>
                      </a:r>
                    </a:p>
                    <a:p>
                      <a:pPr marL="0" indent="0" algn="ctr">
                        <a:buNone/>
                      </a:pPr>
                      <a:r>
                        <a:rPr sz="1100">
                          <a:solidFill>
                            <a:srgbClr val="0F172A"/>
                          </a:solidFill>
                          <a:latin typeface="Arial"/>
                          <a:ea typeface="Arial"/>
                          <a:cs typeface="Arial"/>
                        </a:rPr>
                        <a:t>AUD 99 / 月</a:t>
                      </a:r>
                    </a:p>
                  </a:txBody>
                  <a:tcPr marL="73152" marR="73152" marT="36576" marB="36576" anchor="ctr">
                    <a:lnL w="12700" cmpd="sng">
                      <a:solidFill>
                        <a:srgbClr val="E2E8F0"/>
                      </a:solidFill>
                      <a:prstDash val="solid"/>
                    </a:lnL>
                    <a:lnR w="12700" cmpd="sng">
                      <a:solidFill>
                        <a:srgbClr val="E2E8F0"/>
                      </a:solidFill>
                      <a:prstDash val="solid"/>
                    </a:lnR>
                    <a:lnT w="12700" cmpd="sng">
                      <a:solidFill>
                        <a:srgbClr val="E2E8F0"/>
                      </a:solidFill>
                      <a:prstDash val="solid"/>
                    </a:lnT>
                    <a:lnB w="12700" cmpd="sng">
                      <a:solidFill>
                        <a:srgbClr val="E2E8F0"/>
                      </a:solidFill>
                      <a:prstDash val="solid"/>
                    </a:lnB>
                    <a:solidFill>
                      <a:srgbClr val="F59E0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Growth</a:t>
                      </a:r>
                    </a:p>
                    <a:p>
                      <a:pPr marL="0" indent="0" algn="ctr">
                        <a:buNone/>
                      </a:pPr>
                      <a:r>
                        <a:rPr sz="1100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AUD 199 / 月</a:t>
                      </a:r>
                    </a:p>
                  </a:txBody>
                  <a:tcPr marL="73152" marR="73152" marT="36576" marB="36576" anchor="ctr">
                    <a:lnL w="12700" cmpd="sng">
                      <a:solidFill>
                        <a:srgbClr val="E2E8F0"/>
                      </a:solidFill>
                      <a:prstDash val="solid"/>
                    </a:lnL>
                    <a:lnR w="12700" cmpd="sng">
                      <a:solidFill>
                        <a:srgbClr val="E2E8F0"/>
                      </a:solidFill>
                      <a:prstDash val="solid"/>
                    </a:lnR>
                    <a:lnT w="12700" cmpd="sng">
                      <a:solidFill>
                        <a:srgbClr val="E2E8F0"/>
                      </a:solidFill>
                      <a:prstDash val="solid"/>
                    </a:lnT>
                    <a:lnB w="12700" cmpd="sng">
                      <a:solidFill>
                        <a:srgbClr val="E2E8F0"/>
                      </a:solidFill>
                      <a:prstDash val="solid"/>
                    </a:lnB>
                    <a:solidFill>
                      <a:srgbClr val="0F172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sz="1150" b="1">
                          <a:solidFill>
                            <a:srgbClr val="1E293B"/>
                          </a:solidFill>
                          <a:latin typeface="Arial"/>
                          <a:ea typeface="Arial"/>
                          <a:cs typeface="Arial"/>
                        </a:rPr>
                        <a:t>学员上限</a:t>
                      </a:r>
                    </a:p>
                  </a:txBody>
                  <a:tcPr marL="73152" marR="73152" marT="36576" marB="36576" anchor="ctr">
                    <a:lnL w="12700" cmpd="sng">
                      <a:solidFill>
                        <a:srgbClr val="E2E8F0"/>
                      </a:solidFill>
                      <a:prstDash val="solid"/>
                    </a:lnL>
                    <a:lnR w="12700" cmpd="sng">
                      <a:solidFill>
                        <a:srgbClr val="E2E8F0"/>
                      </a:solidFill>
                      <a:prstDash val="solid"/>
                    </a:lnR>
                    <a:lnT w="12700" cmpd="sng">
                      <a:solidFill>
                        <a:srgbClr val="E2E8F0"/>
                      </a:solidFill>
                      <a:prstDash val="solid"/>
                    </a:lnT>
                    <a:lnB w="12700" cmpd="sng">
                      <a:solidFill>
                        <a:srgbClr val="E2E8F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sz="1150">
                          <a:solidFill>
                            <a:srgbClr val="475569"/>
                          </a:solidFill>
                          <a:latin typeface="Arial"/>
                          <a:ea typeface="Arial"/>
                          <a:cs typeface="Arial"/>
                        </a:rPr>
                        <a:t>100</a:t>
                      </a:r>
                    </a:p>
                  </a:txBody>
                  <a:tcPr marL="73152" marR="73152" marT="36576" marB="36576" anchor="ctr">
                    <a:lnL w="12700" cmpd="sng">
                      <a:solidFill>
                        <a:srgbClr val="E2E8F0"/>
                      </a:solidFill>
                      <a:prstDash val="solid"/>
                    </a:lnL>
                    <a:lnR w="12700" cmpd="sng">
                      <a:solidFill>
                        <a:srgbClr val="E2E8F0"/>
                      </a:solidFill>
                      <a:prstDash val="solid"/>
                    </a:lnR>
                    <a:lnT w="12700" cmpd="sng">
                      <a:solidFill>
                        <a:srgbClr val="E2E8F0"/>
                      </a:solidFill>
                      <a:prstDash val="solid"/>
                    </a:lnT>
                    <a:lnB w="12700" cmpd="sng">
                      <a:solidFill>
                        <a:srgbClr val="E2E8F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sz="1150" b="1">
                          <a:solidFill>
                            <a:srgbClr val="1E293B"/>
                          </a:solidFill>
                          <a:latin typeface="Arial"/>
                          <a:ea typeface="Arial"/>
                          <a:cs typeface="Arial"/>
                        </a:rPr>
                        <a:t>500</a:t>
                      </a:r>
                    </a:p>
                  </a:txBody>
                  <a:tcPr marL="73152" marR="73152" marT="36576" marB="36576" anchor="ctr">
                    <a:lnL w="12700" cmpd="sng">
                      <a:solidFill>
                        <a:srgbClr val="E2E8F0"/>
                      </a:solidFill>
                      <a:prstDash val="solid"/>
                    </a:lnL>
                    <a:lnR w="12700" cmpd="sng">
                      <a:solidFill>
                        <a:srgbClr val="E2E8F0"/>
                      </a:solidFill>
                      <a:prstDash val="solid"/>
                    </a:lnR>
                    <a:lnT w="12700" cmpd="sng">
                      <a:solidFill>
                        <a:srgbClr val="E2E8F0"/>
                      </a:solidFill>
                      <a:prstDash val="solid"/>
                    </a:lnT>
                    <a:lnB w="12700" cmpd="sng">
                      <a:solidFill>
                        <a:srgbClr val="E2E8F0"/>
                      </a:solidFill>
                      <a:prstDash val="solid"/>
                    </a:lnB>
                    <a:solidFill>
                      <a:srgbClr val="FFF8E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sz="1150">
                          <a:solidFill>
                            <a:srgbClr val="475569"/>
                          </a:solidFill>
                          <a:latin typeface="Arial"/>
                          <a:ea typeface="Arial"/>
                          <a:cs typeface="Arial"/>
                        </a:rPr>
                        <a:t>1500</a:t>
                      </a:r>
                    </a:p>
                  </a:txBody>
                  <a:tcPr marL="73152" marR="73152" marT="36576" marB="36576" anchor="ctr">
                    <a:lnL w="12700" cmpd="sng">
                      <a:solidFill>
                        <a:srgbClr val="E2E8F0"/>
                      </a:solidFill>
                      <a:prstDash val="solid"/>
                    </a:lnL>
                    <a:lnR w="12700" cmpd="sng">
                      <a:solidFill>
                        <a:srgbClr val="E2E8F0"/>
                      </a:solidFill>
                      <a:prstDash val="solid"/>
                    </a:lnR>
                    <a:lnT w="12700" cmpd="sng">
                      <a:solidFill>
                        <a:srgbClr val="E2E8F0"/>
                      </a:solidFill>
                      <a:prstDash val="solid"/>
                    </a:lnT>
                    <a:lnB w="12700" cmpd="sng">
                      <a:solidFill>
                        <a:srgbClr val="E2E8F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sz="1150" b="1">
                          <a:solidFill>
                            <a:srgbClr val="1E293B"/>
                          </a:solidFill>
                          <a:latin typeface="Arial"/>
                          <a:ea typeface="Arial"/>
                          <a:cs typeface="Arial"/>
                        </a:rPr>
                        <a:t>团队账号</a:t>
                      </a:r>
                    </a:p>
                  </a:txBody>
                  <a:tcPr marL="73152" marR="73152" marT="36576" marB="36576" anchor="ctr">
                    <a:lnL w="12700" cmpd="sng">
                      <a:solidFill>
                        <a:srgbClr val="E2E8F0"/>
                      </a:solidFill>
                      <a:prstDash val="solid"/>
                    </a:lnL>
                    <a:lnR w="12700" cmpd="sng">
                      <a:solidFill>
                        <a:srgbClr val="E2E8F0"/>
                      </a:solidFill>
                      <a:prstDash val="solid"/>
                    </a:lnR>
                    <a:lnT w="12700" cmpd="sng">
                      <a:solidFill>
                        <a:srgbClr val="E2E8F0"/>
                      </a:solidFill>
                      <a:prstDash val="solid"/>
                    </a:lnT>
                    <a:lnB w="12700" cmpd="sng">
                      <a:solidFill>
                        <a:srgbClr val="E2E8F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sz="1150">
                          <a:solidFill>
                            <a:srgbClr val="475569"/>
                          </a:solidFill>
                          <a:latin typeface="Arial"/>
                          <a:ea typeface="Arial"/>
                          <a:cs typeface="Arial"/>
                        </a:rPr>
                        <a:t>2</a:t>
                      </a:r>
                    </a:p>
                  </a:txBody>
                  <a:tcPr marL="73152" marR="73152" marT="36576" marB="36576" anchor="ctr">
                    <a:lnL w="12700" cmpd="sng">
                      <a:solidFill>
                        <a:srgbClr val="E2E8F0"/>
                      </a:solidFill>
                      <a:prstDash val="solid"/>
                    </a:lnL>
                    <a:lnR w="12700" cmpd="sng">
                      <a:solidFill>
                        <a:srgbClr val="E2E8F0"/>
                      </a:solidFill>
                      <a:prstDash val="solid"/>
                    </a:lnR>
                    <a:lnT w="12700" cmpd="sng">
                      <a:solidFill>
                        <a:srgbClr val="E2E8F0"/>
                      </a:solidFill>
                      <a:prstDash val="solid"/>
                    </a:lnT>
                    <a:lnB w="12700" cmpd="sng">
                      <a:solidFill>
                        <a:srgbClr val="E2E8F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sz="1150" b="1">
                          <a:solidFill>
                            <a:srgbClr val="1E293B"/>
                          </a:solidFill>
                          <a:latin typeface="Arial"/>
                          <a:ea typeface="Arial"/>
                          <a:cs typeface="Arial"/>
                        </a:rPr>
                        <a:t>8</a:t>
                      </a:r>
                    </a:p>
                  </a:txBody>
                  <a:tcPr marL="73152" marR="73152" marT="36576" marB="36576" anchor="ctr">
                    <a:lnL w="12700" cmpd="sng">
                      <a:solidFill>
                        <a:srgbClr val="E2E8F0"/>
                      </a:solidFill>
                      <a:prstDash val="solid"/>
                    </a:lnL>
                    <a:lnR w="12700" cmpd="sng">
                      <a:solidFill>
                        <a:srgbClr val="E2E8F0"/>
                      </a:solidFill>
                      <a:prstDash val="solid"/>
                    </a:lnR>
                    <a:lnT w="12700" cmpd="sng">
                      <a:solidFill>
                        <a:srgbClr val="E2E8F0"/>
                      </a:solidFill>
                      <a:prstDash val="solid"/>
                    </a:lnT>
                    <a:lnB w="12700" cmpd="sng">
                      <a:solidFill>
                        <a:srgbClr val="E2E8F0"/>
                      </a:solidFill>
                      <a:prstDash val="solid"/>
                    </a:lnB>
                    <a:solidFill>
                      <a:srgbClr val="FFF8E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sz="1150">
                          <a:solidFill>
                            <a:srgbClr val="475569"/>
                          </a:solidFill>
                          <a:latin typeface="Arial"/>
                          <a:ea typeface="Arial"/>
                          <a:cs typeface="Arial"/>
                        </a:rPr>
                        <a:t>20</a:t>
                      </a:r>
                    </a:p>
                  </a:txBody>
                  <a:tcPr marL="73152" marR="73152" marT="36576" marB="36576" anchor="ctr">
                    <a:lnL w="12700" cmpd="sng">
                      <a:solidFill>
                        <a:srgbClr val="E2E8F0"/>
                      </a:solidFill>
                      <a:prstDash val="solid"/>
                    </a:lnL>
                    <a:lnR w="12700" cmpd="sng">
                      <a:solidFill>
                        <a:srgbClr val="E2E8F0"/>
                      </a:solidFill>
                      <a:prstDash val="solid"/>
                    </a:lnR>
                    <a:lnT w="12700" cmpd="sng">
                      <a:solidFill>
                        <a:srgbClr val="E2E8F0"/>
                      </a:solidFill>
                      <a:prstDash val="solid"/>
                    </a:lnT>
                    <a:lnB w="12700" cmpd="sng">
                      <a:solidFill>
                        <a:srgbClr val="E2E8F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sz="1150" b="1">
                          <a:solidFill>
                            <a:srgbClr val="1E293B"/>
                          </a:solidFill>
                          <a:latin typeface="Arial"/>
                          <a:ea typeface="Arial"/>
                          <a:cs typeface="Arial"/>
                        </a:rPr>
                        <a:t>存储空间</a:t>
                      </a:r>
                    </a:p>
                  </a:txBody>
                  <a:tcPr marL="73152" marR="73152" marT="36576" marB="36576" anchor="ctr">
                    <a:lnL w="12700" cmpd="sng">
                      <a:solidFill>
                        <a:srgbClr val="E2E8F0"/>
                      </a:solidFill>
                      <a:prstDash val="solid"/>
                    </a:lnL>
                    <a:lnR w="12700" cmpd="sng">
                      <a:solidFill>
                        <a:srgbClr val="E2E8F0"/>
                      </a:solidFill>
                      <a:prstDash val="solid"/>
                    </a:lnR>
                    <a:lnT w="12700" cmpd="sng">
                      <a:solidFill>
                        <a:srgbClr val="E2E8F0"/>
                      </a:solidFill>
                      <a:prstDash val="solid"/>
                    </a:lnT>
                    <a:lnB w="12700" cmpd="sng">
                      <a:solidFill>
                        <a:srgbClr val="E2E8F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sz="1150">
                          <a:solidFill>
                            <a:srgbClr val="475569"/>
                          </a:solidFill>
                          <a:latin typeface="Arial"/>
                          <a:ea typeface="Arial"/>
                          <a:cs typeface="Arial"/>
                        </a:rPr>
                        <a:t>5 GB</a:t>
                      </a:r>
                    </a:p>
                  </a:txBody>
                  <a:tcPr marL="73152" marR="73152" marT="36576" marB="36576" anchor="ctr">
                    <a:lnL w="12700" cmpd="sng">
                      <a:solidFill>
                        <a:srgbClr val="E2E8F0"/>
                      </a:solidFill>
                      <a:prstDash val="solid"/>
                    </a:lnL>
                    <a:lnR w="12700" cmpd="sng">
                      <a:solidFill>
                        <a:srgbClr val="E2E8F0"/>
                      </a:solidFill>
                      <a:prstDash val="solid"/>
                    </a:lnR>
                    <a:lnT w="12700" cmpd="sng">
                      <a:solidFill>
                        <a:srgbClr val="E2E8F0"/>
                      </a:solidFill>
                      <a:prstDash val="solid"/>
                    </a:lnT>
                    <a:lnB w="12700" cmpd="sng">
                      <a:solidFill>
                        <a:srgbClr val="E2E8F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sz="1150" b="1">
                          <a:solidFill>
                            <a:srgbClr val="1E293B"/>
                          </a:solidFill>
                          <a:latin typeface="Arial"/>
                          <a:ea typeface="Arial"/>
                          <a:cs typeface="Arial"/>
                        </a:rPr>
                        <a:t>30 GB</a:t>
                      </a:r>
                    </a:p>
                  </a:txBody>
                  <a:tcPr marL="73152" marR="73152" marT="36576" marB="36576" anchor="ctr">
                    <a:lnL w="12700" cmpd="sng">
                      <a:solidFill>
                        <a:srgbClr val="E2E8F0"/>
                      </a:solidFill>
                      <a:prstDash val="solid"/>
                    </a:lnL>
                    <a:lnR w="12700" cmpd="sng">
                      <a:solidFill>
                        <a:srgbClr val="E2E8F0"/>
                      </a:solidFill>
                      <a:prstDash val="solid"/>
                    </a:lnR>
                    <a:lnT w="12700" cmpd="sng">
                      <a:solidFill>
                        <a:srgbClr val="E2E8F0"/>
                      </a:solidFill>
                      <a:prstDash val="solid"/>
                    </a:lnT>
                    <a:lnB w="12700" cmpd="sng">
                      <a:solidFill>
                        <a:srgbClr val="E2E8F0"/>
                      </a:solidFill>
                      <a:prstDash val="solid"/>
                    </a:lnB>
                    <a:solidFill>
                      <a:srgbClr val="FFF8E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sz="1150">
                          <a:solidFill>
                            <a:srgbClr val="475569"/>
                          </a:solidFill>
                          <a:latin typeface="Arial"/>
                          <a:ea typeface="Arial"/>
                          <a:cs typeface="Arial"/>
                        </a:rPr>
                        <a:t>100 GB</a:t>
                      </a:r>
                    </a:p>
                  </a:txBody>
                  <a:tcPr marL="73152" marR="73152" marT="36576" marB="36576" anchor="ctr">
                    <a:lnL w="12700" cmpd="sng">
                      <a:solidFill>
                        <a:srgbClr val="E2E8F0"/>
                      </a:solidFill>
                      <a:prstDash val="solid"/>
                    </a:lnL>
                    <a:lnR w="12700" cmpd="sng">
                      <a:solidFill>
                        <a:srgbClr val="E2E8F0"/>
                      </a:solidFill>
                      <a:prstDash val="solid"/>
                    </a:lnR>
                    <a:lnT w="12700" cmpd="sng">
                      <a:solidFill>
                        <a:srgbClr val="E2E8F0"/>
                      </a:solidFill>
                      <a:prstDash val="solid"/>
                    </a:lnT>
                    <a:lnB w="12700" cmpd="sng">
                      <a:solidFill>
                        <a:srgbClr val="E2E8F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sz="1150" b="1">
                          <a:solidFill>
                            <a:srgbClr val="1E293B"/>
                          </a:solidFill>
                          <a:latin typeface="Arial"/>
                          <a:ea typeface="Arial"/>
                          <a:cs typeface="Arial"/>
                        </a:rPr>
                        <a:t>公开官网 + 在线报名 + 作品集</a:t>
                      </a:r>
                    </a:p>
                  </a:txBody>
                  <a:tcPr marL="73152" marR="73152" marT="36576" marB="36576" anchor="ctr">
                    <a:lnL w="12700" cmpd="sng">
                      <a:solidFill>
                        <a:srgbClr val="E2E8F0"/>
                      </a:solidFill>
                      <a:prstDash val="solid"/>
                    </a:lnL>
                    <a:lnR w="12700" cmpd="sng">
                      <a:solidFill>
                        <a:srgbClr val="E2E8F0"/>
                      </a:solidFill>
                      <a:prstDash val="solid"/>
                    </a:lnR>
                    <a:lnT w="12700" cmpd="sng">
                      <a:solidFill>
                        <a:srgbClr val="E2E8F0"/>
                      </a:solidFill>
                      <a:prstDash val="solid"/>
                    </a:lnT>
                    <a:lnB w="12700" cmpd="sng">
                      <a:solidFill>
                        <a:srgbClr val="E2E8F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sz="1150">
                          <a:solidFill>
                            <a:srgbClr val="475569"/>
                          </a:solidFill>
                          <a:latin typeface="Arial"/>
                          <a:ea typeface="Arial"/>
                          <a:cs typeface="Arial"/>
                        </a:rPr>
                        <a:t>✓</a:t>
                      </a:r>
                    </a:p>
                  </a:txBody>
                  <a:tcPr marL="73152" marR="73152" marT="36576" marB="36576" anchor="ctr">
                    <a:lnL w="12700" cmpd="sng">
                      <a:solidFill>
                        <a:srgbClr val="E2E8F0"/>
                      </a:solidFill>
                      <a:prstDash val="solid"/>
                    </a:lnL>
                    <a:lnR w="12700" cmpd="sng">
                      <a:solidFill>
                        <a:srgbClr val="E2E8F0"/>
                      </a:solidFill>
                      <a:prstDash val="solid"/>
                    </a:lnR>
                    <a:lnT w="12700" cmpd="sng">
                      <a:solidFill>
                        <a:srgbClr val="E2E8F0"/>
                      </a:solidFill>
                      <a:prstDash val="solid"/>
                    </a:lnT>
                    <a:lnB w="12700" cmpd="sng">
                      <a:solidFill>
                        <a:srgbClr val="E2E8F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sz="1150" b="1">
                          <a:solidFill>
                            <a:srgbClr val="1E293B"/>
                          </a:solidFill>
                          <a:latin typeface="Arial"/>
                          <a:ea typeface="Arial"/>
                          <a:cs typeface="Arial"/>
                        </a:rPr>
                        <a:t>✓</a:t>
                      </a:r>
                    </a:p>
                  </a:txBody>
                  <a:tcPr marL="73152" marR="73152" marT="36576" marB="36576" anchor="ctr">
                    <a:lnL w="12700" cmpd="sng">
                      <a:solidFill>
                        <a:srgbClr val="E2E8F0"/>
                      </a:solidFill>
                      <a:prstDash val="solid"/>
                    </a:lnL>
                    <a:lnR w="12700" cmpd="sng">
                      <a:solidFill>
                        <a:srgbClr val="E2E8F0"/>
                      </a:solidFill>
                      <a:prstDash val="solid"/>
                    </a:lnR>
                    <a:lnT w="12700" cmpd="sng">
                      <a:solidFill>
                        <a:srgbClr val="E2E8F0"/>
                      </a:solidFill>
                      <a:prstDash val="solid"/>
                    </a:lnT>
                    <a:lnB w="12700" cmpd="sng">
                      <a:solidFill>
                        <a:srgbClr val="E2E8F0"/>
                      </a:solidFill>
                      <a:prstDash val="solid"/>
                    </a:lnB>
                    <a:solidFill>
                      <a:srgbClr val="FFF8E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sz="1150">
                          <a:solidFill>
                            <a:srgbClr val="475569"/>
                          </a:solidFill>
                          <a:latin typeface="Arial"/>
                          <a:ea typeface="Arial"/>
                          <a:cs typeface="Arial"/>
                        </a:rPr>
                        <a:t>✓</a:t>
                      </a:r>
                    </a:p>
                  </a:txBody>
                  <a:tcPr marL="73152" marR="73152" marT="36576" marB="36576" anchor="ctr">
                    <a:lnL w="12700" cmpd="sng">
                      <a:solidFill>
                        <a:srgbClr val="E2E8F0"/>
                      </a:solidFill>
                      <a:prstDash val="solid"/>
                    </a:lnL>
                    <a:lnR w="12700" cmpd="sng">
                      <a:solidFill>
                        <a:srgbClr val="E2E8F0"/>
                      </a:solidFill>
                      <a:prstDash val="solid"/>
                    </a:lnR>
                    <a:lnT w="12700" cmpd="sng">
                      <a:solidFill>
                        <a:srgbClr val="E2E8F0"/>
                      </a:solidFill>
                      <a:prstDash val="solid"/>
                    </a:lnT>
                    <a:lnB w="12700" cmpd="sng">
                      <a:solidFill>
                        <a:srgbClr val="E2E8F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sz="1150" b="1">
                          <a:solidFill>
                            <a:srgbClr val="1E293B"/>
                          </a:solidFill>
                          <a:latin typeface="Arial"/>
                          <a:ea typeface="Arial"/>
                          <a:cs typeface="Arial"/>
                        </a:rPr>
                        <a:t>邮件通知模板</a:t>
                      </a:r>
                    </a:p>
                  </a:txBody>
                  <a:tcPr marL="73152" marR="73152" marT="36576" marB="36576" anchor="ctr">
                    <a:lnL w="12700" cmpd="sng">
                      <a:solidFill>
                        <a:srgbClr val="E2E8F0"/>
                      </a:solidFill>
                      <a:prstDash val="solid"/>
                    </a:lnL>
                    <a:lnR w="12700" cmpd="sng">
                      <a:solidFill>
                        <a:srgbClr val="E2E8F0"/>
                      </a:solidFill>
                      <a:prstDash val="solid"/>
                    </a:lnR>
                    <a:lnT w="12700" cmpd="sng">
                      <a:solidFill>
                        <a:srgbClr val="E2E8F0"/>
                      </a:solidFill>
                      <a:prstDash val="solid"/>
                    </a:lnT>
                    <a:lnB w="12700" cmpd="sng">
                      <a:solidFill>
                        <a:srgbClr val="E2E8F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sz="1150">
                          <a:solidFill>
                            <a:srgbClr val="CBD5E1"/>
                          </a:solidFill>
                          <a:latin typeface="Arial"/>
                          <a:ea typeface="Arial"/>
                          <a:cs typeface="Arial"/>
                        </a:rPr>
                        <a:t>—</a:t>
                      </a:r>
                    </a:p>
                  </a:txBody>
                  <a:tcPr marL="73152" marR="73152" marT="36576" marB="36576" anchor="ctr">
                    <a:lnL w="12700" cmpd="sng">
                      <a:solidFill>
                        <a:srgbClr val="E2E8F0"/>
                      </a:solidFill>
                      <a:prstDash val="solid"/>
                    </a:lnL>
                    <a:lnR w="12700" cmpd="sng">
                      <a:solidFill>
                        <a:srgbClr val="E2E8F0"/>
                      </a:solidFill>
                      <a:prstDash val="solid"/>
                    </a:lnR>
                    <a:lnT w="12700" cmpd="sng">
                      <a:solidFill>
                        <a:srgbClr val="E2E8F0"/>
                      </a:solidFill>
                      <a:prstDash val="solid"/>
                    </a:lnT>
                    <a:lnB w="12700" cmpd="sng">
                      <a:solidFill>
                        <a:srgbClr val="E2E8F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sz="1150" b="1">
                          <a:solidFill>
                            <a:srgbClr val="1E293B"/>
                          </a:solidFill>
                          <a:latin typeface="Arial"/>
                          <a:ea typeface="Arial"/>
                          <a:cs typeface="Arial"/>
                        </a:rPr>
                        <a:t>✓</a:t>
                      </a:r>
                    </a:p>
                  </a:txBody>
                  <a:tcPr marL="73152" marR="73152" marT="36576" marB="36576" anchor="ctr">
                    <a:lnL w="12700" cmpd="sng">
                      <a:solidFill>
                        <a:srgbClr val="E2E8F0"/>
                      </a:solidFill>
                      <a:prstDash val="solid"/>
                    </a:lnL>
                    <a:lnR w="12700" cmpd="sng">
                      <a:solidFill>
                        <a:srgbClr val="E2E8F0"/>
                      </a:solidFill>
                      <a:prstDash val="solid"/>
                    </a:lnR>
                    <a:lnT w="12700" cmpd="sng">
                      <a:solidFill>
                        <a:srgbClr val="E2E8F0"/>
                      </a:solidFill>
                      <a:prstDash val="solid"/>
                    </a:lnT>
                    <a:lnB w="12700" cmpd="sng">
                      <a:solidFill>
                        <a:srgbClr val="E2E8F0"/>
                      </a:solidFill>
                      <a:prstDash val="solid"/>
                    </a:lnB>
                    <a:solidFill>
                      <a:srgbClr val="FFF8E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sz="1150">
                          <a:solidFill>
                            <a:srgbClr val="475569"/>
                          </a:solidFill>
                          <a:latin typeface="Arial"/>
                          <a:ea typeface="Arial"/>
                          <a:cs typeface="Arial"/>
                        </a:rPr>
                        <a:t>✓</a:t>
                      </a:r>
                    </a:p>
                  </a:txBody>
                  <a:tcPr marL="73152" marR="73152" marT="36576" marB="36576" anchor="ctr">
                    <a:lnL w="12700" cmpd="sng">
                      <a:solidFill>
                        <a:srgbClr val="E2E8F0"/>
                      </a:solidFill>
                      <a:prstDash val="solid"/>
                    </a:lnL>
                    <a:lnR w="12700" cmpd="sng">
                      <a:solidFill>
                        <a:srgbClr val="E2E8F0"/>
                      </a:solidFill>
                      <a:prstDash val="solid"/>
                    </a:lnR>
                    <a:lnT w="12700" cmpd="sng">
                      <a:solidFill>
                        <a:srgbClr val="E2E8F0"/>
                      </a:solidFill>
                      <a:prstDash val="solid"/>
                    </a:lnT>
                    <a:lnB w="12700" cmpd="sng">
                      <a:solidFill>
                        <a:srgbClr val="E2E8F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sz="1150" b="1">
                          <a:solidFill>
                            <a:srgbClr val="1E293B"/>
                          </a:solidFill>
                          <a:latin typeface="Arial"/>
                          <a:ea typeface="Arial"/>
                          <a:cs typeface="Arial"/>
                        </a:rPr>
                        <a:t>数据导出</a:t>
                      </a:r>
                    </a:p>
                  </a:txBody>
                  <a:tcPr marL="73152" marR="73152" marT="36576" marB="36576" anchor="ctr">
                    <a:lnL w="12700" cmpd="sng">
                      <a:solidFill>
                        <a:srgbClr val="E2E8F0"/>
                      </a:solidFill>
                      <a:prstDash val="solid"/>
                    </a:lnL>
                    <a:lnR w="12700" cmpd="sng">
                      <a:solidFill>
                        <a:srgbClr val="E2E8F0"/>
                      </a:solidFill>
                      <a:prstDash val="solid"/>
                    </a:lnR>
                    <a:lnT w="12700" cmpd="sng">
                      <a:solidFill>
                        <a:srgbClr val="E2E8F0"/>
                      </a:solidFill>
                      <a:prstDash val="solid"/>
                    </a:lnT>
                    <a:lnB w="12700" cmpd="sng">
                      <a:solidFill>
                        <a:srgbClr val="E2E8F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sz="1150">
                          <a:solidFill>
                            <a:srgbClr val="CBD5E1"/>
                          </a:solidFill>
                          <a:latin typeface="Arial"/>
                          <a:ea typeface="Arial"/>
                          <a:cs typeface="Arial"/>
                        </a:rPr>
                        <a:t>—</a:t>
                      </a:r>
                    </a:p>
                  </a:txBody>
                  <a:tcPr marL="73152" marR="73152" marT="36576" marB="36576" anchor="ctr">
                    <a:lnL w="12700" cmpd="sng">
                      <a:solidFill>
                        <a:srgbClr val="E2E8F0"/>
                      </a:solidFill>
                      <a:prstDash val="solid"/>
                    </a:lnL>
                    <a:lnR w="12700" cmpd="sng">
                      <a:solidFill>
                        <a:srgbClr val="E2E8F0"/>
                      </a:solidFill>
                      <a:prstDash val="solid"/>
                    </a:lnR>
                    <a:lnT w="12700" cmpd="sng">
                      <a:solidFill>
                        <a:srgbClr val="E2E8F0"/>
                      </a:solidFill>
                      <a:prstDash val="solid"/>
                    </a:lnT>
                    <a:lnB w="12700" cmpd="sng">
                      <a:solidFill>
                        <a:srgbClr val="E2E8F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sz="1150" b="1">
                          <a:solidFill>
                            <a:srgbClr val="1E293B"/>
                          </a:solidFill>
                          <a:latin typeface="Arial"/>
                          <a:ea typeface="Arial"/>
                          <a:cs typeface="Arial"/>
                        </a:rPr>
                        <a:t>✓</a:t>
                      </a:r>
                    </a:p>
                  </a:txBody>
                  <a:tcPr marL="73152" marR="73152" marT="36576" marB="36576" anchor="ctr">
                    <a:lnL w="12700" cmpd="sng">
                      <a:solidFill>
                        <a:srgbClr val="E2E8F0"/>
                      </a:solidFill>
                      <a:prstDash val="solid"/>
                    </a:lnL>
                    <a:lnR w="12700" cmpd="sng">
                      <a:solidFill>
                        <a:srgbClr val="E2E8F0"/>
                      </a:solidFill>
                      <a:prstDash val="solid"/>
                    </a:lnR>
                    <a:lnT w="12700" cmpd="sng">
                      <a:solidFill>
                        <a:srgbClr val="E2E8F0"/>
                      </a:solidFill>
                      <a:prstDash val="solid"/>
                    </a:lnT>
                    <a:lnB w="12700" cmpd="sng">
                      <a:solidFill>
                        <a:srgbClr val="E2E8F0"/>
                      </a:solidFill>
                      <a:prstDash val="solid"/>
                    </a:lnB>
                    <a:solidFill>
                      <a:srgbClr val="FFF8E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sz="1150">
                          <a:solidFill>
                            <a:srgbClr val="475569"/>
                          </a:solidFill>
                          <a:latin typeface="Arial"/>
                          <a:ea typeface="Arial"/>
                          <a:cs typeface="Arial"/>
                        </a:rPr>
                        <a:t>✓</a:t>
                      </a:r>
                    </a:p>
                  </a:txBody>
                  <a:tcPr marL="73152" marR="73152" marT="36576" marB="36576" anchor="ctr">
                    <a:lnL w="12700" cmpd="sng">
                      <a:solidFill>
                        <a:srgbClr val="E2E8F0"/>
                      </a:solidFill>
                      <a:prstDash val="solid"/>
                    </a:lnL>
                    <a:lnR w="12700" cmpd="sng">
                      <a:solidFill>
                        <a:srgbClr val="E2E8F0"/>
                      </a:solidFill>
                      <a:prstDash val="solid"/>
                    </a:lnR>
                    <a:lnT w="12700" cmpd="sng">
                      <a:solidFill>
                        <a:srgbClr val="E2E8F0"/>
                      </a:solidFill>
                      <a:prstDash val="solid"/>
                    </a:lnT>
                    <a:lnB w="12700" cmpd="sng">
                      <a:solidFill>
                        <a:srgbClr val="E2E8F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sz="1150" b="1">
                          <a:solidFill>
                            <a:srgbClr val="1E293B"/>
                          </a:solidFill>
                          <a:latin typeface="Arial"/>
                          <a:ea typeface="Arial"/>
                          <a:cs typeface="Arial"/>
                        </a:rPr>
                        <a:t>优先支持</a:t>
                      </a:r>
                    </a:p>
                  </a:txBody>
                  <a:tcPr marL="73152" marR="73152" marT="36576" marB="36576" anchor="ctr">
                    <a:lnL w="12700" cmpd="sng">
                      <a:solidFill>
                        <a:srgbClr val="E2E8F0"/>
                      </a:solidFill>
                      <a:prstDash val="solid"/>
                    </a:lnL>
                    <a:lnR w="12700" cmpd="sng">
                      <a:solidFill>
                        <a:srgbClr val="E2E8F0"/>
                      </a:solidFill>
                      <a:prstDash val="solid"/>
                    </a:lnR>
                    <a:lnT w="12700" cmpd="sng">
                      <a:solidFill>
                        <a:srgbClr val="E2E8F0"/>
                      </a:solidFill>
                      <a:prstDash val="solid"/>
                    </a:lnT>
                    <a:lnB w="12700" cmpd="sng">
                      <a:solidFill>
                        <a:srgbClr val="E2E8F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sz="1150">
                          <a:solidFill>
                            <a:srgbClr val="CBD5E1"/>
                          </a:solidFill>
                          <a:latin typeface="Arial"/>
                          <a:ea typeface="Arial"/>
                          <a:cs typeface="Arial"/>
                        </a:rPr>
                        <a:t>—</a:t>
                      </a:r>
                    </a:p>
                  </a:txBody>
                  <a:tcPr marL="73152" marR="73152" marT="36576" marB="36576" anchor="ctr">
                    <a:lnL w="12700" cmpd="sng">
                      <a:solidFill>
                        <a:srgbClr val="E2E8F0"/>
                      </a:solidFill>
                      <a:prstDash val="solid"/>
                    </a:lnL>
                    <a:lnR w="12700" cmpd="sng">
                      <a:solidFill>
                        <a:srgbClr val="E2E8F0"/>
                      </a:solidFill>
                      <a:prstDash val="solid"/>
                    </a:lnR>
                    <a:lnT w="12700" cmpd="sng">
                      <a:solidFill>
                        <a:srgbClr val="E2E8F0"/>
                      </a:solidFill>
                      <a:prstDash val="solid"/>
                    </a:lnT>
                    <a:lnB w="12700" cmpd="sng">
                      <a:solidFill>
                        <a:srgbClr val="E2E8F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sz="1150" b="1">
                          <a:solidFill>
                            <a:srgbClr val="CBD5E1"/>
                          </a:solidFill>
                          <a:latin typeface="Arial"/>
                          <a:ea typeface="Arial"/>
                          <a:cs typeface="Arial"/>
                        </a:rPr>
                        <a:t>—</a:t>
                      </a:r>
                    </a:p>
                  </a:txBody>
                  <a:tcPr marL="73152" marR="73152" marT="36576" marB="36576" anchor="ctr">
                    <a:lnL w="12700" cmpd="sng">
                      <a:solidFill>
                        <a:srgbClr val="E2E8F0"/>
                      </a:solidFill>
                      <a:prstDash val="solid"/>
                    </a:lnL>
                    <a:lnR w="12700" cmpd="sng">
                      <a:solidFill>
                        <a:srgbClr val="E2E8F0"/>
                      </a:solidFill>
                      <a:prstDash val="solid"/>
                    </a:lnR>
                    <a:lnT w="12700" cmpd="sng">
                      <a:solidFill>
                        <a:srgbClr val="E2E8F0"/>
                      </a:solidFill>
                      <a:prstDash val="solid"/>
                    </a:lnT>
                    <a:lnB w="12700" cmpd="sng">
                      <a:solidFill>
                        <a:srgbClr val="E2E8F0"/>
                      </a:solidFill>
                      <a:prstDash val="solid"/>
                    </a:lnB>
                    <a:solidFill>
                      <a:srgbClr val="FFF8E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sz="1150">
                          <a:solidFill>
                            <a:srgbClr val="475569"/>
                          </a:solidFill>
                          <a:latin typeface="Arial"/>
                          <a:ea typeface="Arial"/>
                          <a:cs typeface="Arial"/>
                        </a:rPr>
                        <a:t>✓</a:t>
                      </a:r>
                    </a:p>
                  </a:txBody>
                  <a:tcPr marL="73152" marR="73152" marT="36576" marB="36576" anchor="ctr">
                    <a:lnL w="12700" cmpd="sng">
                      <a:solidFill>
                        <a:srgbClr val="E2E8F0"/>
                      </a:solidFill>
                      <a:prstDash val="solid"/>
                    </a:lnL>
                    <a:lnR w="12700" cmpd="sng">
                      <a:solidFill>
                        <a:srgbClr val="E2E8F0"/>
                      </a:solidFill>
                      <a:prstDash val="solid"/>
                    </a:lnR>
                    <a:lnT w="12700" cmpd="sng">
                      <a:solidFill>
                        <a:srgbClr val="E2E8F0"/>
                      </a:solidFill>
                      <a:prstDash val="solid"/>
                    </a:lnT>
                    <a:lnB w="12700" cmpd="sng">
                      <a:solidFill>
                        <a:srgbClr val="E2E8F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sz="1150" b="1">
                          <a:solidFill>
                            <a:srgbClr val="1E293B"/>
                          </a:solidFill>
                          <a:latin typeface="Arial"/>
                          <a:ea typeface="Arial"/>
                          <a:cs typeface="Arial"/>
                        </a:rPr>
                        <a:t>适合</a:t>
                      </a:r>
                    </a:p>
                  </a:txBody>
                  <a:tcPr marL="73152" marR="73152" marT="36576" marB="36576" anchor="ctr">
                    <a:lnL w="12700" cmpd="sng">
                      <a:solidFill>
                        <a:srgbClr val="E2E8F0"/>
                      </a:solidFill>
                      <a:prstDash val="solid"/>
                    </a:lnL>
                    <a:lnR w="12700" cmpd="sng">
                      <a:solidFill>
                        <a:srgbClr val="E2E8F0"/>
                      </a:solidFill>
                      <a:prstDash val="solid"/>
                    </a:lnR>
                    <a:lnT w="12700" cmpd="sng">
                      <a:solidFill>
                        <a:srgbClr val="E2E8F0"/>
                      </a:solidFill>
                      <a:prstDash val="solid"/>
                    </a:lnT>
                    <a:lnB w="12700" cmpd="sng">
                      <a:solidFill>
                        <a:srgbClr val="E2E8F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sz="1150">
                          <a:solidFill>
                            <a:srgbClr val="475569"/>
                          </a:solidFill>
                          <a:latin typeface="Arial"/>
                          <a:ea typeface="Arial"/>
                          <a:cs typeface="Arial"/>
                        </a:rPr>
                        <a:t>个人老师 / 起步工作室</a:t>
                      </a:r>
                    </a:p>
                  </a:txBody>
                  <a:tcPr marL="73152" marR="73152" marT="36576" marB="36576" anchor="ctr">
                    <a:lnL w="12700" cmpd="sng">
                      <a:solidFill>
                        <a:srgbClr val="E2E8F0"/>
                      </a:solidFill>
                      <a:prstDash val="solid"/>
                    </a:lnL>
                    <a:lnR w="12700" cmpd="sng">
                      <a:solidFill>
                        <a:srgbClr val="E2E8F0"/>
                      </a:solidFill>
                      <a:prstDash val="solid"/>
                    </a:lnR>
                    <a:lnT w="12700" cmpd="sng">
                      <a:solidFill>
                        <a:srgbClr val="E2E8F0"/>
                      </a:solidFill>
                      <a:prstDash val="solid"/>
                    </a:lnT>
                    <a:lnB w="12700" cmpd="sng">
                      <a:solidFill>
                        <a:srgbClr val="E2E8F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sz="1150" b="1">
                          <a:solidFill>
                            <a:srgbClr val="1E293B"/>
                          </a:solidFill>
                          <a:latin typeface="Arial"/>
                          <a:ea typeface="Arial"/>
                          <a:cs typeface="Arial"/>
                        </a:rPr>
                        <a:t>主力档 · 成熟单店</a:t>
                      </a:r>
                    </a:p>
                  </a:txBody>
                  <a:tcPr marL="73152" marR="73152" marT="36576" marB="36576" anchor="ctr">
                    <a:lnL w="12700" cmpd="sng">
                      <a:solidFill>
                        <a:srgbClr val="E2E8F0"/>
                      </a:solidFill>
                      <a:prstDash val="solid"/>
                    </a:lnL>
                    <a:lnR w="12700" cmpd="sng">
                      <a:solidFill>
                        <a:srgbClr val="E2E8F0"/>
                      </a:solidFill>
                      <a:prstDash val="solid"/>
                    </a:lnR>
                    <a:lnT w="12700" cmpd="sng">
                      <a:solidFill>
                        <a:srgbClr val="E2E8F0"/>
                      </a:solidFill>
                      <a:prstDash val="solid"/>
                    </a:lnT>
                    <a:lnB w="12700" cmpd="sng">
                      <a:solidFill>
                        <a:srgbClr val="E2E8F0"/>
                      </a:solidFill>
                      <a:prstDash val="solid"/>
                    </a:lnB>
                    <a:solidFill>
                      <a:srgbClr val="FFF8E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sz="1150">
                          <a:solidFill>
                            <a:srgbClr val="475569"/>
                          </a:solidFill>
                          <a:latin typeface="Arial"/>
                          <a:ea typeface="Arial"/>
                          <a:cs typeface="Arial"/>
                        </a:rPr>
                        <a:t>多校区 / 扩张期</a:t>
                      </a:r>
                    </a:p>
                  </a:txBody>
                  <a:tcPr marL="73152" marR="73152" marT="36576" marB="36576" anchor="ctr">
                    <a:lnL w="12700" cmpd="sng">
                      <a:solidFill>
                        <a:srgbClr val="E2E8F0"/>
                      </a:solidFill>
                      <a:prstDash val="solid"/>
                    </a:lnL>
                    <a:lnR w="12700" cmpd="sng">
                      <a:solidFill>
                        <a:srgbClr val="E2E8F0"/>
                      </a:solidFill>
                      <a:prstDash val="solid"/>
                    </a:lnR>
                    <a:lnT w="12700" cmpd="sng">
                      <a:solidFill>
                        <a:srgbClr val="E2E8F0"/>
                      </a:solidFill>
                      <a:prstDash val="solid"/>
                    </a:lnT>
                    <a:lnB w="12700" cmpd="sng">
                      <a:solidFill>
                        <a:srgbClr val="E2E8F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Shape 4">
            <a:extLst xmlns:a="http://schemas.openxmlformats.org/drawingml/2006/main">
              <a:ext uri="{FF2B5EF4-FFF2-40B4-BE49-F238E27FC236}">
                <a16:creationId xmlns:a16="http://schemas.microsoft.com/office/drawing/2014/main" id="{8AEED542-B489-4CA9-B2CE-DA35F81255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5870448"/>
            <a:ext cx="10543032" cy="713232"/>
          </a:xfrm>
          <a:prstGeom xmlns:a="http://schemas.openxmlformats.org/drawingml/2006/main" prst="roundRect">
            <a:avLst>
              <a:gd name="adj" fmla="val 11538"/>
            </a:avLst>
          </a:prstGeom>
          <a:solidFill xmlns:a="http://schemas.openxmlformats.org/drawingml/2006/main">
            <a:srgbClr val="FEF3C7"/>
          </a:solidFill>
        </p:spPr>
      </p:sp>
      <p:sp>
        <p:nvSpPr>
          <p:cNvPr id="8" name="Text 5">
            <a:extLst xmlns:a="http://schemas.openxmlformats.org/drawingml/2006/main">
              <a:ext uri="{FF2B5EF4-FFF2-40B4-BE49-F238E27FC236}">
                <a16:creationId xmlns:a16="http://schemas.microsoft.com/office/drawing/2014/main" id="{042C0D62-F61A-4A8C-9CB3-780EEB71F2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560" y="5870448"/>
            <a:ext cx="10058400" cy="7132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50" b="1">
                <a:solidFill>
                  <a:srgbClr val="78350F"/>
                </a:solidFill>
                <a:latin typeface="Arial"/>
                <a:ea typeface="Arial"/>
                <a:cs typeface="Arial"/>
              </a:rPr>
              <a:t>一次性 Setup 服务费 AUD 299–999:</a:t>
            </a:r>
            <a:r>
              <a:rPr sz="1150">
                <a:solidFill>
                  <a:srgbClr val="92400E"/>
                </a:solidFill>
                <a:latin typeface="Arial"/>
                <a:ea typeface="Arial"/>
                <a:cs typeface="Arial"/>
              </a:rPr>
              <a:t>  品牌配置 + 数据迁移 + 团队培训,按机构规模与迁移量一次报价,上线即可用。</a:t>
            </a:r>
          </a:p>
        </p:txBody>
      </p:sp>
    </p:spTree>
    <p:extLst>
      <p:ext uri="{BB962C8B-B14F-4D97-AF65-F5344CB8AC3E}">
        <p14:creationId xmlns:p14="http://schemas.microsoft.com/office/powerpoint/2010/main" val="621846227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FCB11BE3-088C-4B61-8CA2-ACEB0A3D6B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457200"/>
            <a:ext cx="182880" cy="182880"/>
          </a:xfrm>
          <a:prstGeom xmlns:a="http://schemas.openxmlformats.org/drawingml/2006/main" prst="star4">
            <a:avLst/>
          </a:prstGeom>
          <a:solidFill xmlns:a="http://schemas.openxmlformats.org/drawingml/2006/main">
            <a:srgbClr val="F5B335"/>
          </a:solidFill>
        </p:spPr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E0B233D1-4BDA-4DD5-9B73-32F8424CD6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" y="384048"/>
            <a:ext cx="731520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b="1">
                <a:solidFill>
                  <a:srgbClr val="64748B"/>
                </a:solidFill>
                <a:latin typeface="Arial"/>
                <a:ea typeface="Arial"/>
                <a:cs typeface="Arial"/>
              </a:rPr>
              <a:t>上线流程</a:t>
            </a:r>
          </a:p>
        </p:txBody>
      </p:sp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4FEEBD63-040E-475A-AFC9-7E3A3EE43A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731520"/>
            <a:ext cx="11064240" cy="56692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700" b="1">
                <a:solidFill>
                  <a:srgbClr val="0E1729"/>
                </a:solidFill>
                <a:latin typeface="Arial"/>
                <a:ea typeface="Arial"/>
                <a:cs typeface="Arial"/>
              </a:rPr>
              <a:t>从签约到开幕,只需四步</a:t>
            </a:r>
          </a:p>
        </p:txBody>
      </p:sp>
      <p:sp>
        <p:nvSpPr>
          <p:cNvPr id="5" name="Text 3">
            <a:extLst xmlns:a="http://schemas.openxmlformats.org/drawingml/2006/main">
              <a:ext uri="{FF2B5EF4-FFF2-40B4-BE49-F238E27FC236}">
                <a16:creationId xmlns:a16="http://schemas.microsoft.com/office/drawing/2014/main" id="{096B3ECB-8DDF-46B6-8C3A-D34CDAAC78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473952"/>
            <a:ext cx="54864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1000">
                <a:solidFill>
                  <a:srgbClr val="94A3B8"/>
                </a:solidFill>
                <a:latin typeface="Arial"/>
                <a:ea typeface="Arial"/>
                <a:cs typeface="Arial"/>
              </a:rPr>
              <a:t>12</a:t>
            </a:r>
          </a:p>
        </p:txBody>
      </p:sp>
      <p:sp>
        <p:nvSpPr>
          <p:cNvPr id="6" name="Shape 4">
            <a:extLst xmlns:a="http://schemas.openxmlformats.org/drawingml/2006/main">
              <a:ext uri="{FF2B5EF4-FFF2-40B4-BE49-F238E27FC236}">
                <a16:creationId xmlns:a16="http://schemas.microsoft.com/office/drawing/2014/main" id="{164CBF29-5BF6-4966-80F5-2F498C64D6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37944" y="2103120"/>
            <a:ext cx="850392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E2E8F0"/>
            </a:solidFill>
            <a:prstDash val="solid"/>
          </a:ln>
        </p:spPr>
      </p:sp>
      <p:sp>
        <p:nvSpPr>
          <p:cNvPr id="7" name="Shape 5">
            <a:extLst xmlns:a="http://schemas.openxmlformats.org/drawingml/2006/main">
              <a:ext uri="{FF2B5EF4-FFF2-40B4-BE49-F238E27FC236}">
                <a16:creationId xmlns:a16="http://schemas.microsoft.com/office/drawing/2014/main" id="{4773C7E8-7ECF-4228-A73F-57901CA026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0200" y="1865376"/>
            <a:ext cx="475488" cy="47548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E1729"/>
          </a:solidFill>
        </p:spPr>
      </p:sp>
      <p:sp>
        <p:nvSpPr>
          <p:cNvPr id="8" name="Text 6">
            <a:extLst xmlns:a="http://schemas.openxmlformats.org/drawingml/2006/main">
              <a:ext uri="{FF2B5EF4-FFF2-40B4-BE49-F238E27FC236}">
                <a16:creationId xmlns:a16="http://schemas.microsoft.com/office/drawing/2014/main" id="{537878B1-00F1-4105-B01F-C9B8B95C0B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0200" y="1865376"/>
            <a:ext cx="475488" cy="47548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6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9" name="Shape 7">
            <a:extLst xmlns:a="http://schemas.openxmlformats.org/drawingml/2006/main">
              <a:ext uri="{FF2B5EF4-FFF2-40B4-BE49-F238E27FC236}">
                <a16:creationId xmlns:a16="http://schemas.microsoft.com/office/drawing/2014/main" id="{4583EE6E-B6C7-4CC8-883C-730C8F49CE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2468880"/>
            <a:ext cx="2578608" cy="2331720"/>
          </a:xfrm>
          <a:prstGeom xmlns:a="http://schemas.openxmlformats.org/drawingml/2006/main" prst="roundRect">
            <a:avLst>
              <a:gd name="adj" fmla="val 3529"/>
            </a:avLst>
          </a:prstGeom>
          <a:solidFill xmlns:a="http://schemas.openxmlformats.org/drawingml/2006/main">
            <a:srgbClr val="FBFAF7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10" name="Shape 8">
            <a:extLst xmlns:a="http://schemas.openxmlformats.org/drawingml/2006/main">
              <a:ext uri="{FF2B5EF4-FFF2-40B4-BE49-F238E27FC236}">
                <a16:creationId xmlns:a16="http://schemas.microsoft.com/office/drawing/2014/main" id="{20501B29-46C4-4A2D-B6D2-5C6C35BC42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3624" y="2761488"/>
            <a:ext cx="548640" cy="548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E1729"/>
          </a:solidFill>
        </p:spPr>
      </p:sp>
      <p:pic>
        <p:nvPicPr>
          <p:cNvPr id="50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f877e28735e4ffe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706270" y="2904134"/>
            <a:ext cx="263347" cy="263347"/>
          </a:xfrm>
          <a:prstGeom xmlns:a="http://schemas.openxmlformats.org/drawingml/2006/main" prst="rect">
            <a:avLst/>
          </a:prstGeom>
        </p:spPr>
      </p:pic>
      <p:sp>
        <p:nvSpPr>
          <p:cNvPr id="12" name="Text 9">
            <a:extLst xmlns:a="http://schemas.openxmlformats.org/drawingml/2006/main">
              <a:ext uri="{FF2B5EF4-FFF2-40B4-BE49-F238E27FC236}">
                <a16:creationId xmlns:a16="http://schemas.microsoft.com/office/drawing/2014/main" id="{E3759DFA-1E9F-40D1-84CF-38B6E6228F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3429000"/>
            <a:ext cx="2212848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500" b="1">
                <a:solidFill>
                  <a:srgbClr val="0E1729"/>
                </a:solidFill>
                <a:latin typeface="Arial"/>
                <a:ea typeface="Arial"/>
                <a:cs typeface="Arial"/>
              </a:rPr>
              <a:t>品牌配置</a:t>
            </a:r>
          </a:p>
        </p:txBody>
      </p:sp>
      <p:sp>
        <p:nvSpPr>
          <p:cNvPr id="13" name="Text 10">
            <a:extLst xmlns:a="http://schemas.openxmlformats.org/drawingml/2006/main">
              <a:ext uri="{FF2B5EF4-FFF2-40B4-BE49-F238E27FC236}">
                <a16:creationId xmlns:a16="http://schemas.microsoft.com/office/drawing/2014/main" id="{DCCF5658-F7C9-45AE-B5F8-649499CA43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9808" y="3913632"/>
            <a:ext cx="2176272" cy="10515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50">
                <a:solidFill>
                  <a:srgbClr val="475569"/>
                </a:solidFill>
                <a:latin typeface="Arial"/>
                <a:ea typeface="Arial"/>
                <a:cs typeface="Arial"/>
              </a:rPr>
              <a:t>套用行业模板,配好 Logo、</a:t>
            </a:r>
          </a:p>
          <a:p xmlns:a="http://schemas.openxmlformats.org/drawingml/2006/main">
            <a:pPr marL="0" indent="0" algn="ctr">
              <a:buNone/>
            </a:pPr>
            <a:r>
              <a:rPr sz="1050">
                <a:solidFill>
                  <a:srgbClr val="475569"/>
                </a:solidFill>
                <a:latin typeface="Arial"/>
                <a:ea typeface="Arial"/>
                <a:cs typeface="Arial"/>
              </a:rPr>
              <a:t>配色、双语文案与报名问题</a:t>
            </a:r>
          </a:p>
        </p:txBody>
      </p:sp>
      <p:sp>
        <p:nvSpPr>
          <p:cNvPr id="14" name="Shape 11">
            <a:extLst xmlns:a="http://schemas.openxmlformats.org/drawingml/2006/main">
              <a:ext uri="{FF2B5EF4-FFF2-40B4-BE49-F238E27FC236}">
                <a16:creationId xmlns:a16="http://schemas.microsoft.com/office/drawing/2014/main" id="{4645C887-293D-43FA-BEC4-D7EFE5ED54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4840" y="1865376"/>
            <a:ext cx="475488" cy="47548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E1729"/>
          </a:solidFill>
        </p:spPr>
      </p:sp>
      <p:sp>
        <p:nvSpPr>
          <p:cNvPr id="15" name="Text 12">
            <a:extLst xmlns:a="http://schemas.openxmlformats.org/drawingml/2006/main">
              <a:ext uri="{FF2B5EF4-FFF2-40B4-BE49-F238E27FC236}">
                <a16:creationId xmlns:a16="http://schemas.microsoft.com/office/drawing/2014/main" id="{BFBF2ADD-FC08-42D2-91E8-8ED4B1DFE8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4840" y="1865376"/>
            <a:ext cx="475488" cy="47548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6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6" name="Shape 13">
            <a:extLst xmlns:a="http://schemas.openxmlformats.org/drawingml/2006/main">
              <a:ext uri="{FF2B5EF4-FFF2-40B4-BE49-F238E27FC236}">
                <a16:creationId xmlns:a16="http://schemas.microsoft.com/office/drawing/2014/main" id="{DC21336F-B723-4EF9-A923-152DA57C0D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83280" y="2468880"/>
            <a:ext cx="2578608" cy="2331720"/>
          </a:xfrm>
          <a:prstGeom xmlns:a="http://schemas.openxmlformats.org/drawingml/2006/main" prst="roundRect">
            <a:avLst>
              <a:gd name="adj" fmla="val 3529"/>
            </a:avLst>
          </a:prstGeom>
          <a:solidFill xmlns:a="http://schemas.openxmlformats.org/drawingml/2006/main">
            <a:srgbClr val="FBFAF7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17" name="Shape 14">
            <a:extLst xmlns:a="http://schemas.openxmlformats.org/drawingml/2006/main">
              <a:ext uri="{FF2B5EF4-FFF2-40B4-BE49-F238E27FC236}">
                <a16:creationId xmlns:a16="http://schemas.microsoft.com/office/drawing/2014/main" id="{491DCF3C-1082-414E-A068-C0B5B9F7A7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98264" y="2761488"/>
            <a:ext cx="548640" cy="548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E1729"/>
          </a:solidFill>
        </p:spPr>
      </p:sp>
      <p:pic>
        <p:nvPicPr>
          <p:cNvPr id="57" name="Imag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469306608f04a98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4540910" y="2904134"/>
            <a:ext cx="263347" cy="263347"/>
          </a:xfrm>
          <a:prstGeom xmlns:a="http://schemas.openxmlformats.org/drawingml/2006/main" prst="rect">
            <a:avLst/>
          </a:prstGeom>
        </p:spPr>
      </p:pic>
      <p:sp>
        <p:nvSpPr>
          <p:cNvPr id="19" name="Text 15">
            <a:extLst xmlns:a="http://schemas.openxmlformats.org/drawingml/2006/main">
              <a:ext uri="{FF2B5EF4-FFF2-40B4-BE49-F238E27FC236}">
                <a16:creationId xmlns:a16="http://schemas.microsoft.com/office/drawing/2014/main" id="{9550EE1C-84BF-426C-B4A0-10F7CDB815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6160" y="3429000"/>
            <a:ext cx="2212848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500" b="1">
                <a:solidFill>
                  <a:srgbClr val="0E1729"/>
                </a:solidFill>
                <a:latin typeface="Arial"/>
                <a:ea typeface="Arial"/>
                <a:cs typeface="Arial"/>
              </a:rPr>
              <a:t>数据导入</a:t>
            </a:r>
          </a:p>
        </p:txBody>
      </p:sp>
      <p:sp>
        <p:nvSpPr>
          <p:cNvPr id="20" name="Text 16">
            <a:extLst xmlns:a="http://schemas.openxmlformats.org/drawingml/2006/main">
              <a:ext uri="{FF2B5EF4-FFF2-40B4-BE49-F238E27FC236}">
                <a16:creationId xmlns:a16="http://schemas.microsoft.com/office/drawing/2014/main" id="{E81D5D5F-7308-4FCF-930D-B063ED436A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84448" y="3913632"/>
            <a:ext cx="2176272" cy="10515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50">
                <a:solidFill>
                  <a:srgbClr val="475569"/>
                </a:solidFill>
                <a:latin typeface="Arial"/>
                <a:ea typeface="Arial"/>
                <a:cs typeface="Arial"/>
              </a:rPr>
              <a:t>学员名单与课时余额</a:t>
            </a:r>
          </a:p>
          <a:p xmlns:a="http://schemas.openxmlformats.org/drawingml/2006/main">
            <a:pPr marL="0" indent="0" algn="ctr">
              <a:buNone/>
            </a:pPr>
            <a:r>
              <a:rPr sz="1050">
                <a:solidFill>
                  <a:srgbClr val="475569"/>
                </a:solidFill>
                <a:latin typeface="Arial"/>
                <a:ea typeface="Arial"/>
                <a:cs typeface="Arial"/>
              </a:rPr>
              <a:t>从 Excel 一次性迁入</a:t>
            </a:r>
          </a:p>
        </p:txBody>
      </p:sp>
      <p:sp>
        <p:nvSpPr>
          <p:cNvPr id="21" name="Shape 17">
            <a:extLst xmlns:a="http://schemas.openxmlformats.org/drawingml/2006/main">
              <a:ext uri="{FF2B5EF4-FFF2-40B4-BE49-F238E27FC236}">
                <a16:creationId xmlns:a16="http://schemas.microsoft.com/office/drawing/2014/main" id="{99FB1B66-34E6-4DEA-ACA0-DFBF7D5E42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69480" y="1865376"/>
            <a:ext cx="475488" cy="47548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E1729"/>
          </a:solidFill>
        </p:spPr>
      </p:sp>
      <p:sp>
        <p:nvSpPr>
          <p:cNvPr id="22" name="Text 18">
            <a:extLst xmlns:a="http://schemas.openxmlformats.org/drawingml/2006/main">
              <a:ext uri="{FF2B5EF4-FFF2-40B4-BE49-F238E27FC236}">
                <a16:creationId xmlns:a16="http://schemas.microsoft.com/office/drawing/2014/main" id="{4AEC220F-8238-4867-A55E-D4820DB7CA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69480" y="1865376"/>
            <a:ext cx="475488" cy="47548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6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3" name="Shape 19">
            <a:extLst xmlns:a="http://schemas.openxmlformats.org/drawingml/2006/main">
              <a:ext uri="{FF2B5EF4-FFF2-40B4-BE49-F238E27FC236}">
                <a16:creationId xmlns:a16="http://schemas.microsoft.com/office/drawing/2014/main" id="{78692A27-AF42-4E19-B3E2-A53BD98047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0" y="2468880"/>
            <a:ext cx="2578608" cy="2331720"/>
          </a:xfrm>
          <a:prstGeom xmlns:a="http://schemas.openxmlformats.org/drawingml/2006/main" prst="roundRect">
            <a:avLst>
              <a:gd name="adj" fmla="val 3529"/>
            </a:avLst>
          </a:prstGeom>
          <a:solidFill xmlns:a="http://schemas.openxmlformats.org/drawingml/2006/main">
            <a:srgbClr val="FBFAF7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24" name="Shape 20">
            <a:extLst xmlns:a="http://schemas.openxmlformats.org/drawingml/2006/main">
              <a:ext uri="{FF2B5EF4-FFF2-40B4-BE49-F238E27FC236}">
                <a16:creationId xmlns:a16="http://schemas.microsoft.com/office/drawing/2014/main" id="{1762A3CF-19B5-4681-9774-49546BF8CB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2904" y="2761488"/>
            <a:ext cx="548640" cy="548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E1729"/>
          </a:solidFill>
        </p:spPr>
      </p:sp>
      <p:pic>
        <p:nvPicPr>
          <p:cNvPr id="64" name="Image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f63d3a670614378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375550" y="2904134"/>
            <a:ext cx="263347" cy="263347"/>
          </a:xfrm>
          <a:prstGeom xmlns:a="http://schemas.openxmlformats.org/drawingml/2006/main" prst="rect">
            <a:avLst/>
          </a:prstGeom>
        </p:spPr>
      </p:pic>
      <p:sp>
        <p:nvSpPr>
          <p:cNvPr id="26" name="Text 21">
            <a:extLst xmlns:a="http://schemas.openxmlformats.org/drawingml/2006/main">
              <a:ext uri="{FF2B5EF4-FFF2-40B4-BE49-F238E27FC236}">
                <a16:creationId xmlns:a16="http://schemas.microsoft.com/office/drawing/2014/main" id="{D7F8DAEE-7196-420A-9943-D382642918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3429000"/>
            <a:ext cx="2212848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500" b="1">
                <a:solidFill>
                  <a:srgbClr val="0E1729"/>
                </a:solidFill>
                <a:latin typeface="Arial"/>
                <a:ea typeface="Arial"/>
                <a:cs typeface="Arial"/>
              </a:rPr>
              <a:t>团队培训</a:t>
            </a:r>
          </a:p>
        </p:txBody>
      </p:sp>
      <p:sp>
        <p:nvSpPr>
          <p:cNvPr id="27" name="Text 22">
            <a:extLst xmlns:a="http://schemas.openxmlformats.org/drawingml/2006/main">
              <a:ext uri="{FF2B5EF4-FFF2-40B4-BE49-F238E27FC236}">
                <a16:creationId xmlns:a16="http://schemas.microsoft.com/office/drawing/2014/main" id="{EF3A5AFD-EDBF-4D1B-8B7B-76AD157F2E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088" y="3913632"/>
            <a:ext cx="2176272" cy="10515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50">
                <a:solidFill>
                  <a:srgbClr val="475569"/>
                </a:solidFill>
                <a:latin typeface="Arial"/>
                <a:ea typeface="Arial"/>
                <a:cs typeface="Arial"/>
              </a:rPr>
              <a:t>按角色各教各的:前台收费、</a:t>
            </a:r>
          </a:p>
          <a:p xmlns:a="http://schemas.openxmlformats.org/drawingml/2006/main">
            <a:pPr marL="0" indent="0" algn="ctr">
              <a:buNone/>
            </a:pPr>
            <a:r>
              <a:rPr sz="1050">
                <a:solidFill>
                  <a:srgbClr val="475569"/>
                </a:solidFill>
                <a:latin typeface="Arial"/>
                <a:ea typeface="Arial"/>
                <a:cs typeface="Arial"/>
              </a:rPr>
              <a:t>老师签到、店长看账</a:t>
            </a:r>
          </a:p>
        </p:txBody>
      </p:sp>
      <p:sp>
        <p:nvSpPr>
          <p:cNvPr id="28" name="Shape 23">
            <a:extLst xmlns:a="http://schemas.openxmlformats.org/drawingml/2006/main">
              <a:ext uri="{FF2B5EF4-FFF2-40B4-BE49-F238E27FC236}">
                <a16:creationId xmlns:a16="http://schemas.microsoft.com/office/drawing/2014/main" id="{43F4603A-DAD7-4363-8D99-21F1756492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04120" y="1865376"/>
            <a:ext cx="475488" cy="47548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5B335"/>
          </a:solidFill>
        </p:spPr>
      </p:sp>
      <p:sp>
        <p:nvSpPr>
          <p:cNvPr id="29" name="Text 24">
            <a:extLst xmlns:a="http://schemas.openxmlformats.org/drawingml/2006/main">
              <a:ext uri="{FF2B5EF4-FFF2-40B4-BE49-F238E27FC236}">
                <a16:creationId xmlns:a16="http://schemas.microsoft.com/office/drawing/2014/main" id="{6961A286-C89E-4731-8192-B33263D069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04120" y="1865376"/>
            <a:ext cx="475488" cy="47548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600" b="1">
                <a:solidFill>
                  <a:srgbClr val="0E1729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30" name="Shape 25">
            <a:extLst xmlns:a="http://schemas.openxmlformats.org/drawingml/2006/main">
              <a:ext uri="{FF2B5EF4-FFF2-40B4-BE49-F238E27FC236}">
                <a16:creationId xmlns:a16="http://schemas.microsoft.com/office/drawing/2014/main" id="{F34E2323-B8FC-42DC-8AB1-A39128E69D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2560" y="2468880"/>
            <a:ext cx="2578608" cy="2331720"/>
          </a:xfrm>
          <a:prstGeom xmlns:a="http://schemas.openxmlformats.org/drawingml/2006/main" prst="roundRect">
            <a:avLst>
              <a:gd name="adj" fmla="val 3529"/>
            </a:avLst>
          </a:prstGeom>
          <a:solidFill xmlns:a="http://schemas.openxmlformats.org/drawingml/2006/main">
            <a:srgbClr val="FBFAF7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31" name="Shape 26">
            <a:extLst xmlns:a="http://schemas.openxmlformats.org/drawingml/2006/main">
              <a:ext uri="{FF2B5EF4-FFF2-40B4-BE49-F238E27FC236}">
                <a16:creationId xmlns:a16="http://schemas.microsoft.com/office/drawing/2014/main" id="{142FCC04-6D36-46D5-B134-22E9C19654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67544" y="2761488"/>
            <a:ext cx="548640" cy="548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5B335"/>
          </a:solidFill>
        </p:spPr>
      </p:sp>
      <p:pic>
        <p:nvPicPr>
          <p:cNvPr id="71" name="Image 3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4500521e5284828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0210190" y="2904134"/>
            <a:ext cx="263347" cy="263347"/>
          </a:xfrm>
          <a:prstGeom xmlns:a="http://schemas.openxmlformats.org/drawingml/2006/main" prst="rect">
            <a:avLst/>
          </a:prstGeom>
        </p:spPr>
      </p:pic>
      <p:sp>
        <p:nvSpPr>
          <p:cNvPr id="33" name="Text 27">
            <a:extLst xmlns:a="http://schemas.openxmlformats.org/drawingml/2006/main">
              <a:ext uri="{FF2B5EF4-FFF2-40B4-BE49-F238E27FC236}">
                <a16:creationId xmlns:a16="http://schemas.microsoft.com/office/drawing/2014/main" id="{46677E37-E0C9-4785-A453-4318163201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5440" y="3429000"/>
            <a:ext cx="2212848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500" b="1">
                <a:solidFill>
                  <a:srgbClr val="0E1729"/>
                </a:solidFill>
                <a:latin typeface="Arial"/>
                <a:ea typeface="Arial"/>
                <a:cs typeface="Arial"/>
              </a:rPr>
              <a:t>正式上线</a:t>
            </a:r>
          </a:p>
        </p:txBody>
      </p:sp>
      <p:sp>
        <p:nvSpPr>
          <p:cNvPr id="34" name="Text 28">
            <a:extLst xmlns:a="http://schemas.openxmlformats.org/drawingml/2006/main">
              <a:ext uri="{FF2B5EF4-FFF2-40B4-BE49-F238E27FC236}">
                <a16:creationId xmlns:a16="http://schemas.microsoft.com/office/drawing/2014/main" id="{C825B628-3D04-40A5-B495-ACFA512D91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3728" y="3913632"/>
            <a:ext cx="2176272" cy="10515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50">
                <a:solidFill>
                  <a:srgbClr val="475569"/>
                </a:solidFill>
                <a:latin typeface="Arial"/>
                <a:ea typeface="Arial"/>
                <a:cs typeface="Arial"/>
              </a:rPr>
              <a:t>官网、报名、运营同日切换,</a:t>
            </a:r>
          </a:p>
          <a:p xmlns:a="http://schemas.openxmlformats.org/drawingml/2006/main">
            <a:pPr marL="0" indent="0" algn="ctr">
              <a:buNone/>
            </a:pPr>
            <a:r>
              <a:rPr sz="1050">
                <a:solidFill>
                  <a:srgbClr val="475569"/>
                </a:solidFill>
                <a:latin typeface="Arial"/>
                <a:ea typeface="Arial"/>
                <a:cs typeface="Arial"/>
              </a:rPr>
              <a:t>上线首周伴随支持</a:t>
            </a:r>
          </a:p>
        </p:txBody>
      </p:sp>
      <p:sp>
        <p:nvSpPr>
          <p:cNvPr id="35" name="Shape 29">
            <a:extLst xmlns:a="http://schemas.openxmlformats.org/drawingml/2006/main">
              <a:ext uri="{FF2B5EF4-FFF2-40B4-BE49-F238E27FC236}">
                <a16:creationId xmlns:a16="http://schemas.microsoft.com/office/drawing/2014/main" id="{2027B2AF-4705-4DEB-9467-75624DE593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5440680"/>
            <a:ext cx="11091672" cy="777240"/>
          </a:xfrm>
          <a:prstGeom xmlns:a="http://schemas.openxmlformats.org/drawingml/2006/main" prst="roundRect">
            <a:avLst>
              <a:gd name="adj" fmla="val 10588"/>
            </a:avLst>
          </a:prstGeom>
          <a:solidFill xmlns:a="http://schemas.openxmlformats.org/drawingml/2006/main">
            <a:srgbClr val="F7F5F2"/>
          </a:solidFill>
        </p:spPr>
      </p:sp>
      <p:sp>
        <p:nvSpPr>
          <p:cNvPr id="36" name="Text 30">
            <a:extLst xmlns:a="http://schemas.openxmlformats.org/drawingml/2006/main">
              <a:ext uri="{FF2B5EF4-FFF2-40B4-BE49-F238E27FC236}">
                <a16:creationId xmlns:a16="http://schemas.microsoft.com/office/drawing/2014/main" id="{33038D96-925B-4E41-A508-5819D43317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5440680"/>
            <a:ext cx="10515600" cy="7772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50" b="1">
                <a:solidFill>
                  <a:srgbClr val="0E1729"/>
                </a:solidFill>
                <a:latin typeface="Arial"/>
                <a:ea typeface="Arial"/>
                <a:cs typeface="Arial"/>
              </a:rPr>
              <a:t>四步全部包含在一次性 Setup 服务费内(AUD 299–999)。</a:t>
            </a:r>
            <a:r>
              <a:rPr sz="1150">
                <a:solidFill>
                  <a:srgbClr val="0E1729"/>
                </a:solidFill>
                <a:latin typeface="Arial"/>
                <a:ea typeface="Arial"/>
                <a:cs typeface="Arial"/>
              </a:rPr>
              <a:t>  机构不需要懂技术:你提供名单和素材,我们负责让系统开门迎客。</a:t>
            </a:r>
          </a:p>
        </p:txBody>
      </p:sp>
    </p:spTree>
    <p:extLst>
      <p:ext uri="{BB962C8B-B14F-4D97-AF65-F5344CB8AC3E}">
        <p14:creationId xmlns:p14="http://schemas.microsoft.com/office/powerpoint/2010/main" val="250519560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0E1729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9253DEBC-E6C6-433C-B8A9-6D123D33AF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0" y="822960"/>
            <a:ext cx="1371600" cy="1371600"/>
          </a:xfrm>
          <a:prstGeom xmlns:a="http://schemas.openxmlformats.org/drawingml/2006/main" prst="star4">
            <a:avLst/>
          </a:prstGeom>
          <a:solidFill xmlns:a="http://schemas.openxmlformats.org/drawingml/2006/main">
            <a:srgbClr val="FBBF24">
              <a:alpha val="92000"/>
            </a:srgbClr>
          </a:solidFill>
        </p:spPr>
      </p:sp>
      <p:sp>
        <p:nvSpPr>
          <p:cNvPr id="3" name="Shape 1">
            <a:extLst xmlns:a="http://schemas.openxmlformats.org/drawingml/2006/main">
              <a:ext uri="{FF2B5EF4-FFF2-40B4-BE49-F238E27FC236}">
                <a16:creationId xmlns:a16="http://schemas.microsoft.com/office/drawing/2014/main" id="{41E29ED7-2AE0-44D6-BFF3-0250949565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64240" y="2377440"/>
            <a:ext cx="640080" cy="640080"/>
          </a:xfrm>
          <a:prstGeom xmlns:a="http://schemas.openxmlformats.org/drawingml/2006/main" prst="star4">
            <a:avLst/>
          </a:prstGeom>
          <a:solidFill xmlns:a="http://schemas.openxmlformats.org/drawingml/2006/main">
            <a:srgbClr val="FBBF24">
              <a:alpha val="65000"/>
            </a:srgbClr>
          </a:solidFill>
        </p:spPr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7D4CF123-9680-4B4E-A082-858A70F6C9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61120" y="2651760"/>
            <a:ext cx="320040" cy="320040"/>
          </a:xfrm>
          <a:prstGeom xmlns:a="http://schemas.openxmlformats.org/drawingml/2006/main" prst="star4">
            <a:avLst/>
          </a:prstGeom>
          <a:solidFill xmlns:a="http://schemas.openxmlformats.org/drawingml/2006/main">
            <a:srgbClr val="FBBF24">
              <a:alpha val="50000"/>
            </a:srgbClr>
          </a:solidFill>
        </p:spPr>
      </p:sp>
      <p:pic>
        <p:nvPicPr>
          <p:cNvPr id="20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7717a766cf04b25"/>
          <a:stretch xmlns:a="http://schemas.openxmlformats.org/drawingml/2006/main"/>
        </p:blipFill>
        <p:spPr>
          <a:xfrm xmlns:a="http://schemas.openxmlformats.org/drawingml/2006/main" flipH="0" flipV="0">
            <a:off x="822960" y="777240"/>
            <a:ext cx="2103120" cy="533667"/>
          </a:xfrm>
          <a:prstGeom xmlns:a="http://schemas.openxmlformats.org/drawingml/2006/main" prst="rect">
            <a:avLst/>
          </a:prstGeom>
        </p:spPr>
      </p:pic>
      <p:sp>
        <p:nvSpPr>
          <p:cNvPr id="6" name="Text 3">
            <a:extLst xmlns:a="http://schemas.openxmlformats.org/drawingml/2006/main">
              <a:ext uri="{FF2B5EF4-FFF2-40B4-BE49-F238E27FC236}">
                <a16:creationId xmlns:a16="http://schemas.microsoft.com/office/drawing/2014/main" id="{B494DFD5-5418-4C70-A12F-BCB3AB7E3E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2377440"/>
            <a:ext cx="9601200" cy="8686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38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管理退到幕后,作品站上台前。</a:t>
            </a:r>
          </a:p>
        </p:txBody>
      </p:sp>
      <p:sp>
        <p:nvSpPr>
          <p:cNvPr id="7" name="Text 4">
            <a:extLst xmlns:a="http://schemas.openxmlformats.org/drawingml/2006/main">
              <a:ext uri="{FF2B5EF4-FFF2-40B4-BE49-F238E27FC236}">
                <a16:creationId xmlns:a16="http://schemas.microsoft.com/office/drawing/2014/main" id="{9D5BE4E2-2DD3-4F79-86D1-608D2199DE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3383280"/>
            <a:ext cx="877824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500">
                <a:solidFill>
                  <a:srgbClr val="CBD5E1"/>
                </a:solidFill>
                <a:latin typeface="Arial"/>
                <a:ea typeface="Arial"/>
                <a:cs typeface="Arial"/>
              </a:rPr>
              <a:t>预约一次 30 分钟演示:用你工作室的名字、作品和课程,现场生成一个可预览的门户。</a:t>
            </a:r>
          </a:p>
        </p:txBody>
      </p:sp>
      <p:sp>
        <p:nvSpPr>
          <p:cNvPr id="8" name="Shape 5">
            <a:extLst xmlns:a="http://schemas.openxmlformats.org/drawingml/2006/main">
              <a:ext uri="{FF2B5EF4-FFF2-40B4-BE49-F238E27FC236}">
                <a16:creationId xmlns:a16="http://schemas.microsoft.com/office/drawing/2014/main" id="{797D1814-D339-4ADD-B463-08A19B4EDA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" y="4297680"/>
            <a:ext cx="146304" cy="146304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5B335"/>
          </a:solidFill>
        </p:spPr>
      </p:sp>
      <p:sp>
        <p:nvSpPr>
          <p:cNvPr id="9" name="Text 6">
            <a:extLst xmlns:a="http://schemas.openxmlformats.org/drawingml/2006/main">
              <a:ext uri="{FF2B5EF4-FFF2-40B4-BE49-F238E27FC236}">
                <a16:creationId xmlns:a16="http://schemas.microsoft.com/office/drawing/2014/main" id="{A357759A-BE9E-4210-A3F6-A6B4EC1BB2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8720" y="4206240"/>
            <a:ext cx="960120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在线演示环境   </a:t>
            </a:r>
            <a:r>
              <a:rPr sz="1300">
                <a:solidFill>
                  <a:srgbClr val="94A3B8"/>
                </a:solidFill>
                <a:latin typeface="Arial"/>
                <a:ea typeface="Arial"/>
                <a:cs typeface="Arial"/>
              </a:rPr>
              <a:t>studiosaas.cc.cd(试点环境,按需开放)</a:t>
            </a:r>
          </a:p>
        </p:txBody>
      </p:sp>
      <p:sp>
        <p:nvSpPr>
          <p:cNvPr id="10" name="Shape 7">
            <a:extLst xmlns:a="http://schemas.openxmlformats.org/drawingml/2006/main">
              <a:ext uri="{FF2B5EF4-FFF2-40B4-BE49-F238E27FC236}">
                <a16:creationId xmlns:a16="http://schemas.microsoft.com/office/drawing/2014/main" id="{04196E0E-C900-4271-943C-044CF44D68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" y="4864608"/>
            <a:ext cx="146304" cy="146304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5B335"/>
          </a:solidFill>
        </p:spPr>
      </p:sp>
      <p:sp>
        <p:nvSpPr>
          <p:cNvPr id="11" name="Text 8">
            <a:extLst xmlns:a="http://schemas.openxmlformats.org/drawingml/2006/main">
              <a:ext uri="{FF2B5EF4-FFF2-40B4-BE49-F238E27FC236}">
                <a16:creationId xmlns:a16="http://schemas.microsoft.com/office/drawing/2014/main" id="{2DBFAB13-FA06-4A04-BD13-72419AC561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8720" y="4773168"/>
            <a:ext cx="960120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商务联系   </a:t>
            </a:r>
            <a:r>
              <a:rPr sz="1300">
                <a:solidFill>
                  <a:srgbClr val="94A3B8"/>
                </a:solidFill>
                <a:latin typeface="Arial"/>
                <a:ea typeface="Arial"/>
                <a:cs typeface="Arial"/>
              </a:rPr>
              <a:t>请通过演示邀约渠道联系</a:t>
            </a:r>
          </a:p>
        </p:txBody>
      </p:sp>
      <p:sp>
        <p:nvSpPr>
          <p:cNvPr id="12" name="Shape 9">
            <a:extLst xmlns:a="http://schemas.openxmlformats.org/drawingml/2006/main">
              <a:ext uri="{FF2B5EF4-FFF2-40B4-BE49-F238E27FC236}">
                <a16:creationId xmlns:a16="http://schemas.microsoft.com/office/drawing/2014/main" id="{0565FE12-9210-4FC0-A0E0-DA5424C99D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" y="5431536"/>
            <a:ext cx="146304" cy="146304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5B335"/>
          </a:solidFill>
        </p:spPr>
      </p:sp>
      <p:sp>
        <p:nvSpPr>
          <p:cNvPr id="13" name="Text 10">
            <a:extLst xmlns:a="http://schemas.openxmlformats.org/drawingml/2006/main">
              <a:ext uri="{FF2B5EF4-FFF2-40B4-BE49-F238E27FC236}">
                <a16:creationId xmlns:a16="http://schemas.microsoft.com/office/drawing/2014/main" id="{2006EA52-927F-4C85-BE08-8616FF7630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8720" y="5340096"/>
            <a:ext cx="960120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试点合作   </a:t>
            </a:r>
            <a:r>
              <a:rPr sz="1300">
                <a:solidFill>
                  <a:srgbClr val="94A3B8"/>
                </a:solidFill>
                <a:latin typeface="Arial"/>
                <a:ea typeface="Arial"/>
                <a:cs typeface="Arial"/>
              </a:rPr>
              <a:t>首批机构享受上线陪跑与优先反馈通道</a:t>
            </a:r>
          </a:p>
        </p:txBody>
      </p:sp>
      <p:sp>
        <p:nvSpPr>
          <p:cNvPr id="14" name="Text 11">
            <a:extLst xmlns:a="http://schemas.openxmlformats.org/drawingml/2006/main">
              <a:ext uri="{FF2B5EF4-FFF2-40B4-BE49-F238E27FC236}">
                <a16:creationId xmlns:a16="http://schemas.microsoft.com/office/drawing/2014/main" id="{2B106EDA-398A-4DAF-A160-D5D49D1F76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6263640"/>
            <a:ext cx="64008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>
                <a:solidFill>
                  <a:srgbClr val="64748B"/>
                </a:solidFill>
                <a:latin typeface="Arial"/>
                <a:ea typeface="Arial"/>
                <a:cs typeface="Arial"/>
              </a:rPr>
              <a:t>PWE Studio · 把时间还给创作</a:t>
            </a:r>
          </a:p>
        </p:txBody>
      </p:sp>
      <p:pic>
        <p:nvPicPr>
          <p:cNvPr id="3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476b74b7b5a4ae8"/>
          <a:stretch xmlns:a="http://schemas.openxmlformats.org/drawingml/2006/main"/>
        </p:blipFill>
        <p:spPr>
          <a:xfrm xmlns:a="http://schemas.openxmlformats.org/drawingml/2006/main">
            <a:off x="8763000" y="5963841"/>
            <a:ext cx="2590800" cy="607219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52489122"/>
      </p:ext>
    </p:extLst>
  </p:cSld>
</p:sld>
</file>

<file path=ppt/theme/theme1.xml><?xml version="1.0" encoding="utf-8"?>
<a:theme xmlns:a="http://schemas.openxmlformats.org/drawingml/2006/main" name="Office Theme">
  <a:themeElements>
    <a:clrScheme name="PWE Studio Family">
      <a:dk1>
        <a:srgbClr val="000000"/>
      </a:dk1>
      <a:lt1>
        <a:srgbClr val="FFFFFF"/>
      </a:lt1>
      <a:dk2>
        <a:srgbClr val="16233D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5B335"/>
      </a:accent4>
      <a:accent5>
        <a:srgbClr val="5B9BD5"/>
      </a:accent5>
      <a:accent6>
        <a:srgbClr val="70AD47"/>
      </a:accent6>
      <a:hlink>
        <a:srgbClr val="2563EB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PWE Studio Family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2026-07-28T13:25:01.8210000Z</dcterms:created>
  <dcterms:modified xsi:type="dcterms:W3CDTF">2026-07-28T13:25:01.8210000Z</dcterms:modified>
</coreProperties>
</file>