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开场共情:你们开工作室是为了创作与教学,不是为了当会计。这套系统的唯一目的,是把行政偷走的时间还给作品和学生。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共情页:先让对方点头——每张卡都是被偷走的时间或信任。四个痛点对应后面四个能力页(询问→家庭端,对账→账本,纸条→权限留痕,作品墙→门户+品牌)。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架构页:四个界面职责分明——获客(门户/报名)、运营(CMS)、品牌(Studio Admin)。平台控制台顺带引出隐私卖点。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卖点:官网不是模板站,是和运营打通的获客入口——报名直接进 CMS 审核队列,来源自动归因。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对比微信接龙:字段完整、防刷防重、有审核队列。转为学员后自动进入课时体系,是和 Excel 最大的差别。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核心差异:课时是账本不是格子。Excel 里数字可以被覆盖,这里每一笔都是流水+审计,家长质疑时可以逐条对账。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面向店主的安心感:钱和课时的动作全部有角色边界+审计。七种角色开箱即用,老师看不到财务,前台不能退费。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演示钩子:现场选行业模板,10 秒换一套主题。强调不写定制代码也能像定制——这是 setup 费能落地的原因之一。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前台最大的时间黑洞是重复答疑。访问码自助区把「还剩几节课」变成家长自己查,同时是隐私安全的:短会话+可撤销。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回答「数据安全吗」:三层——租户隔离(201 项测试)、角色权限+审计、未成年人同意链。平台方自己也被审计,这点别家很少做到。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锚定:Studio 99 是主推档。Setup 费用当场解释为「替你把系统装好、数据搬好、人教会」——见下一页流程。所有价格均为澳元。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化解 setup fee 异议:这不是软件费,是交付服务费——配置、迁移、培训都是人力交付。迁移只保留核心数据,干净上线。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收尾回到创作:管理退到幕后,作品站上台前。演示承诺具体(30 分钟、现场生成门户),留下试点名额稀缺感,不过度承诺。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81160" y="960120"/>
            <a:ext cx="1737360" cy="1737360"/>
          </a:xfrm>
          <a:prstGeom prst="star4">
            <a:avLst/>
          </a:prstGeom>
          <a:solidFill>
            <a:srgbClr val="FBBF24">
              <a:alpha val="9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18520" y="2880360"/>
            <a:ext cx="777240" cy="777240"/>
          </a:xfrm>
          <a:prstGeom prst="star4">
            <a:avLst/>
          </a:prstGeom>
          <a:solidFill>
            <a:srgbClr val="FBBF24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3931920"/>
            <a:ext cx="384048" cy="384048"/>
          </a:xfrm>
          <a:prstGeom prst="star4">
            <a:avLst/>
          </a:prstGeom>
          <a:solidFill>
            <a:srgbClr val="FBBF24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86800" y="3291840"/>
            <a:ext cx="237744" cy="237744"/>
          </a:xfrm>
          <a:prstGeom prst="star4">
            <a:avLst/>
          </a:prstGeom>
          <a:solidFill>
            <a:srgbClr val="FBBF24">
              <a:alpha val="45000"/>
            </a:srgbClr>
          </a:solidFill>
          <a:ln/>
        </p:spPr>
      </p:sp>
      <p:pic>
        <p:nvPicPr>
          <p:cNvPr id="6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651760" cy="6728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把时间还给创作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官网获客 · 在线报名 · 课时账本 · 品牌门面 —— 琐事交给系统,你回到教室与作品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创意工作室的一体化操作系统 · 面向美术 / 音乐 / 舞蹈工作室与培训机构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5120640"/>
            <a:ext cx="1120140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120640"/>
            <a:ext cx="11201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多租户隔离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171700" y="5120640"/>
            <a:ext cx="978408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71700" y="512064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378708" y="5120640"/>
            <a:ext cx="197053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78708" y="5120640"/>
            <a:ext cx="19705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四个界面 · 一个后台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577840" y="5120640"/>
            <a:ext cx="1261872" cy="402336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5120640"/>
            <a:ext cx="1261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v7.7.7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销售介绍 · 2026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76872" y="628192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75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PARADISE PRODUCTION · 天域文创出品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现状与痛点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你的才华,不该耗在台账和聊天记录里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4160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开工作室,是因为热爱创作与教学。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没有人是为了对账、催费、翻聊天记录才创业的。可行政琐事每天都在偷时间——偷走的,本该属于作品和学生。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“一个老师,三四个工具,没有一个是为工作室设计的。”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把琐事交出去,把时间拿回来。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28523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859" y="2482779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978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被打断的排练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『还剩几节课?』一句询问,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要翻三个月的群记录才答得上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366760" y="210312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8622792" y="235915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419" y="2482779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23544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深夜的对账表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8641080" y="3017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白天上课,晚上核 Excel,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吃掉的是备课和新作品的时间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18" name="Shape 14"/>
          <p:cNvSpPr/>
          <p:nvPr/>
        </p:nvSpPr>
        <p:spPr>
          <a:xfrm>
            <a:off x="528523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859" y="4494459"/>
            <a:ext cx="228234" cy="2282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89788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经不起丢的纸条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530352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收据在抽屉、承诺在口头,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家长的信任不该系在一张纸上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366760" y="4114800"/>
            <a:ext cx="3246120" cy="1783080"/>
          </a:xfrm>
          <a:prstGeom prst="roundRect">
            <a:avLst>
              <a:gd name="adj" fmla="val 4615"/>
            </a:avLst>
          </a:prstGeom>
          <a:solidFill>
            <a:srgbClr val="F1F5F9"/>
          </a:solidFill>
          <a:ln/>
        </p:spPr>
      </p:sp>
      <p:sp>
        <p:nvSpPr>
          <p:cNvPr id="23" name="Shape 18"/>
          <p:cNvSpPr/>
          <p:nvPr/>
        </p:nvSpPr>
        <p:spPr>
          <a:xfrm>
            <a:off x="8622792" y="437083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6419" y="4494459"/>
            <a:ext cx="228234" cy="2282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3544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看不见的作品墙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8641080" y="5029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作品攒了一屋子,线上无处可看,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新学员只能靠转介绍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产品总览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台前是你的品牌,幕后是一个系统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961937"/>
            <a:ext cx="245791" cy="2457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 Portal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04672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公开官网:课程 · 作品集 · FAQ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页内直接报名,不跳转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92424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48456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593" y="1961937"/>
            <a:ext cx="245791" cy="24579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48456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快速报名 Register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48456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/&lt;机构名&gt;/register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648456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独立报名页,可扫码直达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机构自定义报名问题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与门户共用同一审核流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36208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1828800"/>
            <a:ext cx="512064" cy="51206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377" y="1961937"/>
            <a:ext cx="245791" cy="24579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92240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CMS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92240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/&lt;机构名&gt;/cms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92240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 · 排课 · 签到 · 课时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收退费 · 报名审核 · 日志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作品集与数据统计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9079992" y="1572768"/>
            <a:ext cx="2560320" cy="2907792"/>
          </a:xfrm>
          <a:prstGeom prst="roundRect">
            <a:avLst>
              <a:gd name="adj" fmla="val 32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336024" y="1828800"/>
            <a:ext cx="512064" cy="512064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61" y="1961937"/>
            <a:ext cx="245791" cy="24579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36024" y="24871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品牌工作台 Studio Admin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336024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/&lt;机构名&gt;/studio-admin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321868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· 配色 · 双语文案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报名字段配置与预览</a:t>
            </a:r>
            <a:endParaRPr lang="en-US" sz="10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发布 → 版本回滚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548640" y="480060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31" name="Shape 25"/>
          <p:cNvSpPr/>
          <p:nvPr/>
        </p:nvSpPr>
        <p:spPr>
          <a:xfrm>
            <a:off x="868680" y="5166360"/>
            <a:ext cx="512064" cy="512064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817" y="5299497"/>
            <a:ext cx="245791" cy="245791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00200" y="50017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Admin · 商业控制台(平台侧)</a:t>
            </a:r>
            <a:endParaRPr lang="en-US" sz="1400" dirty="0"/>
          </a:p>
        </p:txBody>
      </p:sp>
      <p:sp>
        <p:nvSpPr>
          <p:cNvPr id="34" name="Text 27"/>
          <p:cNvSpPr/>
          <p:nvPr/>
        </p:nvSpPr>
        <p:spPr>
          <a:xfrm>
            <a:off x="1600200" y="538581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租户开通 / 套餐与账单 / 用量监控 / 审计日志 —— 平台方不接触学员敏感数据,进店必须走留痕的支持模式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门户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把作品挂上网,把报名开进门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9436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自带公开官网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课程介绍、师资与作品集、FAQ、联系方式,开通即上线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页内报名,零跳转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访客在官网内直接完成报名,减少流失;也可用独立报名页扫码直达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中英双语一键切换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所有公开文案双语维护,面向多语言家庭的社区尤其有效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来源可追踪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报名自动记录来源渠道与 UTM 参数,知道每个学员从哪里来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学员自助区入口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老学员凭访问码自助查询,减少前台重复答疑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091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03720" y="1737360"/>
            <a:ext cx="4709160" cy="347472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7068312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470648" y="1856232"/>
            <a:ext cx="109728" cy="109728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1755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yourstudio.example — 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132320" y="2286000"/>
            <a:ext cx="4251960" cy="13716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7360920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让每个孩子爱上创作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2798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every child learns to create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3127248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7360920" y="31272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立即报名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4204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9536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05088" y="3950208"/>
            <a:ext cx="1106424" cy="5029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870508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素描进阶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058400" y="38404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68128" y="3950208"/>
            <a:ext cx="1106424" cy="5029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10168128" y="4498848"/>
            <a:ext cx="110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创意手工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32320" y="5193792"/>
            <a:ext cx="425196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/>
        </p:spPr>
      </p:sp>
      <p:sp>
        <p:nvSpPr>
          <p:cNvPr id="28" name="Shape 26"/>
          <p:cNvSpPr/>
          <p:nvPr/>
        </p:nvSpPr>
        <p:spPr>
          <a:xfrm>
            <a:off x="7287768" y="5340096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5458968"/>
            <a:ext cx="219456" cy="21945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863840" y="5266944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学员自助区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姓名 + 手机号 + 访问码,查课时与作品集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获客 · 报名审核漏斗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从询价到开课,不乱一个节拍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971800" cy="1051560"/>
          </a:xfrm>
          <a:prstGeom prst="chevron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提交报名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门户或独立报名页,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字段由机构自定义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1783080"/>
            <a:ext cx="2971800" cy="1051560"/>
          </a:xfrm>
          <a:prstGeom prst="chevron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767328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自动把关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67328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 + 蜜罐反机器人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重复报名检测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0176" y="1783080"/>
            <a:ext cx="2971800" cy="1051560"/>
          </a:xfrm>
          <a:prstGeom prst="chevron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人工审核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3096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待审队列,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 / 拒绝一目了然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95944" y="1783080"/>
            <a:ext cx="2971800" cy="10515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9198864" y="2039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转为学员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98864" y="29718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一键建档,进入课时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与签到体系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717804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3616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自动把关,把垃圾流量挡在门外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4992624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8580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限流防刷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IP 每分钟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 5 次提交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15468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499262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01752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蜜罐字段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机器人提交被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静默丢弃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486400" y="4873752"/>
            <a:ext cx="457200" cy="45720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499262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349240" y="538581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重复检测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疑似重复报名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自动提示,避免重复建档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8001000" y="4160520"/>
            <a:ext cx="3639312" cy="192024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/>
        </p:spPr>
      </p:sp>
      <p:sp>
        <p:nvSpPr>
          <p:cNvPr id="30" name="Shape 25"/>
          <p:cNvSpPr/>
          <p:nvPr/>
        </p:nvSpPr>
        <p:spPr>
          <a:xfrm>
            <a:off x="8275320" y="4398264"/>
            <a:ext cx="457200" cy="457200"/>
          </a:xfrm>
          <a:prstGeom prst="ellipse">
            <a:avLst/>
          </a:prstGeom>
          <a:solidFill>
            <a:srgbClr val="334155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4517136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275320" y="494690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谁审核、何时通过或拒绝,全部写入审计日志;来源与渠道随学员档案沉淀。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CMS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每一节课的去向,像五线谱一样清晰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93392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211701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今日排课与签到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697480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85292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2" name="Text 9"/>
          <p:cNvSpPr/>
          <p:nvPr/>
        </p:nvSpPr>
        <p:spPr>
          <a:xfrm>
            <a:off x="1417320" y="27432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小雨 · 少儿美术 16:00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840480" y="2743200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22960" y="3410712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87552" y="35661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6" name="Text 13"/>
          <p:cNvSpPr/>
          <p:nvPr/>
        </p:nvSpPr>
        <p:spPr>
          <a:xfrm>
            <a:off x="1417320" y="34564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· 素描进阶 16:00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40480" y="3456432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已签到 · 扣 1 课时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2960" y="4123944"/>
            <a:ext cx="489204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4279392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1417320" y="41696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朵朵 · 创意手工 17:30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840480" y="4169664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余额不足 · 已拦截并提醒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" y="493776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签到自动扣减课时,余额不足当场拦截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老师用平板即可点名,前台无需二次录入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缺勤 / 补课情况在日志中可追溯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63640" y="173736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1993392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587" y="2117019"/>
            <a:ext cx="228234" cy="22823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159752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课时账本(流水式)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37960" y="273405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03-02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269480" y="27340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购买 10 次课包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10424160" y="2734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537960" y="3264408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37960" y="33009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7269480" y="33009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424160" y="3300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6537960" y="3831336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537960" y="3867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269480" y="3867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到店签到(少儿美术)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424160" y="38679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50" dirty="0"/>
          </a:p>
        </p:txBody>
      </p:sp>
      <p:sp>
        <p:nvSpPr>
          <p:cNvPr id="38" name="Shape 34"/>
          <p:cNvSpPr/>
          <p:nvPr/>
        </p:nvSpPr>
        <p:spPr>
          <a:xfrm>
            <a:off x="6537960" y="4398264"/>
            <a:ext cx="48280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537960" y="4434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04-01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726948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退费冲减 · 店长操作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424160" y="4434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6537960" y="5138928"/>
            <a:ext cx="4828032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3" name="Text 39"/>
          <p:cNvSpPr/>
          <p:nvPr/>
        </p:nvSpPr>
        <p:spPr>
          <a:xfrm>
            <a:off x="6720840" y="5212080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余额 = 每一笔流水之和。不是一个可以随手改掉的数字,每次变动都记录操作人、时间与原因。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 · 收费与退费管控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钱上的规矩写进系统,不写在人情里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操作 / 角色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店主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店长 manager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老师 teacher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前台 front desk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员工 staff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收费与课时录入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课时退费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作品集对外分享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 / 经营报表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系统设置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202936"/>
            <a:ext cx="438912" cy="43891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5317053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53312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高危动作系统级上锁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退费与对外分享仅限店主/店长,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权限写死在后端,前端绕不过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34256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2" name="Shape 8"/>
          <p:cNvSpPr/>
          <p:nvPr/>
        </p:nvSpPr>
        <p:spPr>
          <a:xfrm>
            <a:off x="4562856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973" y="5317053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38928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前台能收不能退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前台可录入收费与课时,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退费必须升级到管理层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119872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16" name="Shape 11"/>
          <p:cNvSpPr/>
          <p:nvPr/>
        </p:nvSpPr>
        <p:spPr>
          <a:xfrm>
            <a:off x="8348472" y="5202936"/>
            <a:ext cx="438912" cy="438912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589" y="5317053"/>
            <a:ext cx="210678" cy="2106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924544" y="5148072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每一步有审计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谁在何时退了几节课,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审计日志一查便知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 · 个性化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你的工作室,值得和作品一样讲究的门面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8521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套行业模板一键套用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美术 / 音乐 / 数学 / 舞蹈 / 语言 / 运动 / 编程 / 通用——含行业文案、报名问题与推荐主题,可一键撤销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套专业配色主题 · 15 个明暗变体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每个颜色值按 WCAG 无障碍对比度逐值求解,不是随手挑的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中英双语全覆盖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公开页所有文案两种语言分别维护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报名字段自定义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想问什么就问什么:年龄、经验、过敏史……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草稿 → 预览 → 发布 → 版本回滚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改错了随时回到上一版,不影响线上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1228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C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2066544"/>
            <a:ext cx="402336" cy="402336"/>
          </a:xfrm>
          <a:prstGeom prst="ellipse">
            <a:avLst/>
          </a:prstGeom>
          <a:solidFill>
            <a:srgbClr val="CE9985"/>
          </a:solidFill>
          <a:ln/>
        </p:spPr>
      </p:sp>
      <p:sp>
        <p:nvSpPr>
          <p:cNvPr id="9" name="Text 7"/>
          <p:cNvSpPr/>
          <p:nvPr/>
        </p:nvSpPr>
        <p:spPr>
          <a:xfrm>
            <a:off x="752551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陶土工坊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2551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372600" y="1783080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F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55480" y="2066544"/>
            <a:ext cx="402336" cy="402336"/>
          </a:xfrm>
          <a:prstGeom prst="ellipse">
            <a:avLst/>
          </a:prstGeom>
          <a:solidFill>
            <a:srgbClr val="C49F7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85832" y="192938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复古印刷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085832" y="22860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1228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FEE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95160" y="3182112"/>
            <a:ext cx="402336" cy="402336"/>
          </a:xfrm>
          <a:prstGeom prst="ellipse">
            <a:avLst/>
          </a:prstGeom>
          <a:solidFill>
            <a:srgbClr val="8A8580"/>
          </a:solidFill>
          <a:ln/>
        </p:spPr>
      </p:sp>
      <p:sp>
        <p:nvSpPr>
          <p:cNvPr id="17" name="Text 15"/>
          <p:cNvSpPr/>
          <p:nvPr/>
        </p:nvSpPr>
        <p:spPr>
          <a:xfrm>
            <a:off x="752551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黑白纸墨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2551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372600" y="2898648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9EF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55480" y="3182112"/>
            <a:ext cx="402336" cy="402336"/>
          </a:xfrm>
          <a:prstGeom prst="ellipse">
            <a:avLst/>
          </a:prstGeom>
          <a:solidFill>
            <a:srgbClr val="5B95B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85832" y="30449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静谧海港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085832" y="340156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1228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EBF2E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95160" y="4297680"/>
            <a:ext cx="402336" cy="402336"/>
          </a:xfrm>
          <a:prstGeom prst="ellipse">
            <a:avLst/>
          </a:prstGeom>
          <a:solidFill>
            <a:srgbClr val="4F9E77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雪松林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2551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72600" y="4014216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0EB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55480" y="4297680"/>
            <a:ext cx="402336" cy="402336"/>
          </a:xfrm>
          <a:prstGeom prst="ellipse">
            <a:avLst/>
          </a:prstGeom>
          <a:solidFill>
            <a:srgbClr val="A97DB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85832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独奏紫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085832" y="4517136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1228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F3EA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5413248"/>
            <a:ext cx="402336" cy="402336"/>
          </a:xfrm>
          <a:prstGeom prst="ellipse">
            <a:avLst/>
          </a:prstGeom>
          <a:solidFill>
            <a:srgbClr val="C0788D"/>
          </a:solidFill>
          <a:ln/>
        </p:spPr>
      </p:sp>
      <p:sp>
        <p:nvSpPr>
          <p:cNvPr id="33" name="Text 31"/>
          <p:cNvSpPr/>
          <p:nvPr/>
        </p:nvSpPr>
        <p:spPr>
          <a:xfrm>
            <a:off x="752551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排练玫瑰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2551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明暗双模式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5129784"/>
            <a:ext cx="2395728" cy="969264"/>
          </a:xfrm>
          <a:prstGeom prst="roundRect">
            <a:avLst>
              <a:gd name="adj" fmla="val 7547"/>
            </a:avLst>
          </a:prstGeom>
          <a:solidFill>
            <a:srgbClr val="12180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55480" y="5413248"/>
            <a:ext cx="402336" cy="402336"/>
          </a:xfrm>
          <a:prstGeom prst="ellipse">
            <a:avLst/>
          </a:prstGeom>
          <a:solidFill>
            <a:srgbClr val="75B926"/>
          </a:solidFill>
          <a:ln/>
        </p:spPr>
      </p:sp>
      <p:sp>
        <p:nvSpPr>
          <p:cNvPr id="37" name="Text 35"/>
          <p:cNvSpPr/>
          <p:nvPr/>
        </p:nvSpPr>
        <p:spPr>
          <a:xfrm>
            <a:off x="10085832" y="527608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街机青柠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085832" y="563270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A9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深色模式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12280" y="6263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内置主题实拍色 · 全部通过 WCAG AA 对比度校验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家庭端 · 自助查询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家长看到的不是数字,是孩子的成长轨迹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6217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一个访问码,查清所有事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机构签发 6 位访问码,家长用 姓名 + 手机号 + 访问码 登入自助区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无需注册、无需下载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手机浏览器直接用,对家长零门槛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课时余额与消课记录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还剩几次课、每次课扣在哪一天,一目了然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孩子的作品集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机构上传的作品与成长记录,家长随时可看</a:t>
            </a:r>
            <a:endParaRPr lang="en-US" sz="13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安全的短时会话</a:t>
            </a:r>
            <a:endParaRPr lang="en-US" sz="135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会话一小时自动过期;访问码可随时撤销重发,错试有锁定保护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863840" y="1600200"/>
            <a:ext cx="2880360" cy="4663440"/>
          </a:xfrm>
          <a:prstGeom prst="roundRect">
            <a:avLst>
              <a:gd name="adj" fmla="val 6984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69680" y="1728216"/>
            <a:ext cx="86868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98424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学员中心 · Student Area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0" y="237744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24688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281160" y="262432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剩余课时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少儿美术 · 10 次卡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最近消课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39410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39410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03-16 周六 16:00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29800" y="3941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38160" y="43982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8247888" y="43982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03-09 周六 16:00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829800" y="4398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138160" y="4946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38160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CE9985">
              <a:alpha val="7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741664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77ABCF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345168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F59E0B">
              <a:alpha val="7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948672" y="5239512"/>
            <a:ext cx="512064" cy="512064"/>
          </a:xfrm>
          <a:prstGeom prst="roundRect">
            <a:avLst>
              <a:gd name="adj" fmla="val 8929"/>
            </a:avLst>
          </a:prstGeom>
          <a:solidFill>
            <a:srgbClr val="6FB48F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34924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34924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省下来的,是前台每天几十次的重复报数;留下来的,是家长随时翻得到的成长记录。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数据安全与隐私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孩子的作品与隐私,像原作一样保管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 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租户隔离自动化检查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每家机构的数据严格隔离,跨店访问必须失败——每次发版 201 项隔离测试全绿才允许上线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8776" y="1691640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83096" y="1965960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65960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0456" y="2002536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未成年人照片保护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715768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作品公开须记录监护人同意;同意与撤回是只增不改的事件链,撤回立即从公开区下线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60320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平台方进店必须亮牌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平台人员查看机构数据必须开启支持模式:填写原因、写入审计日志、页面横幅明示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08776" y="4087368"/>
            <a:ext cx="5431536" cy="2121408"/>
          </a:xfrm>
          <a:prstGeom prst="roundRect">
            <a:avLst>
              <a:gd name="adj" fmla="val 38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83096" y="4361688"/>
            <a:ext cx="1572768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4361688"/>
            <a:ext cx="15727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1–90 天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0456" y="43982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分享链接强制到期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5111496"/>
            <a:ext cx="4864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作品集对外分享链接必须设定有效期,可随时撤销;失效链接立即拒绝访问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透明定价,随工作室一起成长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43032" cy="914400"/>
        </p:xfrm>
        <a:graphic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49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· 推荐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 199 / 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学员上限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团队账号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存储空间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GB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公开官网 + 在线报名 + 作品集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邮件通知模板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数据导出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优先支持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BD5E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适合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个人老师 / 起步工作室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主力档 · 成熟单店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多校区 / 扩张期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870448"/>
            <a:ext cx="10543032" cy="713232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5870448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一次性 Setup 服务费 AUD 299–999:</a:t>
            </a:r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品牌配置 + 数据迁移 + 团队培训,按机构规模与迁移量一次报价,上线即可用。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82880" cy="182880"/>
          </a:xfrm>
          <a:prstGeom prst="star4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840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上线流程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从签约到开幕,只需四步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3842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37944" y="2103120"/>
            <a:ext cx="85039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6362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270" y="2904134"/>
            <a:ext cx="263347" cy="26334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3152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品牌配置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980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套用行业模板,配好 Logo、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配色、双语文案与报名问题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3484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3484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38328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9826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910" y="2904134"/>
            <a:ext cx="263347" cy="26334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56616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数据导入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58444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学员名单与课时余额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Excel 一次性迁入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7269480" y="1865376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2" name="Text 18"/>
          <p:cNvSpPr/>
          <p:nvPr/>
        </p:nvSpPr>
        <p:spPr>
          <a:xfrm>
            <a:off x="726948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21792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32904" y="2761488"/>
            <a:ext cx="548640" cy="54864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550" y="2904134"/>
            <a:ext cx="263347" cy="263347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团队培训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41908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按角色各教各的:前台收费、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老师签到、店长看账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10104120" y="1865376"/>
            <a:ext cx="475488" cy="47548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10412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9052560" y="2468880"/>
            <a:ext cx="2578608" cy="233172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067544" y="27614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190" y="2904134"/>
            <a:ext cx="263347" cy="263347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35440" y="34290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正式上线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253728" y="3913632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官网、报名、运营同日切换,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上线首周伴随支持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1F5F9"/>
          </a:solidFill>
          <a:ln/>
        </p:spPr>
      </p:sp>
      <p:sp>
        <p:nvSpPr>
          <p:cNvPr id="36" name="Text 30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四步全部包含在一次性 Setup 服务费内(AUD 299–999)。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机构不需要懂技术:你提供名单和素材,我们负责让系统开门迎客。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822960"/>
            <a:ext cx="1371600" cy="1371600"/>
          </a:xfrm>
          <a:prstGeom prst="star4">
            <a:avLst/>
          </a:prstGeom>
          <a:solidFill>
            <a:srgbClr val="FBBF24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2377440"/>
            <a:ext cx="640080" cy="640080"/>
          </a:xfrm>
          <a:prstGeom prst="star4">
            <a:avLst/>
          </a:prstGeom>
          <a:solidFill>
            <a:srgbClr val="FBBF24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61120" y="2651760"/>
            <a:ext cx="320040" cy="320040"/>
          </a:xfrm>
          <a:prstGeom prst="star4">
            <a:avLst/>
          </a:prstGeom>
          <a:solidFill>
            <a:srgbClr val="FBBF24">
              <a:alpha val="50000"/>
            </a:srgbClr>
          </a:solidFill>
          <a:ln/>
        </p:spPr>
      </p:sp>
      <p:pic>
        <p:nvPicPr>
          <p:cNvPr id="5" name="Image 0" descr="/Users/llmacbookpro/Library/Mobile Documents/com~apple~CloudDocs/studiosaa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2103120" cy="533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774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管理退到幕后,作品站上台前。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22960" y="33832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预约一次 30 分钟演示:用你工作室的名字、作品和课程,现场生成一个可预览的门户。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" y="4297680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/>
          <p:nvPr/>
        </p:nvSpPr>
        <p:spPr>
          <a:xfrm>
            <a:off x="1188720" y="4206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在线演示环境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studiosaas.cc.cd(试点环境,按需开放)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86460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773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商务联系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［商务邮箱 · 待补充］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5431536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534009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试点合作  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首批机构享受上线陪跑与优先反馈通道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296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PWE Studio SaaS · 把时间还给创作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76872" y="628192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75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PARADISE PRODUCTION · 天域文创出品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2026-07-27T00:18:34Z</dcterms:created>
  <dcterms:modified xsi:type="dcterms:W3CDTF">2026-07-27T00:18:34Z</dcterms:modified>
</cp:coreProperties>
</file>