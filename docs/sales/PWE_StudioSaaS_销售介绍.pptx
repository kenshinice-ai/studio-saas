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76c6bd53d45ff" /><Relationship Type="http://schemas.openxmlformats.org/officeDocument/2006/relationships/extended-properties" Target="/docProps/app.xml" Id="R444308a9f03e4e3d" /><Relationship Type="http://schemas.openxmlformats.org/officeDocument/2006/relationships/officeDocument" Target="/ppt/presentation.xml" Id="R94458b6174c341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82074271c1497d"/>
  </p:sldMasterIdLst>
  <p:notesMasterIdLst>
    <p:notesMasterId xmlns:r="http://schemas.openxmlformats.org/officeDocument/2006/relationships" r:id="Ra86ad48324cc41f7"/>
  </p:notesMasterIdLst>
  <p:sldIdLst>
    <p:sldId xmlns:r="http://schemas.openxmlformats.org/officeDocument/2006/relationships" id="256" r:id="R2a8a16df53ab4fd8"/>
    <p:sldId xmlns:r="http://schemas.openxmlformats.org/officeDocument/2006/relationships" id="257" r:id="R930f3c055163407d"/>
    <p:sldId xmlns:r="http://schemas.openxmlformats.org/officeDocument/2006/relationships" id="258" r:id="R26b563b7dd9c491d"/>
    <p:sldId xmlns:r="http://schemas.openxmlformats.org/officeDocument/2006/relationships" id="259" r:id="R5230d2854606493c"/>
    <p:sldId xmlns:r="http://schemas.openxmlformats.org/officeDocument/2006/relationships" id="260" r:id="R538f23b5991b4821"/>
    <p:sldId xmlns:r="http://schemas.openxmlformats.org/officeDocument/2006/relationships" id="261" r:id="R3ebe3b37ee194536"/>
    <p:sldId xmlns:r="http://schemas.openxmlformats.org/officeDocument/2006/relationships" id="262" r:id="R865e2ca08e6047ed"/>
    <p:sldId xmlns:r="http://schemas.openxmlformats.org/officeDocument/2006/relationships" id="263" r:id="R62438c0d9a364294"/>
    <p:sldId xmlns:r="http://schemas.openxmlformats.org/officeDocument/2006/relationships" id="264" r:id="R3c020470998d48c7"/>
    <p:sldId xmlns:r="http://schemas.openxmlformats.org/officeDocument/2006/relationships" id="265" r:id="R0d7a9f551c3d46a7"/>
    <p:sldId xmlns:r="http://schemas.openxmlformats.org/officeDocument/2006/relationships" id="266" r:id="R332447855d5047a9"/>
    <p:sldId xmlns:r="http://schemas.openxmlformats.org/officeDocument/2006/relationships" id="267" r:id="R635e2ef593524809"/>
    <p:sldId xmlns:r="http://schemas.openxmlformats.org/officeDocument/2006/relationships" id="268" r:id="R9d90bf5f573249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c0180b5550454a" /><Relationship Type="http://schemas.openxmlformats.org/officeDocument/2006/relationships/slideMaster" Target="/ppt/slideMasters/slideMaster1.xml" Id="Rf082074271c1497d" /><Relationship Type="http://schemas.openxmlformats.org/officeDocument/2006/relationships/notesMaster" Target="/ppt/notesMasters/notesMaster1.xml" Id="Ra86ad48324cc41f7" /><Relationship Type="http://schemas.openxmlformats.org/officeDocument/2006/relationships/presProps" Target="/ppt/presProps.xml" Id="R64098a2dd2174de9" /><Relationship Type="http://schemas.openxmlformats.org/officeDocument/2006/relationships/viewProps" Target="/ppt/viewProps.xml" Id="R4036419cac8845fe" /><Relationship Type="http://schemas.openxmlformats.org/officeDocument/2006/relationships/tableStyles" Target="/ppt/tableStyles.xml" Id="Rb9d286c57aed4e4b" /><Relationship Type="http://schemas.openxmlformats.org/officeDocument/2006/relationships/slide" Target="/ppt/slides/slide1.xml" Id="R2a8a16df53ab4fd8" /><Relationship Type="http://schemas.openxmlformats.org/officeDocument/2006/relationships/slide" Target="/ppt/slides/slide2.xml" Id="R930f3c055163407d" /><Relationship Type="http://schemas.openxmlformats.org/officeDocument/2006/relationships/slide" Target="/ppt/slides/slide3.xml" Id="R26b563b7dd9c491d" /><Relationship Type="http://schemas.openxmlformats.org/officeDocument/2006/relationships/slide" Target="/ppt/slides/slide4.xml" Id="R5230d2854606493c" /><Relationship Type="http://schemas.openxmlformats.org/officeDocument/2006/relationships/slide" Target="/ppt/slides/slide5.xml" Id="R538f23b5991b4821" /><Relationship Type="http://schemas.openxmlformats.org/officeDocument/2006/relationships/slide" Target="/ppt/slides/slide6.xml" Id="R3ebe3b37ee194536" /><Relationship Type="http://schemas.openxmlformats.org/officeDocument/2006/relationships/slide" Target="/ppt/slides/slide7.xml" Id="R865e2ca08e6047ed" /><Relationship Type="http://schemas.openxmlformats.org/officeDocument/2006/relationships/slide" Target="/ppt/slides/slide8.xml" Id="R62438c0d9a364294" /><Relationship Type="http://schemas.openxmlformats.org/officeDocument/2006/relationships/slide" Target="/ppt/slides/slide9.xml" Id="R3c020470998d48c7" /><Relationship Type="http://schemas.openxmlformats.org/officeDocument/2006/relationships/slide" Target="/ppt/slides/slide10.xml" Id="R0d7a9f551c3d46a7" /><Relationship Type="http://schemas.openxmlformats.org/officeDocument/2006/relationships/slide" Target="/ppt/slides/slide11.xml" Id="R332447855d5047a9" /><Relationship Type="http://schemas.openxmlformats.org/officeDocument/2006/relationships/slide" Target="/ppt/slides/slide12.xml" Id="R635e2ef593524809" /><Relationship Type="http://schemas.openxmlformats.org/officeDocument/2006/relationships/slide" Target="/ppt/slides/slide13.xml" Id="R9d90bf5f573249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57013bdaee42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PWE Studio Family">
      <a:dk1>
        <a:srgbClr val="000000"/>
      </a:dk1>
      <a:lt1>
        <a:srgbClr val="FFFFFF"/>
      </a:lt1>
      <a:dk2>
        <a:srgbClr val="16233D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5B335"/>
      </a:accent4>
      <a:accent5>
        <a:srgbClr val="5B9BD5"/>
      </a:accent5>
      <a:accent6>
        <a:srgbClr val="70AD47"/>
      </a:accent6>
      <a:hlink>
        <a:srgbClr val="2563EB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WE Studio Famil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d70907a9354244" /><Relationship Type="http://schemas.openxmlformats.org/officeDocument/2006/relationships/notesMaster" Target="/ppt/notesMasters/notesMaster1.xml" Id="Re7c6560d4acf42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eb18462126417a" /><Relationship Type="http://schemas.openxmlformats.org/officeDocument/2006/relationships/notesMaster" Target="/ppt/notesMasters/notesMaster1.xml" Id="Rfd6c8ccb4fc544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ddf5b317204774" /><Relationship Type="http://schemas.openxmlformats.org/officeDocument/2006/relationships/notesMaster" Target="/ppt/notesMasters/notesMaster1.xml" Id="Rdbe944e0244f46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8072ec25d24f0f" /><Relationship Type="http://schemas.openxmlformats.org/officeDocument/2006/relationships/notesMaster" Target="/ppt/notesMasters/notesMaster1.xml" Id="Rfc6474bd37bd43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c0d2923d7c4f92" /><Relationship Type="http://schemas.openxmlformats.org/officeDocument/2006/relationships/notesMaster" Target="/ppt/notesMasters/notesMaster1.xml" Id="R5b1b1ca1a51043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8a69a73cab469b" /><Relationship Type="http://schemas.openxmlformats.org/officeDocument/2006/relationships/notesMaster" Target="/ppt/notesMasters/notesMaster1.xml" Id="Re37f5a33bc1b48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c628088baf4d73" /><Relationship Type="http://schemas.openxmlformats.org/officeDocument/2006/relationships/notesMaster" Target="/ppt/notesMasters/notesMaster1.xml" Id="R0a6c8b96596746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c69299046c4f26" /><Relationship Type="http://schemas.openxmlformats.org/officeDocument/2006/relationships/notesMaster" Target="/ppt/notesMasters/notesMaster1.xml" Id="R022ec4006f7041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7b14e9baeb4095" /><Relationship Type="http://schemas.openxmlformats.org/officeDocument/2006/relationships/notesMaster" Target="/ppt/notesMasters/notesMaster1.xml" Id="R3b00f7915d1c40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ee8e26c29743a8" /><Relationship Type="http://schemas.openxmlformats.org/officeDocument/2006/relationships/notesMaster" Target="/ppt/notesMasters/notesMaster1.xml" Id="R12044d3dd5bb47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16e7af1f28498f" /><Relationship Type="http://schemas.openxmlformats.org/officeDocument/2006/relationships/notesMaster" Target="/ppt/notesMasters/notesMaster1.xml" Id="Raf35d2b65fa941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eaa5f3afce4841" /><Relationship Type="http://schemas.openxmlformats.org/officeDocument/2006/relationships/notesMaster" Target="/ppt/notesMasters/notesMaster1.xml" Id="Re4ba9d303e0241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285e80015742e9" /><Relationship Type="http://schemas.openxmlformats.org/officeDocument/2006/relationships/notesMaster" Target="/ppt/notesMasters/notesMaster1.xml" Id="Rdfe3aaf1d3584c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 BRAND ASSETS/brand-tokens.json</a:t>
            </a:r>
          </a:p>
          <a:p xmlns:a="http://schemas.openxmlformats.org/drawingml/2006/main">
            <a:r>
              <a:t>- 01 BRAND ASSETS/logo/lockup-C-on-navy.svg</a:t>
            </a:r>
          </a:p>
          <a:p xmlns:a="http://schemas.openxmlformats.org/drawingml/2006/main">
            <a:r>
              <a:t>- docs/design/brand/render_assets.py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共情页:先让对方点头——每张卡都是被偷走的时间或信任。四个痛点对应后面四个能力页(询问→家庭端,对账→账本,纸条→权限留痕,作品墙→门户+品牌)。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架构页:四个界面职责分明——获客(门户/报名)、运营(CMS)、品牌(Studio Admin)。平台控制台顺带引出隐私卖点。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卖点:官网不是模板站,是和运营打通的获客入口——报名直接进 CMS 审核队列,来源自动归因。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对比微信接龙:字段完整、防刷防重、有审核队列。转为学员后自动进入课时体系,是和 Excel 最大的差别。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核心差异:课时是账本不是格子。Excel 里数字可以被覆盖,这里每一笔都是流水+审计,家长质疑时可以逐条对账。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面向店主的安心感:钱和课时的动作全部有角色边界+审计。七种角色开箱即用,老师看不到财务,前台不能退费。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演示钩子:现场选行业模板,10 秒换一套主题。强调不写定制代码也能像定制——这是 setup 费能落地的原因之一。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前台最大的时间黑洞是重复答疑。访问码自助区把「还剩几节课」变成家长自己查,同时是隐私安全的:短会话+可撤销。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回答「数据安全吗」:三层——租户隔离(201 项测试)、角色权限+审计、未成年人同意链。平台方自己也被审计,这点别家很少做到。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锚定:Studio 99 是主推档。Setup 费用当场解释为「替你把系统装好、数据搬好、人教会」——见下一页流程。所有价格均为澳元。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化解 setup fee 异议:这不是软件费,是交付服务费——配置、迁移、培训都是人力交付。迁移只保留核心数据,干净上线。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 BRAND ASSETS/brand-tokens.json</a:t>
            </a:r>
          </a:p>
          <a:p xmlns:a="http://schemas.openxmlformats.org/drawingml/2006/main">
            <a:r>
              <a:t>- 01 BRAND ASSETS/logo/lockup-C-on-navy.svg</a:t>
            </a:r>
          </a:p>
          <a:p xmlns:a="http://schemas.openxmlformats.org/drawingml/2006/main">
            <a:r>
              <a:t>- docs/design/brand/render_assets.py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3fb528e3a4e8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364a6faa174676" /><Relationship Type="http://schemas.openxmlformats.org/officeDocument/2006/relationships/slideLayout" Target="/ppt/slideLayouts/slideLayout1.xml" Id="R5567a35b44f64ca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67a35b44f64ca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f46618c174db1" /><Relationship Type="http://schemas.openxmlformats.org/officeDocument/2006/relationships/image" Target="/ppt/media/image.png" Id="R2c9400428f494073" /><Relationship Type="http://schemas.openxmlformats.org/officeDocument/2006/relationships/image" Target="/ppt/media/image2.png" Id="R406a6df426ad44dd" /><Relationship Type="http://schemas.openxmlformats.org/officeDocument/2006/relationships/notesSlide" Target="/ppt/notesSlides/notesSlide1.xml" Id="R4c3f52a078a04c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17463826b4f42" /><Relationship Type="http://schemas.openxmlformats.org/officeDocument/2006/relationships/image" Target="/ppt/media/image3.png" Id="R91067ae6957b4ba6" /><Relationship Type="http://schemas.openxmlformats.org/officeDocument/2006/relationships/image" Target="/ppt/media/image4.png" Id="Rf6bc23125f4c4f14" /><Relationship Type="http://schemas.openxmlformats.org/officeDocument/2006/relationships/image" Target="/ppt/media/image5.png" Id="R4c5b12ea6e56497b" /><Relationship Type="http://schemas.openxmlformats.org/officeDocument/2006/relationships/image" Target="/ppt/media/image6.png" Id="R7015839f6c844236" /><Relationship Type="http://schemas.openxmlformats.org/officeDocument/2006/relationships/notesSlide" Target="/ppt/notesSlides/notesSlide2.xml" Id="R9a87ed0901b143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77a4733e34520" /><Relationship Type="http://schemas.openxmlformats.org/officeDocument/2006/relationships/image" Target="/ppt/media/image7.png" Id="Ra9fefdb5579c4820" /><Relationship Type="http://schemas.openxmlformats.org/officeDocument/2006/relationships/image" Target="/ppt/media/image8.png" Id="R79f158c6c72a49ae" /><Relationship Type="http://schemas.openxmlformats.org/officeDocument/2006/relationships/image" Target="/ppt/media/image9.png" Id="R1a9242cf7dd04240" /><Relationship Type="http://schemas.openxmlformats.org/officeDocument/2006/relationships/image" Target="/ppt/media/image10.png" Id="R19d9e7d653b14bc9" /><Relationship Type="http://schemas.openxmlformats.org/officeDocument/2006/relationships/image" Target="/ppt/media/image11.png" Id="R981cc80b576b4c2e" /><Relationship Type="http://schemas.openxmlformats.org/officeDocument/2006/relationships/notesSlide" Target="/ppt/notesSlides/notesSlide3.xml" Id="R899e32cf966f4a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d4a62321947a7" /><Relationship Type="http://schemas.openxmlformats.org/officeDocument/2006/relationships/image" Target="/ppt/media/image12.png" Id="R93ab517b72fe499e" /><Relationship Type="http://schemas.openxmlformats.org/officeDocument/2006/relationships/notesSlide" Target="/ppt/notesSlides/notesSlide4.xml" Id="R09d2fe0bfdc44b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1dcd026ae4c65" /><Relationship Type="http://schemas.openxmlformats.org/officeDocument/2006/relationships/image" Target="/ppt/media/image13.png" Id="Rcab63e06fa4441c6" /><Relationship Type="http://schemas.openxmlformats.org/officeDocument/2006/relationships/image" Target="/ppt/media/image14.png" Id="R4fac9ee0189445f4" /><Relationship Type="http://schemas.openxmlformats.org/officeDocument/2006/relationships/image" Target="/ppt/media/image15.png" Id="R72dc3eba61414a84" /><Relationship Type="http://schemas.openxmlformats.org/officeDocument/2006/relationships/image" Target="/ppt/media/image16.png" Id="R04c6899ec0044aff" /><Relationship Type="http://schemas.openxmlformats.org/officeDocument/2006/relationships/notesSlide" Target="/ppt/notesSlides/notesSlide5.xml" Id="R10fe6c6e65da4e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b3c337cea41df" /><Relationship Type="http://schemas.openxmlformats.org/officeDocument/2006/relationships/image" Target="/ppt/media/image17.png" Id="R349d8ea0787d44eb" /><Relationship Type="http://schemas.openxmlformats.org/officeDocument/2006/relationships/image" Target="/ppt/media/image18.png" Id="R0bbe78ecba424ea5" /><Relationship Type="http://schemas.openxmlformats.org/officeDocument/2006/relationships/notesSlide" Target="/ppt/notesSlides/notesSlide6.xml" Id="Rae4d57cba5ec4e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2137c659d461e" /><Relationship Type="http://schemas.openxmlformats.org/officeDocument/2006/relationships/image" Target="/ppt/media/image19.png" Id="R7457c09b91ba42e9" /><Relationship Type="http://schemas.openxmlformats.org/officeDocument/2006/relationships/image" Target="/ppt/media/image20.png" Id="Rb2ba2a7d161341de" /><Relationship Type="http://schemas.openxmlformats.org/officeDocument/2006/relationships/image" Target="/ppt/media/image21.png" Id="Rc78debb6079d4021" /><Relationship Type="http://schemas.openxmlformats.org/officeDocument/2006/relationships/notesSlide" Target="/ppt/notesSlides/notesSlide7.xml" Id="Rf505e30a235849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457faf78d4438" /><Relationship Type="http://schemas.openxmlformats.org/officeDocument/2006/relationships/notesSlide" Target="/ppt/notesSlides/notesSlide8.xml" Id="R9ab016f48a6349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191f66f824c21" /><Relationship Type="http://schemas.openxmlformats.org/officeDocument/2006/relationships/notesSlide" Target="/ppt/notesSlides/notesSlide9.xml" Id="R4df492bf1bbc4d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526a9d26346fd" /><Relationship Type="http://schemas.openxmlformats.org/officeDocument/2006/relationships/notesSlide" Target="/ppt/notesSlides/notesSlide10.xml" Id="Radd6421ecc894c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47a96c2a54bd2" /><Relationship Type="http://schemas.openxmlformats.org/officeDocument/2006/relationships/notesSlide" Target="/ppt/notesSlides/notesSlide11.xml" Id="R66e6f7957ed941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4c9059a0a483d" /><Relationship Type="http://schemas.openxmlformats.org/officeDocument/2006/relationships/image" Target="/ppt/media/image22.png" Id="R11d9006c41e54eac" /><Relationship Type="http://schemas.openxmlformats.org/officeDocument/2006/relationships/image" Target="/ppt/media/image23.png" Id="R9ecdc98e8e684463" /><Relationship Type="http://schemas.openxmlformats.org/officeDocument/2006/relationships/image" Target="/ppt/media/image24.png" Id="R92a623455b954c88" /><Relationship Type="http://schemas.openxmlformats.org/officeDocument/2006/relationships/image" Target="/ppt/media/image25.png" Id="R74a2f0dddece4a50" /><Relationship Type="http://schemas.openxmlformats.org/officeDocument/2006/relationships/notesSlide" Target="/ppt/notesSlides/notesSlide12.xml" Id="R441f1ce3dc624c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9f85f59854d0a" /><Relationship Type="http://schemas.openxmlformats.org/officeDocument/2006/relationships/image" Target="/ppt/media/image26.png" Id="R5f467d9c62ee4414" /><Relationship Type="http://schemas.openxmlformats.org/officeDocument/2006/relationships/image" Target="/ppt/media/image27.png" Id="R19114e500a8e4047" /><Relationship Type="http://schemas.openxmlformats.org/officeDocument/2006/relationships/notesSlide" Target="/ppt/notesSlides/notesSlide13.xml" Id="R934571c5719c4a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2A9690-566C-4CDE-B775-CE67FCCA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960120"/>
            <a:ext cx="1737360" cy="173736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BBF24">
              <a:alpha val="94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2645126-6E1B-4A29-A937-E20FEFF0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2880360"/>
            <a:ext cx="777240" cy="77724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BBF24">
              <a:alpha val="70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C0A43E6-B52C-4017-855F-EC015FB5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3931920"/>
            <a:ext cx="384048" cy="384048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BBF24">
              <a:alpha val="55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E0065D-3E12-4BA6-B078-2725AFE5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1840"/>
            <a:ext cx="237744" cy="237744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BBF24">
              <a:alpha val="45000"/>
            </a:srgbClr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400428f494073"/>
          <a:stretch xmlns:a="http://schemas.openxmlformats.org/drawingml/2006/main"/>
        </p:blipFill>
        <p:spPr>
          <a:xfrm xmlns:a="http://schemas.openxmlformats.org/drawingml/2006/main">
            <a:off x="822960" y="777240"/>
            <a:ext cx="2651760" cy="67288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8346B16-0407-41B6-8CE0-42F94165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8778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把时间还给创作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9D366E1-ED96-4661-87C4-55C3B32F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0440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CBD5E1"/>
                </a:solidFill>
                <a:latin typeface="Arial"/>
                <a:ea typeface="Arial"/>
                <a:cs typeface="Arial"/>
              </a:rPr>
              <a:t>官网获客 · 在线报名 · 课时账本 · 品牌门面 —— 琐事交给系统,你回到教室与作品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7A8FB5C-8CB0-455D-86D4-55128990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41648"/>
            <a:ext cx="8961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Arial"/>
                <a:ea typeface="Arial"/>
                <a:cs typeface="Arial"/>
              </a:rPr>
              <a:t>创意工作室的一体化操作系统 · 面向美术 / 音乐 / 舞蹈工作室与培训机构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ED54994-E167-4328-BB1B-0EBFA791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20640"/>
            <a:ext cx="1120140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729"/>
          </a:solidFill>
          <a:ln xmlns:a="http://schemas.openxmlformats.org/drawingml/2006/main" w="12700">
            <a:solidFill>
              <a:srgbClr val="22355A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53901F8-9FF2-49AA-9923-C4B1CB7B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20640"/>
            <a:ext cx="11201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多租户隔离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314C81A-745C-47EE-8990-38DBF844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20640"/>
            <a:ext cx="978408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729"/>
          </a:solidFill>
          <a:ln xmlns:a="http://schemas.openxmlformats.org/drawingml/2006/main" w="12700">
            <a:solidFill>
              <a:srgbClr val="22355A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C882B88-76AF-41F7-9BA3-DDDF9EEB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20640"/>
            <a:ext cx="97840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中英双语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5429D1D-FED7-4F76-9B0A-B091569D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708" y="5120640"/>
            <a:ext cx="1970532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729"/>
          </a:solidFill>
          <a:ln xmlns:a="http://schemas.openxmlformats.org/drawingml/2006/main" w="12700">
            <a:solidFill>
              <a:srgbClr val="22355A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D9FEF32-55FA-41E3-8C40-CD440212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708" y="5120640"/>
            <a:ext cx="197053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四个界面 · 一个后台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3CBF534-4E76-4DD1-9656-D4F064D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5120640"/>
            <a:ext cx="1261872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729"/>
          </a:solidFill>
          <a:ln xmlns:a="http://schemas.openxmlformats.org/drawingml/2006/main" w="12700">
            <a:solidFill>
              <a:srgbClr val="22355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925F745-5B4C-4ADA-8163-683D2865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5120640"/>
            <a:ext cx="126187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v7.8.0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FFC8200-5FE1-46CD-8EE3-EFA3F132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26364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Arial"/>
                <a:ea typeface="Arial"/>
                <a:cs typeface="Arial"/>
              </a:rPr>
              <a:t>PWE Studio SaaS · 销售介绍 · 2026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a6df426ad44dd"/>
          <a:stretch xmlns:a="http://schemas.openxmlformats.org/drawingml/2006/main"/>
        </p:blipFill>
        <p:spPr>
          <a:xfrm xmlns:a="http://schemas.openxmlformats.org/drawingml/2006/main">
            <a:off x="8763000" y="5963841"/>
            <a:ext cx="2590800" cy="6072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30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4E3C5C3-B1A3-4B11-AC11-0906895A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28A32C-8EB0-403B-B23C-222DF0CE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现状与痛点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4CC4F8-B732-4D69-9DE0-D277181F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你的才华,不该耗在台账和聊天记录里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8C7F573-D83D-47CA-BD22-7C934B6D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7F19B12-CEB3-4C06-8969-EF33DB4B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416052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000"/>
              </a:spcAft>
              <a:buNone/>
            </a:pPr>
            <a:r>
              <a:rPr sz="160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开工作室,是因为热爱创作与教学。</a:t>
            </a:r>
          </a:p>
          <a:p xmlns:a="http://schemas.openxmlformats.org/drawingml/2006/main">
            <a:pPr marL="0" indent="0">
              <a:spcAft>
                <a:spcPts val="1400"/>
              </a:spcAft>
              <a:buNone/>
            </a:pPr>
            <a:r>
              <a:rPr sz="1300">
                <a:solidFill>
                  <a:srgbClr val="475569"/>
                </a:solidFill>
                <a:latin typeface="Arial"/>
                <a:ea typeface="Arial"/>
                <a:cs typeface="Arial"/>
              </a:rPr>
              <a:t>没有人是为了对账、催费、翻聊天记录才创业的。可行政琐事每天都在偷时间——偷走的,本该属于作品和学生。</a:t>
            </a:r>
          </a:p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400" i="1">
                <a:solidFill>
                  <a:srgbClr val="64748B"/>
                </a:solidFill>
                <a:latin typeface="Arial"/>
                <a:ea typeface="Arial"/>
                <a:cs typeface="Arial"/>
              </a:rPr>
              <a:t>“一个老师,三四个工具,没有一个是为工作室设计的。”</a:t>
            </a:r>
          </a:p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把琐事交出去,把时间拿回来。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6BE2181-7754-4D45-A215-48162387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03120"/>
            <a:ext cx="3246120" cy="178308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C558E7E-E968-4702-85DC-456C430A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235915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67ae6957b4b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8859" y="248277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480E7A2-50B2-4A1B-8240-85A90462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377440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被打断的排练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A2C28F1-5846-4FB6-B74C-512AC0FE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017520"/>
            <a:ext cx="26974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『还剩几节课?』一句询问,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要翻三个月的群记录才答得上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B93551-199E-4C3F-874E-E196629E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103120"/>
            <a:ext cx="3246120" cy="178308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8EB01EE-D2DE-446D-8745-F296BB3A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35915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c23125f4c4f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46419" y="248277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3319601-618C-4B36-BEBE-8C1FFCB6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377440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深夜的对账表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971C71C3-E8E0-4031-8C79-4646B9A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017520"/>
            <a:ext cx="26974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白天上课,晚上核 Excel,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吃掉的是备课和新作品的时间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AB7E083C-D786-4482-86C0-E7671876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14800"/>
            <a:ext cx="3246120" cy="178308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1B39BDC-7E80-4231-817A-52E2EE86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437083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4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b12ea6e5649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8859" y="449445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4A2CD976-CB76-40F8-B70D-036611F1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389120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经不起丢的纸条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551294B-9106-4178-9C3D-E151D07B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029200"/>
            <a:ext cx="26974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收据在抽屉、承诺在口头,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家长的信任不该系在一张纸上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98F58032-F986-4A07-877F-6C8116E6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114800"/>
            <a:ext cx="3246120" cy="178308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CFA11C0E-7F0E-46B2-8440-48526206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437083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5839f6c8442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46419" y="449445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CD1CEB2B-D604-4DCE-A71B-105F4647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389120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看不见的作品墙</a:t>
            </a:r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04E5DDE9-723F-4F1C-9D47-E8C53882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5029200"/>
            <a:ext cx="26974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作品攒了一屋子,线上无处可看,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新学员只能靠转介绍</a:t>
            </a:r>
          </a:p>
        </p:txBody>
      </p:sp>
    </p:spTree>
    <p:extLst>
      <p:ext uri="{BB962C8B-B14F-4D97-AF65-F5344CB8AC3E}">
        <p14:creationId xmlns:p14="http://schemas.microsoft.com/office/powerpoint/2010/main" val="1665797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D971B3-922C-4E35-8173-348F359A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04FEED-7165-454B-8E30-36FFB734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产品总览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DD94F1C-E70F-4AC3-8AFF-18A5E1A9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台前是你的品牌,幕后是一个系统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C152E3-1639-4D62-9688-712FFBD0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C3866D2-CD77-4054-A837-02531572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768"/>
            <a:ext cx="2560320" cy="2907792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EA4CE78-EDE6-4C2F-97AD-A2C95C8C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2880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efdb5579c4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809" y="19619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194D1A0-FA46-46E1-AE40-1538701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48716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门户 Portal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29EB7B-A561-4538-BC5B-8BBD6410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83464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/&lt;机构名&gt;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5AB6814-BC88-4A18-B8C7-0E8185C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18688"/>
            <a:ext cx="21031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公开官网:课程 · 作品集 · FAQ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页内直接报名,不跳转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学员自助区入口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A2791A9-3197-42D2-BDF8-DB6D82BF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572768"/>
            <a:ext cx="2560320" cy="2907792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20563E3-8203-470B-845C-9862FFAC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182880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158c6c72a49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81593" y="19619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6263AF6-0F8E-4790-82BA-9A6FE88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248716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快速报名 Register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D7C0BB3-37A6-44F8-A30F-18548B0A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283464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/&lt;机构名&gt;/register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CE7E40-5515-4939-AD04-15A300CC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3218688"/>
            <a:ext cx="21031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独立报名页,可扫码直达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机构自定义报名问题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与门户共用同一审核流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C31E7DD-3752-495F-8E25-01D9E59A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72768"/>
            <a:ext cx="2560320" cy="2907792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2DF18F4-C036-45B7-BDEA-2B84B110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242cf7dd042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5377" y="19619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710EBA34-3B57-4407-A1E2-BA2CD394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48716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运营 CMS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DDC9BF04-88AA-4BD9-B728-FD27CC4E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83464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/&lt;机构名&gt;/cms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C6499FC5-5629-4D46-9931-66022AAB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218688"/>
            <a:ext cx="21031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学员 · 排课 · 签到 · 课时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收退费 · 报名审核 · 日志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作品集与数据统计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4DBBF541-18ED-457E-B184-D6E474C3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1572768"/>
            <a:ext cx="2560320" cy="2907792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6B94FC70-A55A-49A4-AE41-7C360640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182880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9e7d653b14b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9161" y="19619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2B67D39E-4A2A-4BDE-A3FA-D51902D2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48716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品牌工作台 Studio Admin</a:t>
            </a:r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4D08D27C-0D17-4DA7-AAC0-B91B5BEC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83464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/&lt;机构名&gt;/studio-admin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D59C3B4F-5537-495D-B526-9A50B549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3218688"/>
            <a:ext cx="21031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Logo · 配色 · 双语文案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报名字段配置与预览</a:t>
            </a:r>
          </a:p>
          <a:p xmlns:a="http://schemas.openxmlformats.org/drawingml/2006/main">
            <a:pPr marL="101600" indent="-1016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草稿 → 发布 → 版本回滚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AC73118-C98A-4AD7-A535-7BF087A0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00600"/>
            <a:ext cx="11091672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1729"/>
          </a:solidFill>
        </p:spPr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75B3F4EB-CC77-43E2-9DB6-705A354F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6636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355A"/>
          </a:solidFill>
        </p:spPr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cc80b576b4c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1817" y="529949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E0E556C9-496C-49E5-B01B-6CBF30FC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01768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 Admin · 商业控制台(平台侧)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CBB73B64-F39C-44CE-9B15-4D0B457B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85816"/>
            <a:ext cx="9784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BD5E1"/>
                </a:solidFill>
                <a:latin typeface="Arial"/>
                <a:ea typeface="Arial"/>
                <a:cs typeface="Arial"/>
              </a:rPr>
              <a:t>租户开通 / 套餐与账单 / 用量监控 / 审计日志 —— 平台方不接触学员敏感数据,进店必须走留痕的支持模式</a:t>
            </a:r>
          </a:p>
        </p:txBody>
      </p:sp>
    </p:spTree>
    <p:extLst>
      <p:ext uri="{BB962C8B-B14F-4D97-AF65-F5344CB8AC3E}">
        <p14:creationId xmlns:p14="http://schemas.microsoft.com/office/powerpoint/2010/main" val="1450200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BFB38D9-923C-412D-A020-77D5E980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6E3187-3D4C-4351-8F83-75924384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获客 · 门户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C98EEA8-1811-462B-912A-7ADD8B9B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把作品挂上网,把报名开进门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9A954F3-2B99-4D79-81BB-5D4A959A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519D7CA-9C41-4464-8615-C48DB9D8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943600" cy="466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自带公开官网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课程介绍、师资与作品集、FAQ、联系方式,开通即上线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页内报名,零跳转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访客在官网内直接完成报名,减少流失;也可用独立报名页扫码直达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中英双语一键切换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所有公开文案双语维护,面向多语言家庭的社区尤其有效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来源可追踪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报名自动记录来源渠道与 UTM 参数,知道每个学员从哪里来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学员自助区入口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老学员凭访问码自助查询,减少前台重复答疑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4CBFFD2-BF56-43C0-9698-095A818A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737360"/>
            <a:ext cx="4709160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0" dist="38100" dir="5400000" sx="100000" sy="100000" kx="0" ky="0" algn="bl" rotWithShape="0">
              <a:srgbClr val="0F172A">
                <a:alpha val="14000"/>
              </a:srgbClr>
            </a:outerShdw>
          </a:effectLst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C28EED1-3E5D-45C9-A846-1EC11127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737360"/>
            <a:ext cx="470916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3FAB498-F645-49E2-87C1-D086B88F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85623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1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DC674DA-4273-4F2D-BE04-0D88BE4B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85623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1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46E1CA2-428E-45C7-A2A3-BF7E0100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185623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1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20A3B7B-0839-48DD-B486-B2DE0B29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55648"/>
            <a:ext cx="31089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Arial"/>
                <a:ea typeface="Arial"/>
                <a:cs typeface="Arial"/>
              </a:rPr>
              <a:t>yourstudio.example — 门户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0DF5912-092A-44D2-A0DC-AD0039F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286000"/>
            <a:ext cx="4251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9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D735412-941D-4FF3-8E3C-839EE6FB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450592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让每个孩子爱上创作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5A00031-50AD-4E47-8FE2-926AC78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798064"/>
            <a:ext cx="3108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Arial"/>
                <a:ea typeface="Arial"/>
                <a:cs typeface="Arial"/>
              </a:rPr>
              <a:t>Where every child learns to create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637C2B7-3E9B-4DD7-B788-F538AD31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127248"/>
            <a:ext cx="1143000" cy="34747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3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50A61D0-5C43-489E-B404-09482C63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127248"/>
            <a:ext cx="1143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立即报名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129CAC3-9750-4C44-A5BD-9632FEDB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840480"/>
            <a:ext cx="132588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A4DDB-3CF9-4114-B73C-291FDF73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3950208"/>
            <a:ext cx="110642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AF82E6-86D1-449F-83BE-6DC96179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4498848"/>
            <a:ext cx="11064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少儿美术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6E179B1-4447-4A4F-89C0-A1642220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840480"/>
            <a:ext cx="132588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ED44034-340B-4029-81D2-836B068D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3950208"/>
            <a:ext cx="110642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BD5E3CE-253D-40F4-AFE8-0B32963D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4498848"/>
            <a:ext cx="11064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素描进阶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CB471C-E728-4BBA-AF90-C938C4A1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40480"/>
            <a:ext cx="132588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B96FE4E-BF9D-4299-B147-ACD7419C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3950208"/>
            <a:ext cx="110642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12D3C11-3192-4AF6-BEF4-CC44B2BC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4498848"/>
            <a:ext cx="110642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创意手工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21A44FF-3D31-4BAD-95C8-E4927CFE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193792"/>
            <a:ext cx="4251960" cy="749808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2C7E02E-1C0A-4FE0-BAD9-B1C50D60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53400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b517b72fe49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6640" y="545896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53E7B6E-D475-4C8A-878E-33377888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266944"/>
            <a:ext cx="3429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学员自助区</a:t>
            </a:r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E1729"/>
                </a:solidFill>
                <a:latin typeface="Arial"/>
                <a:ea typeface="Arial"/>
                <a:cs typeface="Arial"/>
              </a:rPr>
              <a:t>姓名 + 手机号 + 访问码,查课时与作品集</a:t>
            </a:r>
          </a:p>
        </p:txBody>
      </p:sp>
    </p:spTree>
    <p:extLst>
      <p:ext uri="{BB962C8B-B14F-4D97-AF65-F5344CB8AC3E}">
        <p14:creationId xmlns:p14="http://schemas.microsoft.com/office/powerpoint/2010/main" val="373718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B4C3A7-A46F-4CEB-B83B-48A1BDB0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83E80A-8928-4717-A3C4-4B7A76C8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获客 · 报名审核漏斗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A3FF55E-A351-4146-8B0F-0CEAEBB0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从询价到开课,不乱一个节拍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533DDF7-62A3-444C-8BDD-077B253B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BA9D8BB-C34C-4B29-8D50-5E348C7D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2971800" cy="10515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E1729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BFEFB3-27E7-40E2-BEBA-E90877A9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39112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提交报名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C892685-33CF-4DD4-9F9C-F0654BAF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门户或独立报名页,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字段由机构自定义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2DDB2BD-E086-431D-BD80-2D4A7CC0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783080"/>
            <a:ext cx="2971800" cy="10515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233D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86CB46A-E564-4520-A761-A444FDC7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2039112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自动把关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42F3427-9531-49AE-8D25-003998BC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297180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限流防刷 + 蜜罐反机器人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+ 重复报名检测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865758C-F712-40FA-A7CC-A110B43B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1783080"/>
            <a:ext cx="2971800" cy="10515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2355A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FB57C5-FFFC-4899-92BB-FC4632D0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2039112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人工审核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1CDFBC4-FB29-4BA7-B89B-8821423B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297180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CMS 待审队列,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通过 / 拒绝一目了然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8956D03-6F50-4FD8-802D-3870D4A2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944" y="1783080"/>
            <a:ext cx="2971800" cy="10515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DC0732E-C3AE-4F93-84A8-C47D52AA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039112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04 转为学员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A6CB693-2AC0-48F4-811C-D57335A2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971800"/>
            <a:ext cx="2377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一键建档,进入课时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与签到体系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1FCA293-5CF6-4B35-9D5E-8B72E226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0520"/>
            <a:ext cx="7178040" cy="192024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1D37DB3-5E22-4850-BC1D-91B6F230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61688"/>
            <a:ext cx="6583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自动把关,把垃圾流量挡在门外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615607D-5820-4CA6-BFB3-E7510D29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737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63e06fa4441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832" y="499262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EF64263-FD1D-4ABF-A683-DB25E468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5816"/>
            <a:ext cx="21031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限流防刷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6233D"/>
                </a:solidFill>
                <a:latin typeface="Arial"/>
                <a:ea typeface="Arial"/>
                <a:cs typeface="Arial"/>
              </a:rPr>
              <a:t>同一 IP 每分钟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6233D"/>
                </a:solidFill>
                <a:latin typeface="Arial"/>
                <a:ea typeface="Arial"/>
                <a:cs typeface="Arial"/>
              </a:rPr>
              <a:t>最多 5 次提交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B727F34-EE6F-415C-AB26-9606450A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8737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c9ee0189445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3552" y="499262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DF47CB2C-EC2C-4EA5-ACFC-8171CC4D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385816"/>
            <a:ext cx="21031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蜜罐字段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6233D"/>
                </a:solidFill>
                <a:latin typeface="Arial"/>
                <a:ea typeface="Arial"/>
                <a:cs typeface="Arial"/>
              </a:rPr>
              <a:t>机器人提交被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6233D"/>
                </a:solidFill>
                <a:latin typeface="Arial"/>
                <a:ea typeface="Arial"/>
                <a:cs typeface="Arial"/>
              </a:rPr>
              <a:t>静默丢弃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DCE7E145-9C7F-4F5E-B259-08CA7A6B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737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6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c3eba61414a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5272" y="499262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C4E96C96-CE43-4A74-BDD5-213D890A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5385816"/>
            <a:ext cx="21031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重复检测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6233D"/>
                </a:solidFill>
                <a:latin typeface="Arial"/>
                <a:ea typeface="Arial"/>
                <a:cs typeface="Arial"/>
              </a:rPr>
              <a:t>疑似重复报名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6233D"/>
                </a:solidFill>
                <a:latin typeface="Arial"/>
                <a:ea typeface="Arial"/>
                <a:cs typeface="Arial"/>
              </a:rPr>
              <a:t>自动提示,避免重复建档</a:t>
            </a:r>
          </a:p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3DB435D-D842-4BEF-99DD-599BAEE4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60520"/>
            <a:ext cx="3639312" cy="192024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E1729"/>
          </a:solidFill>
        </p:spPr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CBE71421-CB5D-4C5E-9DD4-029E3A1A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39826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355A"/>
          </a:solidFill>
        </p:spPr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6899ec0044a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94192" y="4517136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49D107DD-940C-4F2E-9644-579601BF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946904"/>
            <a:ext cx="31089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全程留痕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BD5E1"/>
                </a:solidFill>
                <a:latin typeface="Arial"/>
                <a:ea typeface="Arial"/>
                <a:cs typeface="Arial"/>
              </a:rPr>
              <a:t>谁审核、何时通过或拒绝,全部写入审计日志;来源与渠道随学员档案沉淀。</a:t>
            </a:r>
          </a:p>
        </p:txBody>
      </p:sp>
    </p:spTree>
    <p:extLst>
      <p:ext uri="{BB962C8B-B14F-4D97-AF65-F5344CB8AC3E}">
        <p14:creationId xmlns:p14="http://schemas.microsoft.com/office/powerpoint/2010/main" val="10470205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2EA3358-3859-4D3B-BA99-455825B5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6161E1-5D68-4EA9-B238-B97C312F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运营 · CMS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024778-7658-4A41-A3B7-8C3E2D70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每一节课的去向,像五线谱一样清晰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2D56AB3-B82C-4A52-821A-A1B180ED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AEA6BAE-E3DC-4CE9-9888-C3CC3D3C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440680" cy="452628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5755F4A-37EA-4303-A63C-BD2EB154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9339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d8ea0787d44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587" y="211701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7293C91-B320-437F-B13E-01518CCA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0116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今日排课与签到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1CD3D77-AAC4-44A3-8CD7-A013539B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4892040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4FD43-3A5A-4DB5-AA24-1EE185AD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85292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BF3F23B-5634-4F55-A092-077051AA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43200"/>
            <a:ext cx="274320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小雨 · 少儿美术 16:00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929D6CD-9901-4D6F-B5CA-E5D4FA3F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743200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4748B"/>
                </a:solidFill>
                <a:latin typeface="Arial"/>
                <a:ea typeface="Arial"/>
                <a:cs typeface="Arial"/>
              </a:rPr>
              <a:t>已签到 · 扣 1 课时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CA8CFA5-B364-4604-A967-4BF06F60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10712"/>
            <a:ext cx="4892040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637E6DE-89FC-47EC-8B08-DD1D02CB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56616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5C2E830-DBAC-4513-8661-D5CB386B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74320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Lucas · 素描进阶 16:00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8E78399-87B6-4FA2-9C7A-E0FBCAA2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456432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4748B"/>
                </a:solidFill>
                <a:latin typeface="Arial"/>
                <a:ea typeface="Arial"/>
                <a:cs typeface="Arial"/>
              </a:rPr>
              <a:t>已签到 · 扣 1 课时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5BF91DB-05DB-4447-AB73-80F9FA66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23944"/>
            <a:ext cx="4892040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D7D0F04-F0A5-4ED4-9B74-4DF65305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27939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52CBE5B-40E1-4149-B6E8-9FBC09A9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169664"/>
            <a:ext cx="274320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朵朵 · 创意手工 17:30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8F399F5-FC20-4393-9762-F4DA2023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169664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B45309"/>
                </a:solidFill>
                <a:latin typeface="Arial"/>
                <a:ea typeface="Arial"/>
                <a:cs typeface="Arial"/>
              </a:rPr>
              <a:t>余额不足 · 已拦截并提醒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25898AF-DEA9-4BB6-807A-D5AA7A5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37760"/>
            <a:ext cx="48920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27000" indent="-127000">
              <a:spcAft>
                <a:spcPts val="500"/>
              </a:spcAft>
              <a:buSzPct val="100000"/>
              <a:buChar char="•"/>
            </a:pPr>
            <a:r>
              <a:rPr sz="1150">
                <a:solidFill>
                  <a:srgbClr val="475569"/>
                </a:solidFill>
                <a:latin typeface="Arial"/>
                <a:ea typeface="Arial"/>
                <a:cs typeface="Arial"/>
              </a:rPr>
              <a:t>签到自动扣减课时,余额不足当场拦截</a:t>
            </a:r>
          </a:p>
          <a:p xmlns:a="http://schemas.openxmlformats.org/drawingml/2006/main">
            <a:pPr marL="127000" indent="-127000">
              <a:spcAft>
                <a:spcPts val="500"/>
              </a:spcAft>
              <a:buSzPct val="100000"/>
              <a:buChar char="•"/>
            </a:pPr>
            <a:r>
              <a:rPr sz="1150">
                <a:solidFill>
                  <a:srgbClr val="475569"/>
                </a:solidFill>
                <a:latin typeface="Arial"/>
                <a:ea typeface="Arial"/>
                <a:cs typeface="Arial"/>
              </a:rPr>
              <a:t>老师用平板即可点名,前台无需二次录入</a:t>
            </a:r>
          </a:p>
          <a:p xmlns:a="http://schemas.openxmlformats.org/drawingml/2006/main">
            <a:pPr marL="127000" indent="-127000">
              <a:buSzPct val="100000"/>
              <a:buChar char="•"/>
            </a:pPr>
            <a:r>
              <a:rPr sz="1150">
                <a:solidFill>
                  <a:srgbClr val="475569"/>
                </a:solidFill>
                <a:latin typeface="Arial"/>
                <a:ea typeface="Arial"/>
                <a:cs typeface="Arial"/>
              </a:rPr>
              <a:t>缺勤 / 补课情况在日志中可追溯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4727F65-418C-434E-B191-DBF033AF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76672" cy="452628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F6AFB9F-DDAE-4D40-91F1-2B54B300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pic>
        <p:nvPicPr>
          <p:cNvPr id="6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e78ecba424e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1587" y="2117019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31E95B1-A430-42C6-B562-EF1B1F30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0116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课时账本(流水式)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2976569-2307-4E34-A1E6-F07B6C35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734056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03-02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0C758568-0FC7-4AD8-9A1E-328C62D1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34056"/>
            <a:ext cx="3108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6233D"/>
                </a:solidFill>
                <a:latin typeface="Arial"/>
                <a:ea typeface="Arial"/>
                <a:cs typeface="Arial"/>
              </a:rPr>
              <a:t>购买 10 次课包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48246165-1830-4135-AFDE-87C14355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2734056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5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+10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CFD7C96E-74D8-4F8A-9E64-24F99B7E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64408"/>
            <a:ext cx="4828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900CC88F-C208-4735-96C2-DB0183BB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00984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03-09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7B80845-1E80-47DB-8ED2-10B7DB7D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300984"/>
            <a:ext cx="3108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6233D"/>
                </a:solidFill>
                <a:latin typeface="Arial"/>
                <a:ea typeface="Arial"/>
                <a:cs typeface="Arial"/>
              </a:rPr>
              <a:t>到店签到(少儿美术)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0D002E2F-819C-47F9-9A21-C3A76B5D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3300984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3BAF412-6F1B-4FE0-BEAD-466A9623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31336"/>
            <a:ext cx="4828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4FD0AECB-1F7C-4081-B095-DCEF9370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67912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03-16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4E013D27-BFC9-4F62-AA50-B0632FCC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867912"/>
            <a:ext cx="3108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6233D"/>
                </a:solidFill>
                <a:latin typeface="Arial"/>
                <a:ea typeface="Arial"/>
                <a:cs typeface="Arial"/>
              </a:rPr>
              <a:t>到店签到(少儿美术)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427EBBC3-6289-480D-BD3C-2F1986E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3867912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DC8DA495-B273-4FF3-ADB0-139412C4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98264"/>
            <a:ext cx="4828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3BD4646C-51FC-402D-A1A0-6CA893E4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43484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04-01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30409B29-2AB8-4CB8-93AC-D139567B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34840"/>
            <a:ext cx="3108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6233D"/>
                </a:solidFill>
                <a:latin typeface="Arial"/>
                <a:ea typeface="Arial"/>
                <a:cs typeface="Arial"/>
              </a:rPr>
              <a:t>退费冲减 · 店长操作</a:t>
            </a:r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EA038F3F-B12B-4FD1-851F-A6A141CE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443484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50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−3</a:t>
            </a:r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AFD4FF1F-DA91-4F73-BCCC-6AA0F05B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138928"/>
            <a:ext cx="4828032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C1057778-74E8-4623-B3CB-F749C943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5212080"/>
            <a:ext cx="44622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78350F"/>
                </a:solidFill>
                <a:latin typeface="Arial"/>
                <a:ea typeface="Arial"/>
                <a:cs typeface="Arial"/>
              </a:rPr>
              <a:t>余额 = 每一笔流水之和。不是一个可以随手改掉的数字,每次变动都记录操作人、时间与原因。</a:t>
            </a:r>
          </a:p>
        </p:txBody>
      </p:sp>
    </p:spTree>
    <p:extLst>
      <p:ext uri="{BB962C8B-B14F-4D97-AF65-F5344CB8AC3E}">
        <p14:creationId xmlns:p14="http://schemas.microsoft.com/office/powerpoint/2010/main" val="570814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F5ED52-D49F-42CD-A51A-C467899B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1D16E0-551F-4F5D-8B02-987CE8D4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运营 · 收费与退费管控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CBCCE53-4663-4647-9E94-6CE4CC00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钱上的规矩写进系统,不写在人情里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35D5DF3-6156-4CC2-958F-BDA1A88E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27" name="Table 0"/>
          <p:cNvGraphicFramePr/>
          <p:nvPr/>
        </p:nvGraphicFramePr>
        <p:xfrm>
          <a:off xmlns:a="http://schemas.openxmlformats.org/drawingml/2006/main" x="548640" y="1783080"/>
          <a:ext xmlns:a="http://schemas.openxmlformats.org/drawingml/2006/main" cx="11091672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4952"/>
                <a:gridCol w="1609344"/>
                <a:gridCol w="1609344"/>
                <a:gridCol w="1609344"/>
                <a:gridCol w="1609344"/>
                <a:gridCol w="1609344"/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操作 / 角色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店主 owner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店长 manager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老师 teacher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前台 front desk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员工 staff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收费与课时录入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课时退费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作品集对外分享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数据导出 / 经营报表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系统设置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CB306F7-B3D1-42D4-BC60-DE4C7EB2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83480"/>
            <a:ext cx="3520440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C670B38-085D-4D1D-8B51-244EF428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0293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7c09b91ba42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357" y="5317053"/>
            <a:ext cx="210678" cy="210678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0B18FE28-8663-43E7-98CC-683D5DB3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148072"/>
            <a:ext cx="2514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高危动作系统级上锁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E1729"/>
                </a:solidFill>
                <a:latin typeface="Arial"/>
                <a:ea typeface="Arial"/>
                <a:cs typeface="Arial"/>
              </a:rPr>
              <a:t>退费与对外分享仅限店主/店长,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E1729"/>
                </a:solidFill>
                <a:latin typeface="Arial"/>
                <a:ea typeface="Arial"/>
                <a:cs typeface="Arial"/>
              </a:rPr>
              <a:t>权限写死在后端,前端绕不过</a:t>
            </a:r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34B89FB-07EC-4646-A27D-B819D10F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4983480"/>
            <a:ext cx="3520440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2D387D0D-5F58-4014-BABF-811044C9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20293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a2a7d161341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6973" y="5317053"/>
            <a:ext cx="210678" cy="210678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266EC2E5-478B-45DB-AF1A-1439B2BB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148072"/>
            <a:ext cx="2514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前台能收不能退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E1729"/>
                </a:solidFill>
                <a:latin typeface="Arial"/>
                <a:ea typeface="Arial"/>
                <a:cs typeface="Arial"/>
              </a:rPr>
              <a:t>前台可录入收费与课时,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E1729"/>
                </a:solidFill>
                <a:latin typeface="Arial"/>
                <a:ea typeface="Arial"/>
                <a:cs typeface="Arial"/>
              </a:rPr>
              <a:t>退费必须升级到管理层</a:t>
            </a:r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3B7D1879-A371-4E2D-8FFD-14560E04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4983480"/>
            <a:ext cx="3520440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1CAB51D1-F3A2-456F-B17E-3427C11C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520293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debb6079d40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62589" y="5317053"/>
            <a:ext cx="210678" cy="210678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8DF772E3-D46C-481C-9F65-3B2CDC3E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544" y="5148072"/>
            <a:ext cx="2514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每一步有审计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E1729"/>
                </a:solidFill>
                <a:latin typeface="Arial"/>
                <a:ea typeface="Arial"/>
                <a:cs typeface="Arial"/>
              </a:rPr>
              <a:t>谁在何时退了几节课,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0E1729"/>
                </a:solidFill>
                <a:latin typeface="Arial"/>
                <a:ea typeface="Arial"/>
                <a:cs typeface="Arial"/>
              </a:rPr>
              <a:t>审计日志一查便知</a:t>
            </a:r>
          </a:p>
        </p:txBody>
      </p:sp>
    </p:spTree>
    <p:extLst>
      <p:ext uri="{BB962C8B-B14F-4D97-AF65-F5344CB8AC3E}">
        <p14:creationId xmlns:p14="http://schemas.microsoft.com/office/powerpoint/2010/main" val="1172402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3AB4FB0-2DEF-4715-B778-06118E1D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A5B4E5-E6A9-4A2E-B346-30FBE5FD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品牌 · 个性化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BFE8831-9A85-423E-AF34-14EB7E94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你的工作室,值得和作品一样讲究的门面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0C0782D-E2C5-409E-AD3E-C4FFE6AD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539A620-CDFB-417F-A500-BC357D09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852160" cy="466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8 套行业模板一键套用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美术 / 音乐 / 数学 / 舞蹈 / 语言 / 运动 / 编程 / 通用——含行业文案、报名问题与推荐主题,可一键撤销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8 套专业配色主题 · 15 个明暗变体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每个颜色值按 WCAG 无障碍对比度逐值求解,不是随手挑的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中英双语全覆盖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公开页所有文案两种语言分别维护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报名字段自定义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想问什么就问什么:年龄、经验、过敏史……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草稿 → 预览 → 发布 → 版本回滚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改错了随时回到上一版,不影响线上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ECAAB6C-4EB5-41CF-A108-C3390C42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783080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3ECEA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9E69E9B-2960-4FA8-BB09-01C2A8FC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0665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9985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5E0E216-D1DC-4F8E-A379-0F95ECF2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1929384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陶土工坊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BF52F22-067D-4ACC-A3DF-009C0C6C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2286000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明暗双模式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F47AADE-0205-440D-90C4-A7B9E8B8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83080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3EFEA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5BC3106-6BE5-44F3-99FB-14DBC7CE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0665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F74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7E92840-6BE4-43C0-AF35-3DE9D1FD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1929384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复古印刷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62A5F3E-B4A3-4BA4-A405-744A90B3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286000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明暗双模式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97DE3F4-D3C0-4F9D-ACAC-F9B075E7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898648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FEEEE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789F7B4-1384-43B9-A94D-372E68D8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18211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58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D944A40-F927-42F3-9942-84EABC7E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3044952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黑白纸墨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AB56AA8-048C-4308-B963-C39250C7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3401568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明暗双模式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040255F-5581-4C65-8AFE-7237A8E8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98648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9EFF3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4A8E3D4-9EFD-4A3F-9C12-29863D34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18211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5BF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5FDFA74-56FB-4D09-8EA0-B1D36E38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3044952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静谧海港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890AEAF-6196-4693-8E5F-BE3A88E0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3401568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明暗双模式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9306BFF-CC5C-4D09-BA78-56BCE998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14216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BF2EE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D705F1A-707E-4F17-A49A-D97D48A7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2976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9E77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914AB2B-5BC4-4F16-829B-34974023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4160520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雪松林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9FB6B03-550F-4AC1-8629-5AAE18F5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4517136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明暗双模式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8018C9B-2550-435B-9604-C2106990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14216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0EBF2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A1046F4-C5FD-481C-8C86-1250E1A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42976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7DB8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72782CB-73FD-45EB-8445-2B08EBFC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4160520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独奏紫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32AF56E-A5A2-403A-B4BB-DEDA9DB8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4517136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明暗双模式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F4E604A-B9F7-4F9F-A236-EEB5D216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129784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3EAED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939D3DEE-7E3C-45C8-9616-9F05F89B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41324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88D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8B2A5A9-D7C0-46BD-942C-165DC896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276088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排练玫瑰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4BC7B16-FB14-4669-BCFB-37810B52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632704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Arial"/>
                <a:ea typeface="Arial"/>
                <a:cs typeface="Arial"/>
              </a:rPr>
              <a:t>明暗双模式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21AA55D-3D6E-4CFD-9195-EFBBB58F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29784"/>
            <a:ext cx="2395728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2180B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6686E6C9-CBC8-4A17-BDD5-2D9F2F26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541324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B926"/>
          </a:solidFill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82DCD95-7347-4E59-8AC4-FA8AA39D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5276088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街机青柠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0973F19-A18C-4A2C-916E-EC4C10AB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5632704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0A996"/>
                </a:solidFill>
                <a:latin typeface="Arial"/>
                <a:ea typeface="Arial"/>
                <a:cs typeface="Arial"/>
              </a:rPr>
              <a:t>深色模式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05E654F5-B82F-4AAD-B070-D331577C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626364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  <a:latin typeface="Arial"/>
                <a:ea typeface="Arial"/>
                <a:cs typeface="Arial"/>
              </a:rPr>
              <a:t>↑ 内置主题实拍色 · 全部通过 WCAG AA 对比度校验</a:t>
            </a:r>
          </a:p>
        </p:txBody>
      </p:sp>
    </p:spTree>
    <p:extLst>
      <p:ext uri="{BB962C8B-B14F-4D97-AF65-F5344CB8AC3E}">
        <p14:creationId xmlns:p14="http://schemas.microsoft.com/office/powerpoint/2010/main" val="192895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023498-1F50-41F7-AD6A-2546FD22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156394-08AB-45FF-980C-3EDD2E33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家庭端 · 自助查询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4643B8C-54E8-410A-8548-0FEBB25F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家长看到的不是数字,是孩子的成长轨迹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C7F992B-F9F2-461F-9411-2455D06E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2AD6ABD-E84F-43CC-B10C-F96D352C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6217920" cy="466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一个访问码,查清所有事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机构签发 6 位访问码,家长用 姓名 + 手机号 + 访问码 登入自助区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无需注册、无需下载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手机浏览器直接用,对家长零门槛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课时余额与消课记录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还剩几次课、每次课扣在哪一天,一目了然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孩子的作品集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机构上传的作品与成长记录,家长随时可看</a:t>
            </a:r>
          </a:p>
          <a:p xmlns:a="http://schemas.openxmlformats.org/drawingml/2006/main"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3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安全的短时会话</a:t>
            </a:r>
          </a:p>
          <a:p xmlns:a="http://schemas.openxmlformats.org/drawingml/2006/main">
            <a:pPr marL="0" lvl="1" indent="0">
              <a:spcAft>
                <a:spcPts val="1200"/>
              </a:spcAft>
              <a:buNone/>
            </a:pP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会话一小时自动过期;访问码可随时撤销重发,错试有锁定保护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E626224-322B-4A68-AD2A-4884D27E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600200"/>
            <a:ext cx="2880360" cy="4663440"/>
          </a:xfrm>
          <a:prstGeom xmlns:a="http://schemas.openxmlformats.org/drawingml/2006/main" prst="roundRect">
            <a:avLst>
              <a:gd name="adj" fmla="val 69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0E1729"/>
            </a:solidFill>
            <a:prstDash val="solid"/>
          </a:ln>
          <a:effectLst xmlns:a="http://schemas.openxmlformats.org/drawingml/2006/main">
            <a:outerShdw blurRad="127000" dist="38100" dir="5400000" sx="100000" sy="100000" kx="0" ky="0" algn="bl" rotWithShape="0">
              <a:srgbClr val="0F172A">
                <a:alpha val="15000"/>
              </a:srgbClr>
            </a:outerShdw>
          </a:effectLst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9663AA2-139E-4987-98CD-5B918ADA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728216"/>
            <a:ext cx="868680" cy="10972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9F731E-7FD7-427D-8BD5-CB1799C9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984248"/>
            <a:ext cx="2331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学员中心 · Student Area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2A021B7-A482-467D-8024-CB0F5B68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377440"/>
            <a:ext cx="233172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1729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57D8C8-B680-45FA-A7A8-6895E23E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468880"/>
            <a:ext cx="11887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5B33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FA3581-DE87-428F-AAF2-83C05D89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624328"/>
            <a:ext cx="1234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剩余课时</a:t>
            </a:r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94A3B8"/>
                </a:solidFill>
                <a:latin typeface="Arial"/>
                <a:ea typeface="Arial"/>
                <a:cs typeface="Arial"/>
              </a:rPr>
              <a:t>少儿美术 · 10 次卡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2E3FEB1-6C6A-4721-9C09-CB8A2F7B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648456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最近消课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EFFAD61-F8D6-4324-9157-91DD660D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941064"/>
            <a:ext cx="233172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D763D60-E30F-4BCC-909A-34746AA0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941064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03-16 周六 16:00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255100C-E2F9-4B0F-A7A6-3CECDCF6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41064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E5A6368-0C9C-41DD-B4D1-540CAA9C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398264"/>
            <a:ext cx="233172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19712DE-17CB-47F8-A8E9-D76A5E9C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398264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Arial"/>
                <a:ea typeface="Arial"/>
                <a:cs typeface="Arial"/>
              </a:rPr>
              <a:t>03-09 周六 16:00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8107516-0467-43AB-96EE-21A352F2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98264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16233D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BEF6AC7-F6CB-49AE-BF67-E54FE9A3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946904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作品集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A52F014-A6A1-46E4-96D9-AC063247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239512"/>
            <a:ext cx="512064" cy="512064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CE9985">
              <a:alpha val="75000"/>
            </a:srgbClr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9DE0E6B-0739-4A28-B40D-5B43F039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5239512"/>
            <a:ext cx="512064" cy="512064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77ABCF">
              <a:alpha val="75000"/>
            </a:srgbClr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53B60FE-F3AE-4A22-BA0C-46283F1C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5239512"/>
            <a:ext cx="512064" cy="512064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59E0B">
              <a:alpha val="75000"/>
            </a:srgbClr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AF0ECB4-97DA-4B70-867A-E1DAF6D0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5239512"/>
            <a:ext cx="512064" cy="512064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6FB48F">
              <a:alpha val="75000"/>
            </a:srgbClr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D847B7B-64F8-4D80-8666-E4C5B932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9240"/>
            <a:ext cx="6583680" cy="86868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C260C68-4602-4D78-A087-973F7D13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9240"/>
            <a:ext cx="61264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78350F"/>
                </a:solidFill>
                <a:latin typeface="Arial"/>
                <a:ea typeface="Arial"/>
                <a:cs typeface="Arial"/>
              </a:rPr>
              <a:t>省下来的,是前台每天几十次的重复报数;留下来的,是家长随时翻得到的成长记录。</a:t>
            </a:r>
          </a:p>
        </p:txBody>
      </p:sp>
    </p:spTree>
    <p:extLst>
      <p:ext uri="{BB962C8B-B14F-4D97-AF65-F5344CB8AC3E}">
        <p14:creationId xmlns:p14="http://schemas.microsoft.com/office/powerpoint/2010/main" val="16640190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BA9A4BB-C2BB-4070-B73D-2B118DF7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FC5A0A-47A6-48C6-9F75-922DB4AA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数据安全与隐私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A1DE05D-3951-48E0-A0ED-54E473EF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孩子的作品与隐私,像原作一样保管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F623FE2-BCB2-474E-94FC-A34A4D14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9B0B362-DB71-42EC-B3DF-A3F51E3C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431536" cy="2121408"/>
          </a:xfrm>
          <a:prstGeom xmlns:a="http://schemas.openxmlformats.org/drawingml/2006/main" prst="roundRect">
            <a:avLst>
              <a:gd name="adj" fmla="val 387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35E969C-CAA5-4A68-B36C-DB9278D0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157276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1729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12AB549-8C88-4F94-9174-3AFC2B13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15727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201 项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3403AC5-0F40-49CE-985C-085ED201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002536"/>
            <a:ext cx="31912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租户隔离自动化检查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2A4E3BB-83E3-4D29-A39E-ACF19A0F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15768"/>
            <a:ext cx="4864608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每家机构的数据严格隔离,跨店访问必须失败——每次发版 201 项隔离测试全绿才允许上线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DAF71B2-4B52-4AD3-BD0E-85C97570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691640"/>
            <a:ext cx="5431536" cy="2121408"/>
          </a:xfrm>
          <a:prstGeom xmlns:a="http://schemas.openxmlformats.org/drawingml/2006/main" prst="roundRect">
            <a:avLst>
              <a:gd name="adj" fmla="val 387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0D664CA-9F37-4B63-895A-8F8B60A9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1965960"/>
            <a:ext cx="157276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B335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9763574-97BD-46C7-A7C4-6CB24977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1965960"/>
            <a:ext cx="15727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同意链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76B6E9C-E1D4-4FE6-9188-254CD756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002536"/>
            <a:ext cx="31912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未成年人照片保护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FC8FE0C-A95D-4CC5-A34D-F766B161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2715768"/>
            <a:ext cx="4864608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作品公开须记录监护人同意;同意与撤回是只增不改的事件链,撤回立即从公开区下线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4BC42F2-747F-4411-BBF9-86B18845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87368"/>
            <a:ext cx="5431536" cy="2121408"/>
          </a:xfrm>
          <a:prstGeom xmlns:a="http://schemas.openxmlformats.org/drawingml/2006/main" prst="roundRect">
            <a:avLst>
              <a:gd name="adj" fmla="val 387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F602E45-7B3C-4782-A958-F84989FE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61688"/>
            <a:ext cx="157276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1729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2F5C870-B39B-4E34-8AC3-02F3EDAD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61688"/>
            <a:ext cx="15727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全程留痕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5B4E26F-68E8-41C6-B417-84F0A73B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398264"/>
            <a:ext cx="31912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平台方进店必须亮牌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77A886D-9C9B-42F5-9EB7-01140480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11496"/>
            <a:ext cx="4864608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平台人员查看机构数据必须开启支持模式:填写原因、写入审计日志、页面横幅明示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B127841-80D9-4D4F-8A3E-F37A86D9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4087368"/>
            <a:ext cx="5431536" cy="2121408"/>
          </a:xfrm>
          <a:prstGeom xmlns:a="http://schemas.openxmlformats.org/drawingml/2006/main" prst="roundRect">
            <a:avLst>
              <a:gd name="adj" fmla="val 387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D5C6373-B26F-4C16-9C29-A5ABC156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4361688"/>
            <a:ext cx="157276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1729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6F6C4B3-1FC0-41E3-AD10-B87B21D5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4361688"/>
            <a:ext cx="15727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1–90 天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7EC87BF-EB21-4118-BE62-02D03053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4398264"/>
            <a:ext cx="31912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分享链接强制到期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ABF7C25-6E5B-4838-BE6E-48748DD1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111496"/>
            <a:ext cx="4864608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Arial"/>
                <a:ea typeface="Arial"/>
                <a:cs typeface="Arial"/>
              </a:rPr>
              <a:t>作品集对外分享链接必须设定有效期,可随时撤销;失效链接立即拒绝访问</a:t>
            </a:r>
          </a:p>
        </p:txBody>
      </p:sp>
    </p:spTree>
    <p:extLst>
      <p:ext uri="{BB962C8B-B14F-4D97-AF65-F5344CB8AC3E}">
        <p14:creationId xmlns:p14="http://schemas.microsoft.com/office/powerpoint/2010/main" val="8035344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CCFB62-8383-4288-9D6C-B22DBBB7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CE6FA7D-ED57-43B6-B099-F4185A31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定价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63B31C4-C514-441F-B180-AAE7BCB4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透明定价,随工作室一起成长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CC2FF92-57AB-4575-9B0C-19501FDC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4" name="Table 0"/>
          <p:cNvGraphicFramePr/>
          <p:nvPr/>
        </p:nvGraphicFramePr>
        <p:xfrm>
          <a:off xmlns:a="http://schemas.openxmlformats.org/drawingml/2006/main" x="822960" y="1691640"/>
          <a:ext xmlns:a="http://schemas.openxmlformats.org/drawingml/2006/main" cx="10543032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10712"/>
                <a:gridCol w="23774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</a:p>
                  </a:txBody>
                  <a:tcPr marL="73152" marR="73152" marT="36576" marB="3657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Starter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 49 / 月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Studio · 推荐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AUD 99 / 月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Growth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 199 / 月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学员上限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500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1500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团队账号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存储空间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5 GB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30 GB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100 GB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公开官网 + 在线报名 + 作品集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邮件通知模板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数据导出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优先支持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适合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个人老师 / 起步工作室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</a:rPr>
                        <a:t>主力档 · 成熟单店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75569"/>
                          </a:solidFill>
                          <a:latin typeface="Arial"/>
                          <a:ea typeface="Arial"/>
                          <a:cs typeface="Arial"/>
                        </a:rPr>
                        <a:t>多校区 / 扩张期</a:t>
                      </a:r>
                    </a:p>
                  </a:txBody>
                  <a:tcPr marL="73152" marR="73152" marT="36576" marB="36576" anchor="ctr">
                    <a:lnL w="12700" cmpd="sng">
                      <a:solidFill>
                        <a:srgbClr val="E2E8F0"/>
                      </a:solidFill>
                      <a:prstDash val="solid"/>
                    </a:lnL>
                    <a:lnR w="12700" cmpd="sng">
                      <a:solidFill>
                        <a:srgbClr val="E2E8F0"/>
                      </a:solidFill>
                      <a:prstDash val="solid"/>
                    </a:lnR>
                    <a:lnT w="12700" cmpd="sng">
                      <a:solidFill>
                        <a:srgbClr val="E2E8F0"/>
                      </a:solidFill>
                      <a:prstDash val="solid"/>
                    </a:lnT>
                    <a:lnB w="12700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AEED542-B489-4CA9-B2CE-DA35F81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70448"/>
            <a:ext cx="10543032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EF3C7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42C0D62-F61A-4A8C-9CB3-780EEB71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870448"/>
            <a:ext cx="100584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78350F"/>
                </a:solidFill>
                <a:latin typeface="Arial"/>
                <a:ea typeface="Arial"/>
                <a:cs typeface="Arial"/>
              </a:rPr>
              <a:t>一次性 Setup 服务费 AUD 299–999:</a:t>
            </a:r>
            <a:r>
              <a:rPr sz="1150">
                <a:solidFill>
                  <a:srgbClr val="92400E"/>
                </a:solidFill>
                <a:latin typeface="Arial"/>
                <a:ea typeface="Arial"/>
                <a:cs typeface="Arial"/>
              </a:rPr>
              <a:t>  品牌配置 + 数据迁移 + 团队培训,按机构规模与迁移量一次报价,上线即可用。</a:t>
            </a:r>
          </a:p>
        </p:txBody>
      </p:sp>
    </p:spTree>
    <p:extLst>
      <p:ext uri="{BB962C8B-B14F-4D97-AF65-F5344CB8AC3E}">
        <p14:creationId xmlns:p14="http://schemas.microsoft.com/office/powerpoint/2010/main" val="6218462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CB11BE3-088C-4B61-8CA2-ACEB0A3D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0B233D1-4BDA-4DD5-9B73-32F8424C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4048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上线流程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EEBD63-040E-475A-AFC9-7E3A3EE4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从签约到开幕,只需四步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96B3ECB-8DDF-46B6-8C3A-D34CDAAC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64CBF29-5BF6-4966-80F5-2F498C64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2103120"/>
            <a:ext cx="8503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2E8F0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773C7E8-7ECF-4228-A73F-57901CA0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65376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37878B1-00F1-4105-B01F-C9B8B95C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65376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83EE6E-B6C7-4CC8-883C-730C8F49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2578608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0501B29-46C4-4A2D-B6D2-5C6C35BC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624" y="2761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9006c41e54e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270" y="290413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3759DFA-1E9F-40D1-84CF-38B6E622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29000"/>
            <a:ext cx="22128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品牌配置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CCF5658-F7C9-45AE-B5F8-649499CA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13632"/>
            <a:ext cx="217627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套用行业模板,配好 Logo、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配色、双语文案与报名问题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645C887-293D-43FA-BEC4-D7EFE5ED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865376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FBF2ADD-FC08-42D2-91E8-8ED4B1DF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865376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C21336F-B723-4EF9-A923-152DA57C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468880"/>
            <a:ext cx="2578608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91DCF3C-1082-414E-A068-C0B5B9F7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2761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dc98e8e684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0910" y="290413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9550EE1C-84BF-426C-B4A0-10F7CDB8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429000"/>
            <a:ext cx="22128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数据导入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81D5D5F-7308-4FCF-930D-B063ED43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913632"/>
            <a:ext cx="217627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学员名单与课时余额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从 Excel 一次性迁入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99FB1B66-34E6-4DEA-ACA0-DFBF7D5E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865376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4AEC220F-8238-4867-A55E-D4820DB7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865376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8692A27-AF42-4E19-B3E2-A53BD980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468880"/>
            <a:ext cx="2578608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1762A3CF-19B5-4681-9774-49546BF8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2761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729"/>
          </a:solidFill>
        </p:spPr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623455b954c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5550" y="290413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D7F8DAEE-7196-420A-9943-D3826429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22128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团队培训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EF3A5AFD-EDBF-4D1B-8B7B-76AD157F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913632"/>
            <a:ext cx="217627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按角色各教各的:前台收费、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老师签到、店长看账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43F4603A-DAD7-4363-8D99-21F17564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865376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961A286-C89E-4731-8192-B33263D0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865376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F34E2323-B8FC-42DC-8AB1-A39128E6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468880"/>
            <a:ext cx="2578608" cy="233172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142FCC04-6D36-46D5-B134-22E9C196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544" y="2761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2f0dddece4a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10190" y="2904134"/>
            <a:ext cx="263347" cy="263347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46677E37-E0C9-4785-A453-43181632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29000"/>
            <a:ext cx="22128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正式上线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C825B628-3D04-40A5-B495-ACFA512D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3913632"/>
            <a:ext cx="217627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官网、报名、运营同日切换,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475569"/>
                </a:solidFill>
                <a:latin typeface="Arial"/>
                <a:ea typeface="Arial"/>
                <a:cs typeface="Arial"/>
              </a:rPr>
              <a:t>上线首周伴随支持</a:t>
            </a:r>
          </a:p>
        </p:txBody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2027B2AF-4705-4DEB-9467-75624DE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11091672" cy="77724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7F5F2"/>
          </a:solidFill>
        </p:spPr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33038D96-925B-4E41-A508-5819D433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10515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E1729"/>
                </a:solidFill>
                <a:latin typeface="Arial"/>
                <a:ea typeface="Arial"/>
                <a:cs typeface="Arial"/>
              </a:rPr>
              <a:t>四步全部包含在一次性 Setup 服务费内(AUD 299–999)。</a:t>
            </a:r>
            <a:r>
              <a:rPr sz="1150">
                <a:solidFill>
                  <a:srgbClr val="0E1729"/>
                </a:solidFill>
                <a:latin typeface="Arial"/>
                <a:ea typeface="Arial"/>
                <a:cs typeface="Arial"/>
              </a:rPr>
              <a:t>  机构不需要懂技术:你提供名单和素材,我们负责让系统开门迎客。</a:t>
            </a:r>
          </a:p>
        </p:txBody>
      </p:sp>
    </p:spTree>
    <p:extLst>
      <p:ext uri="{BB962C8B-B14F-4D97-AF65-F5344CB8AC3E}">
        <p14:creationId xmlns:p14="http://schemas.microsoft.com/office/powerpoint/2010/main" val="2505195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7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253DEBC-E6C6-433C-B8A9-6D123D33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22960"/>
            <a:ext cx="1371600" cy="137160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BBF24">
              <a:alpha val="92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1E29ED7-2AE0-44D6-BFF3-02509495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2377440"/>
            <a:ext cx="640080" cy="64008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BBF24">
              <a:alpha val="65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4CF123-9680-4B4E-A082-858A70F6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651760"/>
            <a:ext cx="320040" cy="320040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FBBF24">
              <a:alpha val="50000"/>
            </a:srgbClr>
          </a:solidFill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67d9c62ee4414"/>
          <a:stretch xmlns:a="http://schemas.openxmlformats.org/drawingml/2006/main"/>
        </p:blipFill>
        <p:spPr>
          <a:xfrm xmlns:a="http://schemas.openxmlformats.org/drawingml/2006/main">
            <a:off x="822960" y="777240"/>
            <a:ext cx="2103120" cy="533667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494DFD5-5418-4C70-A12F-BCB3AB7E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96012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管理退到幕后,作品站上台前。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D5BE4E2-2DD3-4F79-86D1-608D2199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83280"/>
            <a:ext cx="8778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BD5E1"/>
                </a:solidFill>
                <a:latin typeface="Arial"/>
                <a:ea typeface="Arial"/>
                <a:cs typeface="Arial"/>
              </a:rPr>
              <a:t>预约一次 30 分钟演示:用你工作室的名字、作品和课程,现场生成一个可预览的门户。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97D1814-D339-4ADD-B463-08A19B4E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9768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357759A-BE9E-4210-A3F6-A6B4EC1B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0624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在线演示环境   </a:t>
            </a:r>
            <a:r>
              <a:rPr sz="1300">
                <a:solidFill>
                  <a:srgbClr val="94A3B8"/>
                </a:solidFill>
                <a:latin typeface="Arial"/>
                <a:ea typeface="Arial"/>
                <a:cs typeface="Arial"/>
              </a:rPr>
              <a:t>studiosaas.cc.cd(试点环境,按需开放)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4196E0E-C900-4271-943C-044CF44D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6460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DBFAB13-FA06-4A04-BD13-72419AC5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73168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商务联系   </a:t>
            </a:r>
            <a:r>
              <a:rPr sz="1300">
                <a:solidFill>
                  <a:srgbClr val="94A3B8"/>
                </a:solidFill>
                <a:latin typeface="Arial"/>
                <a:ea typeface="Arial"/>
                <a:cs typeface="Arial"/>
              </a:rPr>
              <a:t>请通过演示邀约渠道联系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565FE12-9210-4FC0-A0E0-DA5424C9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31536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5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006EA52-927F-4C85-BE08-8616FF76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0096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试点合作   </a:t>
            </a:r>
            <a:r>
              <a:rPr sz="1300">
                <a:solidFill>
                  <a:srgbClr val="94A3B8"/>
                </a:solidFill>
                <a:latin typeface="Arial"/>
                <a:ea typeface="Arial"/>
                <a:cs typeface="Arial"/>
              </a:rPr>
              <a:t>首批机构享受上线陪跑与优先反馈通道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B106EDA-398A-4DAF-A160-D5D49D1F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26364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Arial"/>
                <a:ea typeface="Arial"/>
                <a:cs typeface="Arial"/>
              </a:rPr>
              <a:t>PWE Studio SaaS · 把时间还给创作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14e500a8e4047"/>
          <a:stretch xmlns:a="http://schemas.openxmlformats.org/drawingml/2006/main"/>
        </p:blipFill>
        <p:spPr>
          <a:xfrm xmlns:a="http://schemas.openxmlformats.org/drawingml/2006/main">
            <a:off x="8763000" y="5963841"/>
            <a:ext cx="2590800" cy="6072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89122"/>
      </p:ext>
    </p:extLst>
  </p:cSld>
</p:sld>
</file>

<file path=ppt/theme/theme1.xml><?xml version="1.0" encoding="utf-8"?>
<a:theme xmlns:a="http://schemas.openxmlformats.org/drawingml/2006/main" name="Office Theme">
  <a:themeElements>
    <a:clrScheme name="PWE Studio Family">
      <a:dk1>
        <a:srgbClr val="000000"/>
      </a:dk1>
      <a:lt1>
        <a:srgbClr val="FFFFFF"/>
      </a:lt1>
      <a:dk2>
        <a:srgbClr val="16233D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5B335"/>
      </a:accent4>
      <a:accent5>
        <a:srgbClr val="5B9BD5"/>
      </a:accent5>
      <a:accent6>
        <a:srgbClr val="70AD47"/>
      </a:accent6>
      <a:hlink>
        <a:srgbClr val="2563EB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WE Studio Famil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2026-07-27T12:22:36.0330000Z</dcterms:created>
  <dcterms:modified xsi:type="dcterms:W3CDTF">2026-07-27T12:22:36.0330000Z</dcterms:modified>
</coreProperties>
</file>