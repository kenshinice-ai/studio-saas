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26f42a345941d7" /><Relationship Type="http://schemas.openxmlformats.org/officeDocument/2006/relationships/extended-properties" Target="/docProps/app.xml" Id="Rcf9c152cd1724628" /><Relationship Type="http://schemas.openxmlformats.org/officeDocument/2006/relationships/officeDocument" Target="/ppt/presentation.xml" Id="Rd3a5bf5a81304c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ed60559b2b4ac4"/>
  </p:sldMasterIdLst>
  <p:notesMasterIdLst>
    <p:notesMasterId xmlns:r="http://schemas.openxmlformats.org/officeDocument/2006/relationships" r:id="R2af13442500f401f"/>
  </p:notesMasterIdLst>
  <p:sldIdLst>
    <p:sldId xmlns:r="http://schemas.openxmlformats.org/officeDocument/2006/relationships" id="256" r:id="R96a638ae9c97435a"/>
    <p:sldId xmlns:r="http://schemas.openxmlformats.org/officeDocument/2006/relationships" id="257" r:id="Rd652d75a4b7a4ca3"/>
    <p:sldId xmlns:r="http://schemas.openxmlformats.org/officeDocument/2006/relationships" id="258" r:id="R72ff340627644370"/>
    <p:sldId xmlns:r="http://schemas.openxmlformats.org/officeDocument/2006/relationships" id="259" r:id="R03da81c1f2b941f0"/>
    <p:sldId xmlns:r="http://schemas.openxmlformats.org/officeDocument/2006/relationships" id="260" r:id="Rae0fdc4592ab44ea"/>
    <p:sldId xmlns:r="http://schemas.openxmlformats.org/officeDocument/2006/relationships" id="261" r:id="R7b6e745efbe04a9a"/>
    <p:sldId xmlns:r="http://schemas.openxmlformats.org/officeDocument/2006/relationships" id="262" r:id="R7341f8c8e27c4d21"/>
    <p:sldId xmlns:r="http://schemas.openxmlformats.org/officeDocument/2006/relationships" id="263" r:id="R47e505cc56e44a17"/>
    <p:sldId xmlns:r="http://schemas.openxmlformats.org/officeDocument/2006/relationships" id="264" r:id="R184bb9e903ca4504"/>
    <p:sldId xmlns:r="http://schemas.openxmlformats.org/officeDocument/2006/relationships" id="265" r:id="R58540807f74744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69b6325843491e" /><Relationship Type="http://schemas.openxmlformats.org/officeDocument/2006/relationships/slideMaster" Target="/ppt/slideMasters/slideMaster1.xml" Id="R1ced60559b2b4ac4" /><Relationship Type="http://schemas.openxmlformats.org/officeDocument/2006/relationships/notesMaster" Target="/ppt/notesMasters/notesMaster1.xml" Id="R2af13442500f401f" /><Relationship Type="http://schemas.openxmlformats.org/officeDocument/2006/relationships/presProps" Target="/ppt/presProps.xml" Id="R63b2611617f14c8b" /><Relationship Type="http://schemas.openxmlformats.org/officeDocument/2006/relationships/tableStyles" Target="/ppt/tableStyles.xml" Id="Ra6b03767ae8f4b0c" /><Relationship Type="http://schemas.openxmlformats.org/officeDocument/2006/relationships/slide" Target="/ppt/slides/slide1.xml" Id="R96a638ae9c97435a" /><Relationship Type="http://schemas.openxmlformats.org/officeDocument/2006/relationships/slide" Target="/ppt/slides/slide2.xml" Id="Rd652d75a4b7a4ca3" /><Relationship Type="http://schemas.openxmlformats.org/officeDocument/2006/relationships/slide" Target="/ppt/slides/slide3.xml" Id="R72ff340627644370" /><Relationship Type="http://schemas.openxmlformats.org/officeDocument/2006/relationships/slide" Target="/ppt/slides/slide4.xml" Id="R03da81c1f2b941f0" /><Relationship Type="http://schemas.openxmlformats.org/officeDocument/2006/relationships/slide" Target="/ppt/slides/slide5.xml" Id="Rae0fdc4592ab44ea" /><Relationship Type="http://schemas.openxmlformats.org/officeDocument/2006/relationships/slide" Target="/ppt/slides/slide6.xml" Id="R7b6e745efbe04a9a" /><Relationship Type="http://schemas.openxmlformats.org/officeDocument/2006/relationships/slide" Target="/ppt/slides/slide7.xml" Id="R7341f8c8e27c4d21" /><Relationship Type="http://schemas.openxmlformats.org/officeDocument/2006/relationships/slide" Target="/ppt/slides/slide8.xml" Id="R47e505cc56e44a17" /><Relationship Type="http://schemas.openxmlformats.org/officeDocument/2006/relationships/slide" Target="/ppt/slides/slide9.xml" Id="R184bb9e903ca4504" /><Relationship Type="http://schemas.openxmlformats.org/officeDocument/2006/relationships/slide" Target="/ppt/slides/slide10.xml" Id="R58540807f74744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293d060e534d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b0491f35f14a11" /><Relationship Type="http://schemas.openxmlformats.org/officeDocument/2006/relationships/notesMaster" Target="/ppt/notesMasters/notesMaster1.xml" Id="R4da11e7a7e9f48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e082fa4ae24232" /><Relationship Type="http://schemas.openxmlformats.org/officeDocument/2006/relationships/notesMaster" Target="/ppt/notesMasters/notesMaster1.xml" Id="R405424fd266a40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741b7bf3104902" /><Relationship Type="http://schemas.openxmlformats.org/officeDocument/2006/relationships/notesMaster" Target="/ppt/notesMasters/notesMaster1.xml" Id="R6fc4eb778d1a46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c966a0807848d5" /><Relationship Type="http://schemas.openxmlformats.org/officeDocument/2006/relationships/notesMaster" Target="/ppt/notesMasters/notesMaster1.xml" Id="R20e5213a8dfd4b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782c8cf75c4c42" /><Relationship Type="http://schemas.openxmlformats.org/officeDocument/2006/relationships/notesMaster" Target="/ppt/notesMasters/notesMaster1.xml" Id="R80a8f8c23c4a4f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8b7e12e7404bb0" /><Relationship Type="http://schemas.openxmlformats.org/officeDocument/2006/relationships/notesMaster" Target="/ppt/notesMasters/notesMaster1.xml" Id="R0d31f4171d4341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a501ce9d3e4cfc" /><Relationship Type="http://schemas.openxmlformats.org/officeDocument/2006/relationships/notesMaster" Target="/ppt/notesMasters/notesMaster1.xml" Id="R26008a36f6e941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5372a74809743a7" /><Relationship Type="http://schemas.openxmlformats.org/officeDocument/2006/relationships/notesMaster" Target="/ppt/notesMasters/notesMaster1.xml" Id="Rcd28745415bb4a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c17063401ba4043" /><Relationship Type="http://schemas.openxmlformats.org/officeDocument/2006/relationships/notesMaster" Target="/ppt/notesMasters/notesMaster1.xml" Id="Rebd0fc986d054a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fe5c7931cd4812" /><Relationship Type="http://schemas.openxmlformats.org/officeDocument/2006/relationships/notesMaster" Target="/ppt/notesMasters/notesMaster1.xml" Id="R8d709979fe0f40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operating promise: the system carries routine weight while each studio keeps its own name, work and teaching style in front.</a:t>
            </a:r>
          </a:p>
          <a:p xmlns:a="http://schemas.openxmlformats.org/drawingml/2006/main">
            <a:r>
              <a:t>This deck is aligned to the v9.8.8 production release.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README.md: v9.8.8 product scope and production status.</a:t>
            </a:r>
          </a:p>
          <a:p xmlns:a="http://schemas.openxmlformats.org/drawingml/2006/main">
            <a:r>
              <a:t>- docs/HANDOFF_LATEST.md: v9.8.8 release and public acceptance evidence.</a:t>
            </a:r>
          </a:p>
          <a:p xmlns:a="http://schemas.openxmlformats.org/drawingml/2006/main">
            <a:r>
              <a:t>- docs/design/Brand_Identity.md: Feather Star, product naming and colour system.</a:t>
            </a:r>
          </a:p>
          <a:p xmlns:a="http://schemas.openxmlformats.org/drawingml/2006/main">
            <a:r>
              <a:t>- Local visual asset: backend/frontend/assets/showcase-botanical-home.webp.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Name the operational friction before showing features: enquiries, schedules and credits are necessary, but none is the reason a studio exists.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README.md: studio-owner outcome and product positioning.</a:t>
            </a:r>
          </a:p>
          <a:p xmlns:a="http://schemas.openxmlformats.org/drawingml/2006/main">
            <a:r>
              <a:t>- docs/guides/Studio_Owner_Guide.md: current daily operating scope.</a:t>
            </a:r>
          </a:p>
          <a:p xmlns:a="http://schemas.openxmlformats.org/drawingml/2006/main">
            <a:r>
              <a:t>- Local visual asset: backend/frontend/assets/showcase-coast-home.webp.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v9.8.8 public-surface contract: Portal, standalone Showcase, Timetable and Register are separate entries with shared readiness rules.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docs/Product_Surface_Model.md: canonical surface responsibilities and routes.</a:t>
            </a:r>
          </a:p>
          <a:p xmlns:a="http://schemas.openxmlformats.org/drawingml/2006/main">
            <a:r>
              <a:t>- README.md: portal, showcase, timetable and register behavior in the current release.</a:t>
            </a:r>
          </a:p>
          <a:p xmlns:a="http://schemas.openxmlformats.org/drawingml/2006/main">
            <a:r>
              <a:t>- docs/guides/Studio_Owner_Guide.md: showcase limits and public entry behavior.</a:t>
            </a:r>
          </a:p>
          <a:p xmlns:a="http://schemas.openxmlformats.org/drawingml/2006/main">
            <a:r>
              <a:t>- Local visual assets: backend/frontend/assets/manual/02-portal.en.webp, 02-showcase-portal.en.webp, 04-timetable.en.webp and 02-register.en.webp.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Studio Admin as the owner control point: configure the brand, publish the public experience and verify the public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docs/Product_Surface_Model.md: Studio Admin owns brand and publication.</a:t>
            </a:r>
          </a:p>
          <a:p xmlns:a="http://schemas.openxmlformats.org/drawingml/2006/main">
            <a:r>
              <a:t>- docs/HANDOFF_LATEST.md: v9.8.8 truthful public-surface verification.</a:t>
            </a:r>
          </a:p>
          <a:p xmlns:a="http://schemas.openxmlformats.org/drawingml/2006/main">
            <a:r>
              <a:t>- Local visual asset: backend/frontend/assets/manual/01-brand-workbench.en.webp.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right: a family discovers the studio, submits a focused registration, the team sees the pending record with its source and next action, then approves it into the studio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docs/Product_Surface_Model.md: registration conversion flow.</a:t>
            </a:r>
          </a:p>
          <a:p xmlns:a="http://schemas.openxmlformats.org/drawingml/2006/main">
            <a:r>
              <a:t>- docs/customer/FAQ.md: registration, messaging and public-surface boundaries.</a:t>
            </a:r>
          </a:p>
          <a:p xmlns:a="http://schemas.openxmlformats.org/drawingml/2006/main">
            <a:r>
              <a:t>- Local visual assets: backend/frontend/assets/manual/02-register.en.webp and 02-pending.en.webp.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timetable as a public window into the studio: the owner chooses the horizon and fields, families can request a place, and staff keep approval and capacity control in the CMS.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docs/design/Public_Timetable.md: public timetable, booking-window and field rules.</a:t>
            </a:r>
          </a:p>
          <a:p xmlns:a="http://schemas.openxmlformats.org/drawingml/2006/main">
            <a:r>
              <a:t>- docs/guides/Studio_Owner_Guide.md: timetable and booking behavior.</a:t>
            </a:r>
          </a:p>
          <a:p xmlns:a="http://schemas.openxmlformats.org/drawingml/2006/main">
            <a:r>
              <a:t>- Local visual assets: backend/frontend/assets/manual/04-timetable.en.webp, 03-roster.en.webp and 04-log.en.webp.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Move to the family-facing showcase: owners curate the studio-owned work archive, while student records remain private by default.</a:t>
            </a:r>
          </a:p>
          <a:p xmlns:a="http://schemas.openxmlformats.org/drawingml/2006/main">
            <a:r>
              <a:t>Call out the current scale plainly: home preview up to 6 works; standalone archive 12 per page; plan active-work allowances are 15 / 60 / 150.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README.md: v9.8.7 showcase ranking, archive, category and pagination behavior carried into v9.8.8.</a:t>
            </a:r>
          </a:p>
          <a:p xmlns:a="http://schemas.openxmlformats.org/drawingml/2006/main">
            <a:r>
              <a:t>- docs/guides/Studio_Owner_Guide.md: work archive, plan allowances and privacy boundary.</a:t>
            </a:r>
          </a:p>
          <a:p xmlns:a="http://schemas.openxmlformats.org/drawingml/2006/main">
            <a:r>
              <a:t>- docs/customer/Security_Privacy_Compliance.md: student media consent and private-by-default behavior.</a:t>
            </a:r>
          </a:p>
          <a:p xmlns:a="http://schemas.openxmlformats.org/drawingml/2006/main">
            <a:r>
              <a:t>- Local visual assets: backend/frontend/assets/manual/01-showcase-workbench.en.webp and 02-showcase-portal.en.webp.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explain the v9.8.8 publication truth: a successful write can precede public projection; the owner sees the real state, a reason and a retry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README.md: v9.8.8 publicSurfaceContract and truthful verification scope.</a:t>
            </a:r>
          </a:p>
          <a:p xmlns:a="http://schemas.openxmlformats.org/drawingml/2006/main">
            <a:r>
              <a:t>- docs/HANDOFF_LATEST.md: structured bilingual pending-verification state and retry path.</a:t>
            </a:r>
          </a:p>
          <a:p xmlns:a="http://schemas.openxmlformats.org/drawingml/2006/main">
            <a:r>
              <a:t>- Local visual asset: backend/frontend/assets/manual/01-brand-workbench.en.webp.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the plan anchors as a starting point, then qualify scope: implementation, migration and training are quoted separately, and final price, GST and terms belong in the signed order form.</a:t>
            </a:r>
          </a:p>
          <a:p xmlns:a="http://schemas.openxmlformats.org/drawingml/2006/main">
            <a:r>
              <a:t>The compact card line surfaces the current public-work allowances: Starter 15, Studio 60 and Growth 150. Team-user allowances remain 1 / 5 / 20.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backend/db/schema_v1.sql: current plan catalogue values.</a:t>
            </a:r>
          </a:p>
          <a:p xmlns:a="http://schemas.openxmlformats.org/drawingml/2006/main">
            <a:r>
              <a:t>- docs/customer/Pricing_and_Package_Boundaries.md: pricing, limits and commercial boundaries.</a:t>
            </a:r>
          </a:p>
          <a:p xmlns:a="http://schemas.openxmlformats.org/drawingml/2006/main">
            <a:r>
              <a:t>- docs/guides/Studio_Owner_Guide.md: current showcase allowances.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concrete next step: configure the studio identity, preview the public surfaces, walk through daily operations and agree the onboarding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docs/customer/Onboarding_Checklist.md: brand setup, migration, training and acceptance phases.</a:t>
            </a:r>
          </a:p>
          <a:p xmlns:a="http://schemas.openxmlformats.org/drawingml/2006/main">
            <a:r>
              <a:t>- docs/customer/Welcome_Pack.md: customer addresses and first steps.</a:t>
            </a:r>
          </a:p>
          <a:p xmlns:a="http://schemas.openxmlformats.org/drawingml/2006/main">
            <a:r>
              <a:t>- README.md: pwestudio.online production entry point.</a:t>
            </a:r>
          </a:p>
          <a:p xmlns:a="http://schemas.openxmlformats.org/drawingml/2006/main">
            <a:r>
              <a:t>- Local visual asset: backend/frontend/assets/showcase-coast-home.webp.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079f53293141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7ee6caa1da4930" /><Relationship Type="http://schemas.openxmlformats.org/officeDocument/2006/relationships/slideLayout" Target="/ppt/slideLayouts/slideLayout1.xml" Id="R895a5402d7d544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5a5402d7d544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c515bb9344d31" /><Relationship Type="http://schemas.openxmlformats.org/officeDocument/2006/relationships/image" Target="/ppt/media/image.png" Id="R6156e6459d974fdc" /><Relationship Type="http://schemas.openxmlformats.org/officeDocument/2006/relationships/image" Target="/ppt/media/image2.png" Id="Rb127ed31e39c4d5b" /><Relationship Type="http://schemas.openxmlformats.org/officeDocument/2006/relationships/notesSlide" Target="/ppt/notesSlides/notesSlide1.xml" Id="R067fdddb498342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c7c85959b64544" /><Relationship Type="http://schemas.openxmlformats.org/officeDocument/2006/relationships/image" Target="/ppt/media/image3.png" Id="R315a7e0e01714032" /><Relationship Type="http://schemas.openxmlformats.org/officeDocument/2006/relationships/notesSlide" Target="/ppt/notesSlides/notesSlide2.xml" Id="R781e54a638eb44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189e6289a2403a" /><Relationship Type="http://schemas.openxmlformats.org/officeDocument/2006/relationships/image" Target="/ppt/media/image4.png" Id="R1f1a774062494384" /><Relationship Type="http://schemas.openxmlformats.org/officeDocument/2006/relationships/image" Target="/ppt/media/image5.png" Id="Rdfa26bdea7b14a7f" /><Relationship Type="http://schemas.openxmlformats.org/officeDocument/2006/relationships/image" Target="/ppt/media/image6.png" Id="Rb8417bc503654686" /><Relationship Type="http://schemas.openxmlformats.org/officeDocument/2006/relationships/image" Target="/ppt/media/image7.png" Id="Rd9f46a27c4094ad7" /><Relationship Type="http://schemas.openxmlformats.org/officeDocument/2006/relationships/notesSlide" Target="/ppt/notesSlides/notesSlide3.xml" Id="Rc15adf489d7444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5d544accf4327" /><Relationship Type="http://schemas.openxmlformats.org/officeDocument/2006/relationships/image" Target="/ppt/media/image8.png" Id="R53283b7825fd4ca4" /><Relationship Type="http://schemas.openxmlformats.org/officeDocument/2006/relationships/notesSlide" Target="/ppt/notesSlides/notesSlide4.xml" Id="R62116d106af146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203f4aad54abb" /><Relationship Type="http://schemas.openxmlformats.org/officeDocument/2006/relationships/image" Target="/ppt/media/image9.png" Id="R8d6d11a2238447e2" /><Relationship Type="http://schemas.openxmlformats.org/officeDocument/2006/relationships/image" Target="/ppt/media/image10.png" Id="R0dce4f1b58464767" /><Relationship Type="http://schemas.openxmlformats.org/officeDocument/2006/relationships/notesSlide" Target="/ppt/notesSlides/notesSlide5.xml" Id="Rf83f50fe20f94a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0a6df47194b8e" /><Relationship Type="http://schemas.openxmlformats.org/officeDocument/2006/relationships/image" Target="/ppt/media/image11.png" Id="R44d560baac8843fd" /><Relationship Type="http://schemas.openxmlformats.org/officeDocument/2006/relationships/image" Target="/ppt/media/image12.png" Id="Rff0bc91c5d204232" /><Relationship Type="http://schemas.openxmlformats.org/officeDocument/2006/relationships/image" Target="/ppt/media/image13.png" Id="R90e33a56ada142b4" /><Relationship Type="http://schemas.openxmlformats.org/officeDocument/2006/relationships/notesSlide" Target="/ppt/notesSlides/notesSlide6.xml" Id="R6e5a74a3b63048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a74f79e794ab7" /><Relationship Type="http://schemas.openxmlformats.org/officeDocument/2006/relationships/image" Target="/ppt/media/image14.png" Id="R82caabb35d8c4fa1" /><Relationship Type="http://schemas.openxmlformats.org/officeDocument/2006/relationships/image" Target="/ppt/media/image15.png" Id="Rd52ada5d96bb4dfc" /><Relationship Type="http://schemas.openxmlformats.org/officeDocument/2006/relationships/notesSlide" Target="/ppt/notesSlides/notesSlide7.xml" Id="R21ccca244e904d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5a45c05b34656" /><Relationship Type="http://schemas.openxmlformats.org/officeDocument/2006/relationships/image" Target="/ppt/media/image16.png" Id="Rd1acf747a0694466" /><Relationship Type="http://schemas.openxmlformats.org/officeDocument/2006/relationships/notesSlide" Target="/ppt/notesSlides/notesSlide8.xml" Id="Rd73219eb3a504e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4e222c4ab4c3f" /><Relationship Type="http://schemas.openxmlformats.org/officeDocument/2006/relationships/notesSlide" Target="/ppt/notesSlides/notesSlide9.xml" Id="Re3ceb83a05064d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a9a4d97084332" /><Relationship Type="http://schemas.openxmlformats.org/officeDocument/2006/relationships/image" Target="/ppt/media/image17.png" Id="Rb737e28d292c4595" /><Relationship Type="http://schemas.openxmlformats.org/officeDocument/2006/relationships/image" Target="/ppt/media/image18.png" Id="Rc2bb5b9305e64852" /><Relationship Type="http://schemas.openxmlformats.org/officeDocument/2006/relationships/notesSlide" Target="/ppt/notesSlides/notesSlide10.xml" Id="R8f5fc79ae8da42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92C074-8BB5-4F16-A9CB-1AF9DAEF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56e6459d974fdc"/>
          <a:srcRect xmlns:a="http://schemas.openxmlformats.org/drawingml/2006/main" l="16042" t="0" r="160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34275" y="0"/>
            <a:ext cx="4657725" cy="6858000"/>
          </a:xfrm>
          <a:prstGeom xmlns:a="http://schemas.openxmlformats.org/drawingml/2006/main" prst="roundRect">
            <a:avLst>
              <a:gd name="adj" fmla="val 3272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882ECF-2F04-4F29-AB29-5BB9C086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0"/>
            <a:ext cx="4657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27ed31e39c4d5b"/>
          <a:stretch xmlns:a="http://schemas.openxmlformats.org/drawingml/2006/main"/>
        </p:blipFill>
        <p:spPr>
          <a:xfrm xmlns:a="http://schemas.openxmlformats.org/drawingml/2006/main">
            <a:off x="685800" y="523875"/>
            <a:ext cx="1714500" cy="685800"/>
          </a:xfrm>
          <a:prstGeom xmlns:a="http://schemas.openxmlformats.org/drawingml/2006/main" prst="roundRect">
            <a:avLst>
              <a:gd name="adj" fmla="val 22222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F437F-54F6-48B6-9ACA-29B42EFB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A1620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16207"/>
                </a:solidFill>
                <a:latin typeface="Aptos"/>
                <a:ea typeface="Aptos"/>
                <a:cs typeface="Aptos"/>
              </a:rPr>
              <a:t>PWE STUDIO  ·  CUSTOMER ROADSHOW / 客户路演版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01B6C6-3AB6-4832-97E6-67B80C39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619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3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0E1729"/>
                </a:solidFill>
                <a:latin typeface="Georgia"/>
                <a:ea typeface="Georgia"/>
                <a:cs typeface="Georgia"/>
              </a:defRPr>
            </a:pPr>
            <a:r>
              <a:rPr sz="3600" b="1">
                <a:solidFill>
                  <a:srgbClr val="0E1729"/>
                </a:solidFill>
                <a:latin typeface="Georgia"/>
                <a:ea typeface="Georgia"/>
                <a:cs typeface="Georgia"/>
              </a:rPr>
              <a:t>Give the time back to the work.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761CB8-C8D6-4559-B11E-798EAF19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19425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把时间还给创作。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262D04-00CB-4DC9-B4CA-1CA2CCF8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538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Studio management for art, music, dance and small education businesses.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382E16-5539-4B25-BB62-9FE232C0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0E1729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0E1729"/>
                </a:solidFill>
                <a:latin typeface="PingFang SC"/>
                <a:ea typeface="PingFang SC"/>
                <a:cs typeface="PingFang SC"/>
              </a:rPr>
              <a:t>面向美术、音乐、舞蹈与小型教育机构的一体化运营系统。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854D6A-95AB-48AE-B03D-48F14C6C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562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0D8"/>
          </a:solidFill>
          <a:ln xmlns:a="http://schemas.openxmlformats.org/drawingml/2006/main" w="9525">
            <a:solidFill>
              <a:srgbClr val="F5B3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47E85C-6D3D-4B16-9590-A438AF5A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86375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A1620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16207"/>
                </a:solidFill>
                <a:latin typeface="Aptos"/>
                <a:ea typeface="Aptos"/>
                <a:cs typeface="Aptos"/>
              </a:rPr>
              <a:t>v9.8.8 / CURRENT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294BE3-6A74-4ECD-8050-06D6DECD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219700"/>
            <a:ext cx="1695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4EF"/>
          </a:solidFill>
          <a:ln xmlns:a="http://schemas.openxmlformats.org/drawingml/2006/main" w="9525">
            <a:solidFill>
              <a:srgbClr val="2F795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D87560-D10F-48C5-ACCD-696F4DB1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86375"/>
            <a:ext cx="1466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2F795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7951"/>
                </a:solidFill>
                <a:latin typeface="Aptos"/>
                <a:ea typeface="Aptos"/>
                <a:cs typeface="Aptos"/>
              </a:rPr>
              <a:t>LIVE PRODUCTION / 已上线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36FBD1-A59D-46D2-9958-C534C858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21970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B"/>
          </a:solidFill>
          <a:ln xmlns:a="http://schemas.openxmlformats.org/drawingml/2006/main" w="9525">
            <a:solidFill>
              <a:srgbClr val="D9D5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067272-D1A0-4100-9B12-48F65016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86375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0E172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E1729"/>
                </a:solidFill>
                <a:latin typeface="Aptos"/>
                <a:ea typeface="Aptos"/>
                <a:cs typeface="Aptos"/>
              </a:rPr>
              <a:t>AUSTRALIA / 澳大利亚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C063A2-9EBF-484D-AEFE-5D59F36D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A1620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16207"/>
                </a:solidFill>
                <a:latin typeface="Aptos"/>
                <a:ea typeface="Aptos"/>
                <a:cs typeface="Aptos"/>
              </a:rPr>
              <a:t>The system carries the operational weight. Your studio keeps the stage.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A76C88-937B-4157-8217-AAEF196B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系统托住运营，工作室继续站在台前。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69C951-7C25-471A-AAF9-A2C0EC8C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8CC87A-D6BD-4173-930A-CE3CC111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PWE Studio  ·  Powered by Paradise Production · 天域文创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436565-B84B-414C-8E33-2EDCBFFE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01 / 10</a:t>
            </a:r>
          </a:p>
        </p:txBody>
      </p:sp>
    </p:spTree>
    <p:extLst>
      <p:ext uri="{BB962C8B-B14F-4D97-AF65-F5344CB8AC3E}">
        <p14:creationId xmlns:p14="http://schemas.microsoft.com/office/powerpoint/2010/main" val="2020192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A278AE-1BBE-4D53-98DB-65DCC1F7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A1620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16207"/>
                </a:solidFill>
                <a:latin typeface="Aptos"/>
                <a:ea typeface="Aptos"/>
                <a:cs typeface="Aptos"/>
              </a:rPr>
              <a:t>PWE STUDIO  ·  CUSTOMER ROADSHOW / 客户路演版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037CCD-B14C-4496-93B9-5A4D95D1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>
                <a:solidFill>
                  <a:srgbClr val="0E1729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0E1729"/>
                </a:solidFill>
                <a:latin typeface="Georgia"/>
                <a:ea typeface="Georgia"/>
                <a:cs typeface="Georgia"/>
              </a:rPr>
              <a:t>Your craft deserves more than admin.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B3FDBE-F1F6-49D7-994D-37DC5CB3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你的才华，不该耗在行政里。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BEF6EF-14D8-4E96-96F8-3F7A1AC5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33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work that steals a studio owner’s attention is rarely the teaching itself.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2D190-1BA8-48EE-ACE1-12CE41F4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真正消耗工作室主理人的，往往不是教学，而是教学之外的碎片。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1535A9-EB80-4E4E-9485-3F98C290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562D1-0B23-48BE-A0F1-9161C001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1620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1620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658C8A-8A9D-471E-96EC-13003190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9082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E172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E1729"/>
                </a:solidFill>
                <a:latin typeface="Aptos"/>
                <a:ea typeface="Aptos"/>
                <a:cs typeface="Aptos"/>
              </a:rPr>
              <a:t>Enquiries in chat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EE372F-1AB8-482F-9C44-1C4417D7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337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询价散在聊天记录里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B9F545-B512-41C6-9C21-C45F7D70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0512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follow-up gets fuzzy / 线索难跟进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253F48-27EE-4119-9E80-E3666D73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E6106D-4D80-4293-BCAA-B49A7354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1620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1620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4BCC06-0E2E-4EED-B45C-9EEE5BE0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8142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E172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E1729"/>
                </a:solidFill>
                <a:latin typeface="Aptos"/>
                <a:ea typeface="Aptos"/>
                <a:cs typeface="Aptos"/>
              </a:rPr>
              <a:t>Schedules in spreadsheets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CF7808-8655-4334-8FCD-DCE9ED90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243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排课散在表格里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9C5679-9D24-45BB-95F9-D67F1A1B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9572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changes are hard to share / 改动难同步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D00D63-019D-4500-AA2F-CA092AE9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D8E6C6-1BF5-474A-8270-C688478D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1620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1620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5629DB-BA5A-4176-9982-B4D4DDB8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7202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E172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E1729"/>
                </a:solidFill>
                <a:latin typeface="Aptos"/>
                <a:ea typeface="Aptos"/>
                <a:cs typeface="Aptos"/>
              </a:rPr>
              <a:t>Credits by hand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9759A4-B460-487C-833C-B1367CF7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149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课时与出勤靠手工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81780B-4F85-4A3F-9594-C026D0B9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8632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reconciliation waits until night / 晚上还要对账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65C095-96BE-4717-8525-1B6416C2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19700"/>
            <a:ext cx="32194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BF0D8"/>
          </a:solidFill>
          <a:ln xmlns:a="http://schemas.openxmlformats.org/drawingml/2006/main" w="9525">
            <a:solidFill>
              <a:srgbClr val="F5B33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44978F-4D91-4E41-B66C-C4221730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362575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5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E1729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0E1729"/>
                </a:solidFill>
                <a:latin typeface="Georgia"/>
                <a:ea typeface="Georgia"/>
                <a:cs typeface="Georgia"/>
              </a:rPr>
              <a:t>Your attention is the scarce resource.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F8934B-7FE9-421F-9903-8BFE2C69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819775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A1620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A16207"/>
                </a:solidFill>
                <a:latin typeface="PingFang SC"/>
                <a:ea typeface="PingFang SC"/>
                <a:cs typeface="PingFang SC"/>
              </a:rPr>
              <a:t>真正稀缺的，是你的注意力。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5a7e0e01714032"/>
          <a:stretch xmlns:a="http://schemas.openxmlformats.org/drawingml/2006/main"/>
        </p:blipFill>
        <p:spPr>
          <a:xfrm xmlns:a="http://schemas.openxmlformats.org/drawingml/2006/main">
            <a:off x="10953750" y="5343525"/>
            <a:ext cx="419100" cy="419100"/>
          </a:xfrm>
          <a:prstGeom xmlns:a="http://schemas.openxmlformats.org/drawingml/2006/main" prst="roundRect">
            <a:avLst>
              <a:gd name="adj" fmla="val 36364"/>
            </a:avLst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1A67A5-B26A-44B0-B3EB-661E1760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565AE1-B8A5-4E68-BA0F-D8BE9030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PWE Studio  ·  Powered by Paradise Production · 天域文创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8206F2-BC47-43AB-84A0-8060CAE3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02 / 10</a:t>
            </a:r>
          </a:p>
        </p:txBody>
      </p:sp>
    </p:spTree>
    <p:extLst>
      <p:ext uri="{BB962C8B-B14F-4D97-AF65-F5344CB8AC3E}">
        <p14:creationId xmlns:p14="http://schemas.microsoft.com/office/powerpoint/2010/main" val="7802231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A3495E-D1D9-4017-8066-1B5BB994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A1620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16207"/>
                </a:solidFill>
                <a:latin typeface="Aptos"/>
                <a:ea typeface="Aptos"/>
                <a:cs typeface="Aptos"/>
              </a:rPr>
              <a:t>PWE STUDIO  ·  CUSTOMER ROADSHOW / 客户路演版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1F87EE-7FED-4F06-B8A2-957E664C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>
                <a:solidFill>
                  <a:srgbClr val="0E1729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0E1729"/>
                </a:solidFill>
                <a:latin typeface="Georgia"/>
                <a:ea typeface="Georgia"/>
                <a:cs typeface="Georgia"/>
              </a:rPr>
              <a:t>One studio brand. Four public surfaces.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71B63-38D4-4501-AAF0-CAD8DE07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一个工作室品牌，四个公开入口。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64F10B-5669-42F4-9129-97E4D9B6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Portal, Showcase, Timetable and Register share one public-surface contract.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2419E3-BA80-4723-AF0D-C19DE1F7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官网、作品、课表与报名共用一套公开表面规则。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54E02-840A-4D77-83B2-AF2DF160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324100" cy="1695450"/>
          </a:xfrm>
          <a:prstGeom xmlns:a="http://schemas.openxmlformats.org/drawingml/2006/main" prst="roundRect">
            <a:avLst>
              <a:gd name="adj" fmla="val 8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1a774062494384"/>
          <a:srcRect xmlns:a="http://schemas.openxmlformats.org/drawingml/2006/main" l="6759" t="0" r="67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" y="2695575"/>
            <a:ext cx="2266950" cy="1638300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BDB3C1-FD70-40E3-B736-7276769A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0E172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729"/>
                </a:solidFill>
                <a:latin typeface="Aptos"/>
                <a:ea typeface="Aptos"/>
                <a:cs typeface="Aptos"/>
              </a:rPr>
              <a:t>Portal / 门户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D49B0B-DDBF-4FDA-9991-2FEFCC8A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2324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Public studio site / 工作室官网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82EF2D-2E73-48C4-A0FF-62DC8A08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67000"/>
            <a:ext cx="2324100" cy="1695450"/>
          </a:xfrm>
          <a:prstGeom xmlns:a="http://schemas.openxmlformats.org/drawingml/2006/main" prst="roundRect">
            <a:avLst>
              <a:gd name="adj" fmla="val 8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a26bdea7b14a7f"/>
          <a:srcRect xmlns:a="http://schemas.openxmlformats.org/drawingml/2006/main" l="6759" t="0" r="67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81375" y="2695575"/>
            <a:ext cx="2266950" cy="1638300"/>
          </a:xfrm>
          <a:prstGeom xmlns:a="http://schemas.openxmlformats.org/drawingml/2006/main" prst="round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23D654-9E5E-44B2-A510-B35AD69E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1485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0E172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729"/>
                </a:solidFill>
                <a:latin typeface="Aptos"/>
                <a:ea typeface="Aptos"/>
                <a:cs typeface="Aptos"/>
              </a:rPr>
              <a:t>Showcase / 作品归档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E096BA-E005-43F3-95E0-34DA033F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781550"/>
            <a:ext cx="2324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Archive + filters / 归档 + 分类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C88A1B-F685-4584-ADA2-27F7F55A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67000"/>
            <a:ext cx="2324100" cy="1695450"/>
          </a:xfrm>
          <a:prstGeom xmlns:a="http://schemas.openxmlformats.org/drawingml/2006/main" prst="roundRect">
            <a:avLst>
              <a:gd name="adj" fmla="val 8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417bc503654686"/>
          <a:srcRect xmlns:a="http://schemas.openxmlformats.org/drawingml/2006/main" l="6759" t="0" r="67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48375" y="2695575"/>
            <a:ext cx="2266950" cy="1638300"/>
          </a:xfrm>
          <a:prstGeom xmlns:a="http://schemas.openxmlformats.org/drawingml/2006/main" prst="round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02E119-73DC-4CBC-B0A1-4BE33F26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51485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0E172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729"/>
                </a:solidFill>
                <a:latin typeface="Aptos"/>
                <a:ea typeface="Aptos"/>
                <a:cs typeface="Aptos"/>
              </a:rPr>
              <a:t>Timetable / 公开课表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F80DAF-CF90-4909-8B08-D17505DD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781550"/>
            <a:ext cx="2324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1–4 week view / 1–4 周课表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9E3D8D-69EF-45F4-8C38-615F6E91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67000"/>
            <a:ext cx="2324100" cy="1695450"/>
          </a:xfrm>
          <a:prstGeom xmlns:a="http://schemas.openxmlformats.org/drawingml/2006/main" prst="roundRect">
            <a:avLst>
              <a:gd name="adj" fmla="val 8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f46a27c4094ad7"/>
          <a:srcRect xmlns:a="http://schemas.openxmlformats.org/drawingml/2006/main" l="6759" t="0" r="67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15375" y="2695575"/>
            <a:ext cx="2266950" cy="1638300"/>
          </a:xfrm>
          <a:prstGeom xmlns:a="http://schemas.openxmlformats.org/drawingml/2006/main" prst="round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232E97-907C-4B90-ABF3-74876C58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1485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0E172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729"/>
                </a:solidFill>
                <a:latin typeface="Aptos"/>
                <a:ea typeface="Aptos"/>
                <a:cs typeface="Aptos"/>
              </a:rPr>
              <a:t>Register / 快速报名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D9F3F-162E-4BA9-B86D-1526E0A6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81550"/>
            <a:ext cx="2324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Lead-ready entry / 可跟进报名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AD251E-5DBA-40CF-A410-F0E229EC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3251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BF0D8"/>
          </a:solidFill>
          <a:ln xmlns:a="http://schemas.openxmlformats.org/drawingml/2006/main" w="9525">
            <a:solidFill>
              <a:srgbClr val="F5B33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6AAC4B-DEAA-4BCC-8CD2-8A83A42F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95925"/>
            <a:ext cx="733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0E1729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0E1729"/>
                </a:solidFill>
                <a:latin typeface="Georgia"/>
                <a:ea typeface="Georgia"/>
                <a:cs typeface="Georgia"/>
              </a:rPr>
              <a:t>The four entries share one readiness contract.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99CAC6-0043-4D58-BF11-2FA12514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5054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A1620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A16207"/>
                </a:solidFill>
                <a:latin typeface="PingFang SC"/>
                <a:ea typeface="PingFang SC"/>
                <a:cs typeface="PingFang SC"/>
              </a:rPr>
              <a:t>四个公开入口共用同一套就绪规则。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CA6BB3-D967-406C-9C21-E2EC41E7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9ADBCC-C36D-4266-8851-DB927B76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PWE Studio  ·  Powered by Paradise Production · 天域文创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40ACE5-3A78-4BCB-ABAD-8455110F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03 / 10</a:t>
            </a:r>
          </a:p>
        </p:txBody>
      </p:sp>
    </p:spTree>
    <p:extLst>
      <p:ext uri="{BB962C8B-B14F-4D97-AF65-F5344CB8AC3E}">
        <p14:creationId xmlns:p14="http://schemas.microsoft.com/office/powerpoint/2010/main" val="17430723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50F728-66B1-4A87-B6A3-BC9CE2D8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A1620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16207"/>
                </a:solidFill>
                <a:latin typeface="Aptos"/>
                <a:ea typeface="Aptos"/>
                <a:cs typeface="Aptos"/>
              </a:rPr>
              <a:t>PWE STUDIO  ·  CUSTOMER ROADSHOW / 客户路演版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2CFA2-3C12-4712-92E9-575C6EAE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>
                <a:solidFill>
                  <a:srgbClr val="0E1729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0E1729"/>
                </a:solidFill>
                <a:latin typeface="Georgia"/>
                <a:ea typeface="Georgia"/>
                <a:cs typeface="Georgia"/>
              </a:rPr>
              <a:t>Your brand stays in front.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37C7C7-46AA-4DD7-AF61-437810AD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你的品牌始终在台前。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E8DB50-DDE4-49E2-8BD3-ACAAB259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657225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283b7825fd4ca4"/>
          <a:srcRect xmlns:a="http://schemas.openxmlformats.org/drawingml/2006/main" l="0" t="5088" r="0" b="50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" y="2105025"/>
            <a:ext cx="6515100" cy="3657600"/>
          </a:xfrm>
          <a:prstGeom xmlns:a="http://schemas.openxmlformats.org/drawingml/2006/main" prst="round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353D7-578C-4F18-8E56-88CAED61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866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B"/>
          </a:solidFill>
          <a:ln xmlns:a="http://schemas.openxmlformats.org/drawingml/2006/main" w="9525">
            <a:solidFill>
              <a:srgbClr val="D9D5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818FE8-8EED-4B46-B0F4-9F8DE3A3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62125"/>
            <a:ext cx="1638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0E172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E1729"/>
                </a:solidFill>
                <a:latin typeface="Aptos"/>
                <a:ea typeface="Aptos"/>
                <a:cs typeface="Aptos"/>
              </a:rPr>
              <a:t>DRAFT → PUBLISH → VERIFY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79287B-8608-4267-960E-B799B30A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8859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61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E1729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0E1729"/>
                </a:solidFill>
                <a:latin typeface="Georgia"/>
                <a:ea typeface="Georgia"/>
                <a:cs typeface="Georgia"/>
              </a:rPr>
              <a:t>Build the public experience in your own voice.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90B9BF-A4EC-49E0-83F5-1E6FD76B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384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A1620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16207"/>
                </a:solidFill>
                <a:latin typeface="PingFang SC"/>
                <a:ea typeface="PingFang SC"/>
                <a:cs typeface="PingFang SC"/>
              </a:rPr>
              <a:t>用自己的语言，搭建对外的工作室体验。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008F1-B193-4692-BC29-5A8D7088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28950"/>
            <a:ext cx="3524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200" b="0">
                <a:solidFill>
                  <a:srgbClr val="0E172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E1729"/>
                </a:solidFill>
                <a:latin typeface="Aptos"/>
                <a:ea typeface="Aptos"/>
                <a:cs typeface="Aptos"/>
              </a:rPr>
              <a:t>•  Logo, colours and bilingual copy / Logo、配色与双语文案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200" b="0">
                <a:solidFill>
                  <a:srgbClr val="0E172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E1729"/>
                </a:solidFill>
                <a:latin typeface="Aptos"/>
                <a:ea typeface="Aptos"/>
                <a:cs typeface="Aptos"/>
              </a:rPr>
              <a:t>•  Registration fields and FAQs / 报名字段与常见问题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200" b="0">
                <a:solidFill>
                  <a:srgbClr val="0E172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E1729"/>
                </a:solidFill>
                <a:latin typeface="Aptos"/>
                <a:ea typeface="Aptos"/>
                <a:cs typeface="Aptos"/>
              </a:rPr>
              <a:t>•  Live preview before publishing / 发布前实时预览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200" b="0">
                <a:solidFill>
                  <a:srgbClr val="0E172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E1729"/>
                </a:solidFill>
                <a:latin typeface="Aptos"/>
                <a:ea typeface="Aptos"/>
                <a:cs typeface="Aptos"/>
              </a:rPr>
              <a:t>•  Tenant identity leads every customer surface / 每个客户表面都以你的身份为主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0A20AF-8287-4616-B88F-3773AEF4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4292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PWE Studio appears as the platform brand. Your studio appears as the experience.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4A8E08-1183-47C2-8346-39AAA784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AE32C3-2788-4A50-A551-E980F4E2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PWE Studio  ·  Powered by Paradise Production · 天域文创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DB533D-D64F-4F04-824E-5E320732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04 / 10</a:t>
            </a:r>
          </a:p>
        </p:txBody>
      </p:sp>
    </p:spTree>
    <p:extLst>
      <p:ext uri="{BB962C8B-B14F-4D97-AF65-F5344CB8AC3E}">
        <p14:creationId xmlns:p14="http://schemas.microsoft.com/office/powerpoint/2010/main" val="16308171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BEF801-65DA-4CDC-A73B-0C8D7A65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A1620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16207"/>
                </a:solidFill>
                <a:latin typeface="Aptos"/>
                <a:ea typeface="Aptos"/>
                <a:cs typeface="Aptos"/>
              </a:rPr>
              <a:t>PWE STUDIO  ·  CUSTOMER ROADSHOW / 客户路演版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3BEBF1-9301-4AE7-813E-5657EEA3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>
                <a:solidFill>
                  <a:srgbClr val="0E1729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0E1729"/>
                </a:solidFill>
                <a:latin typeface="Georgia"/>
                <a:ea typeface="Georgia"/>
                <a:cs typeface="Georgia"/>
              </a:rPr>
              <a:t>From first click to a reviewed lead.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6085BA-44CF-487D-AAA6-283DDFD7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从第一次点击，到一条可跟进的报名线索。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C8D8CC-D6E3-4CDB-BD17-4F491EF3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0002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FD3438-83CB-4B87-B658-F4E28E6C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0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55B532-4232-435C-BABB-5A2BC310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0E172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172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384157-32BB-4587-BAA9-1BB49957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71675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E172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1729"/>
                </a:solidFill>
                <a:latin typeface="Aptos"/>
                <a:ea typeface="Aptos"/>
                <a:cs typeface="Aptos"/>
              </a:rPr>
              <a:t>Discover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7ACD3D-81AF-4709-8093-9BCEAB15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4790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4503E3-6007-4966-BF77-80D43963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24075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B3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AF036A-5BBB-4E86-85F2-ECD464E5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809750"/>
            <a:ext cx="20002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5BED1C-AAC4-470F-91FF-199EAC59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981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0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E1A039-ABC5-4620-92B3-4FF3F1EF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0574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0E172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172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CB0369-7A65-402A-B5F1-3838F31B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71675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E172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1729"/>
                </a:solidFill>
                <a:latin typeface="Aptos"/>
                <a:ea typeface="Aptos"/>
                <a:cs typeface="Aptos"/>
              </a:rPr>
              <a:t>Register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CB5185-D764-4868-920B-FCE3C515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24790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报名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7F59DD-F0FE-4481-AFE2-FFF89088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124075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B3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C990EA-D0E4-4CDA-A1BA-D3134EFA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809750"/>
            <a:ext cx="20002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F346AE-B9B0-4024-A108-595A6519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81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0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6BC854-F0B4-4A6D-83A3-22A300DD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574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0E172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172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8F1B1B-B59B-41C0-8AA5-B23883E6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71675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E172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1729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DC7F57-6070-49A4-850C-BE13F829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4790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跟进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5E1B64-6EE5-4066-8330-33D846C4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24075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B3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7A5C92-2F33-4AF6-A5A9-39A71D3B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1809750"/>
            <a:ext cx="20002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BF0D8"/>
          </a:solidFill>
          <a:ln xmlns:a="http://schemas.openxmlformats.org/drawingml/2006/main" w="9525">
            <a:solidFill>
              <a:srgbClr val="F5B3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6513D1-50B9-4D9F-8C11-EFA78625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981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3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772DDB-3F25-419A-B20A-F0211B51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0574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0E172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172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B8BA47-F106-42D5-BC35-140B6213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971675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E172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1729"/>
                </a:solidFill>
                <a:latin typeface="Aptos"/>
                <a:ea typeface="Aptos"/>
                <a:cs typeface="Aptos"/>
              </a:rPr>
              <a:t>Convert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C45478-475F-432C-8F86-8E1AAA3B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24790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建档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7A5056-7752-43FF-9966-21DB1670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508635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6d11a2238447e2"/>
          <a:srcRect xmlns:a="http://schemas.openxmlformats.org/drawingml/2006/main" l="0" t="11515" r="0" b="115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" y="3171825"/>
            <a:ext cx="5029200" cy="2419350"/>
          </a:xfrm>
          <a:prstGeom xmlns:a="http://schemas.openxmlformats.org/drawingml/2006/main" prst="roundRect">
            <a:avLst>
              <a:gd name="adj" fmla="val 5906"/>
            </a:avLst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CB1F84-142A-4F4C-985C-575BB985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43250"/>
            <a:ext cx="508635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ce4f1b58464767"/>
          <a:srcRect xmlns:a="http://schemas.openxmlformats.org/drawingml/2006/main" l="0" t="11515" r="0" b="115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48425" y="3171825"/>
            <a:ext cx="5029200" cy="2419350"/>
          </a:xfrm>
          <a:prstGeom xmlns:a="http://schemas.openxmlformats.org/drawingml/2006/main" prst="roundRect">
            <a:avLst>
              <a:gd name="adj" fmla="val 5906"/>
            </a:avLst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6E7816-B1EF-4680-AB3F-BFE46E8F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 focused public entry.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64C8FC-CC96-4FA2-B20D-4D5CFA35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7340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一个聚焦的对外入口。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E89CC4-9659-4B19-B489-60A43B02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7340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 team-ready follow-up queue.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C1824B-4B06-472B-8FE9-95437765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734050"/>
            <a:ext cx="2457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一条可执行的跟进队列。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DC6F2E-0F98-46A4-AF8B-95929A76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BB03EF-D6B3-4E08-85A1-06A0032A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PWE Studio  ·  Powered by Paradise Production · 天域文创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218F64-26FF-4136-BEDF-6265DC7C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05 / 10</a:t>
            </a:r>
          </a:p>
        </p:txBody>
      </p:sp>
    </p:spTree>
    <p:extLst>
      <p:ext uri="{BB962C8B-B14F-4D97-AF65-F5344CB8AC3E}">
        <p14:creationId xmlns:p14="http://schemas.microsoft.com/office/powerpoint/2010/main" val="1181388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86169F-BC7C-4262-AFCE-439927CE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A1620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16207"/>
                </a:solidFill>
                <a:latin typeface="Aptos"/>
                <a:ea typeface="Aptos"/>
                <a:cs typeface="Aptos"/>
              </a:rPr>
              <a:t>PWE STUDIO  ·  CUSTOMER ROADSHOW / 客户路演版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04D17-EA7A-4F9A-89AF-D3F44991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0E1729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0E1729"/>
                </a:solidFill>
                <a:latin typeface="Georgia"/>
                <a:ea typeface="Georgia"/>
                <a:cs typeface="Georgia"/>
              </a:rPr>
              <a:t>A public timetable, a calmer daily loop.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70DDF-E84A-41A9-8BF7-B2F68126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公开课表，让日常运营更清晰。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AAB1B5-0974-46C9-ACA3-5DFC8410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67437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d560baac8843fd"/>
          <a:srcRect xmlns:a="http://schemas.openxmlformats.org/drawingml/2006/main" l="0" t="6239" r="0" b="62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" y="2105025"/>
            <a:ext cx="6686550" cy="3657600"/>
          </a:xfrm>
          <a:prstGeom xmlns:a="http://schemas.openxmlformats.org/drawingml/2006/main" prst="round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44BEF-F612-4753-BA5F-28352315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76450"/>
            <a:ext cx="365760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0bc91c5d204232"/>
          <a:srcRect xmlns:a="http://schemas.openxmlformats.org/drawingml/2006/main" l="0" t="16561" r="0" b="165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77175" y="2105025"/>
            <a:ext cx="3600450" cy="1504950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6768CF-5165-46DB-AF00-309C0B7A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67150"/>
            <a:ext cx="3657600" cy="1924050"/>
          </a:xfrm>
          <a:prstGeom xmlns:a="http://schemas.openxmlformats.org/drawingml/2006/main" prst="roundRect">
            <a:avLst>
              <a:gd name="adj" fmla="val 79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e33a56ada142b4"/>
          <a:srcRect xmlns:a="http://schemas.openxmlformats.org/drawingml/2006/main" l="0" t="8519" r="0" b="85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77175" y="3895725"/>
            <a:ext cx="3600450" cy="1866900"/>
          </a:xfrm>
          <a:prstGeom xmlns:a="http://schemas.openxmlformats.org/drawingml/2006/main" prst="round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8A513A-ADFB-4090-B3F7-FC697EDC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714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52D83D-D8BE-41A5-A57A-58DDB112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62125"/>
            <a:ext cx="1485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0E172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E1729"/>
                </a:solidFill>
                <a:latin typeface="Aptos"/>
                <a:ea typeface="Aptos"/>
                <a:cs typeface="Aptos"/>
              </a:rPr>
              <a:t>CLASS SCHEDULE / 课程安排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B36D15-B074-438C-B468-A037558B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Publish · book · check in · export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09778E-43E5-45E7-AFC1-32E68C53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6000750"/>
            <a:ext cx="2800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发布 · 约课 · 签到 · 导出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AAF246-91AC-423F-9B9C-FD94A1D0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7BE8DF-CEB7-4694-ABB3-3170B65A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PWE Studio  ·  Powered by Paradise Production · 天域文创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B7CA2A-75D1-45FC-A7E6-0921B933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06 / 10</a:t>
            </a:r>
          </a:p>
        </p:txBody>
      </p:sp>
    </p:spTree>
    <p:extLst>
      <p:ext uri="{BB962C8B-B14F-4D97-AF65-F5344CB8AC3E}">
        <p14:creationId xmlns:p14="http://schemas.microsoft.com/office/powerpoint/2010/main" val="14225723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9A23B2-E84A-4D65-A2D6-A7E7997A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A1620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16207"/>
                </a:solidFill>
                <a:latin typeface="Aptos"/>
                <a:ea typeface="Aptos"/>
                <a:cs typeface="Aptos"/>
              </a:rPr>
              <a:t>PWE STUDIO  ·  CUSTOMER ROADSHOW / 客户路演版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F719D-9F55-4936-981A-45EA7200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>
                <a:solidFill>
                  <a:srgbClr val="0E1729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0E1729"/>
                </a:solidFill>
                <a:latin typeface="Georgia"/>
                <a:ea typeface="Georgia"/>
                <a:cs typeface="Georgia"/>
              </a:rPr>
              <a:t>Families see the work, not the backstage.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F43F5C-F690-4882-987E-C877D155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家长看到作品，后台留在幕后。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07F92C-29D7-4705-AEFD-C809B614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Home previews 6 works; the archive loads 12 per page. Student records stay private.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A4EF2-1188-42DB-AB4D-545BA3E1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A1620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16207"/>
                </a:solidFill>
                <a:latin typeface="PingFang SC"/>
                <a:ea typeface="PingFang SC"/>
                <a:cs typeface="PingFang SC"/>
              </a:rPr>
              <a:t>首页预览最多 6 件；独立归档每页 12 件，学员档案默认私密。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530ED-C94F-42AB-9321-2A30BE99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9530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caabb35d8c4fa1"/>
          <a:srcRect xmlns:a="http://schemas.openxmlformats.org/drawingml/2006/main" l="0" t="3307" r="0" b="33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" y="2752725"/>
            <a:ext cx="4895850" cy="2857500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34EF18-B054-4417-B472-0F817A8E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24150"/>
            <a:ext cx="49530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2ada5d96bb4dfc"/>
          <a:srcRect xmlns:a="http://schemas.openxmlformats.org/drawingml/2006/main" l="0" t="3307" r="0" b="33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3125" y="2752725"/>
            <a:ext cx="4895850" cy="2857500"/>
          </a:xfrm>
          <a:prstGeom xmlns:a="http://schemas.openxmlformats.org/drawingml/2006/main" prst="round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3E6E19-9C7F-4CF4-BE5F-A0B7B581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0E17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E1729"/>
                </a:solidFill>
                <a:latin typeface="Aptos"/>
                <a:ea typeface="Aptos"/>
                <a:cs typeface="Aptos"/>
              </a:rPr>
              <a:t>Curate selected work / 整理作品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87C8DF-A02A-476A-9634-A5C59A08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810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0E172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E1729"/>
                </a:solidFill>
                <a:latin typeface="Aptos"/>
                <a:ea typeface="Aptos"/>
                <a:cs typeface="Aptos"/>
              </a:rPr>
              <a:t>Publish to showcase / 发布到作品归档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4ECACA-CB5E-4522-A7E7-20128963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71E2B8-C4B1-431C-84DC-680070FA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PWE Studio  ·  Powered by Paradise Production · 天域文创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3570FA-1E54-4C2E-9F02-5E4473DF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07 / 10</a:t>
            </a:r>
          </a:p>
        </p:txBody>
      </p:sp>
    </p:spTree>
    <p:extLst>
      <p:ext uri="{BB962C8B-B14F-4D97-AF65-F5344CB8AC3E}">
        <p14:creationId xmlns:p14="http://schemas.microsoft.com/office/powerpoint/2010/main" val="421761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0E870C-955B-4AE1-903B-3BB49836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A1620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16207"/>
                </a:solidFill>
                <a:latin typeface="Aptos"/>
                <a:ea typeface="Aptos"/>
                <a:cs typeface="Aptos"/>
              </a:rPr>
              <a:t>PWE STUDIO  ·  CUSTOMER ROADSHOW / 客户路演版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3EAB71-CC61-43CE-A96B-44616D5A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>
                <a:solidFill>
                  <a:srgbClr val="0E1729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0E1729"/>
                </a:solidFill>
                <a:latin typeface="Georgia"/>
                <a:ea typeface="Georgia"/>
                <a:cs typeface="Georgia"/>
              </a:rPr>
              <a:t>Publishing should tell the truth.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74833-C97D-4E89-B305-DDEEDF5E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发布状态，也应该如实。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F0321F-68ED-4746-B3B0-3FA9F9D2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 successful write is not the same as a ready public page.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E1890-1010-4DB9-81DC-97D3375E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A1620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16207"/>
                </a:solidFill>
                <a:latin typeface="PingFang SC"/>
                <a:ea typeface="PingFang SC"/>
                <a:cs typeface="PingFang SC"/>
              </a:rPr>
              <a:t>写入成功，不等于每个公开页面已就绪。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678A66-6398-4FE4-8922-BF8DF086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57531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95EFBA-4A27-4BCC-BBA8-DB14C5C9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3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6E597D-8422-4B65-86CF-A4CB86DA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0E172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729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AF1616-06A2-4DB5-8597-7E6DB007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95600"/>
            <a:ext cx="472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E172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729"/>
                </a:solidFill>
                <a:latin typeface="Aptos"/>
                <a:ea typeface="Aptos"/>
                <a:cs typeface="Aptos"/>
              </a:rPr>
              <a:t>Publish intent / 发布意图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B2D1A9-77AB-4942-BDA8-10AB79D4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52775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2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Owner intent drives the write, not an empty link.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以 Owner 意图写入，不制造空链接。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BB8036-FBB1-4B0E-9288-4E6F7955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57531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BF0D8"/>
          </a:solidFill>
          <a:ln xmlns:a="http://schemas.openxmlformats.org/drawingml/2006/main" w="9525">
            <a:solidFill>
              <a:srgbClr val="D9D5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1E620B-1A6E-4EE7-8BC8-AB0BF115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3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890EBA-C25D-49E2-8ACC-A3E58413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955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0E172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72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3A367B-0B8F-4A26-9DD2-346B8005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67150"/>
            <a:ext cx="472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E172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729"/>
                </a:solidFill>
                <a:latin typeface="Aptos"/>
                <a:ea typeface="Aptos"/>
                <a:cs typeface="Aptos"/>
              </a:rPr>
              <a:t>Shared surface contract / 公开表面契约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DBD987-F8FB-4924-969D-7595D4CD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24325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2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Portal, showcase, timetable and register share one rule.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官网、作品、课表与报名共用一套规则。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297649-DE89-4076-9EAC-D852C897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57531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67F3CE-B8CE-4E65-BB80-FC1ECAFF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149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3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69E9FA-72FE-434C-9E24-EC589C69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911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0E172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72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64970C-76C9-4B93-9998-B1F563AB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38700"/>
            <a:ext cx="472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E172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729"/>
                </a:solidFill>
                <a:latin typeface="Aptos"/>
                <a:ea typeface="Aptos"/>
                <a:cs typeface="Aptos"/>
              </a:rPr>
              <a:t>Truthful retry / 如实重试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6F84E2-13F4-48FB-A08B-D1CC0381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95875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2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Still settling? The panel says so; retry stays available.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仍在确认？后台如实说明，并保留重试。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9818EF-77AB-4670-B61D-1534E3E3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19350"/>
            <a:ext cx="4305300" cy="33147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acf747a0694466"/>
          <a:srcRect xmlns:a="http://schemas.openxmlformats.org/drawingml/2006/main" l="9247" t="0" r="92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29475" y="2447925"/>
            <a:ext cx="4248150" cy="3257550"/>
          </a:xfrm>
          <a:prstGeom xmlns:a="http://schemas.openxmlformats.org/drawingml/2006/main" prst="round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823403-BF6B-4AD6-BD3D-03E5E79D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924550"/>
            <a:ext cx="2076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335"/>
          </a:solidFill>
          <a:ln xmlns:a="http://schemas.openxmlformats.org/drawingml/2006/main" w="9525">
            <a:solidFill>
              <a:srgbClr val="F5B33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B35057-2FBC-4C71-A266-213D1252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991225"/>
            <a:ext cx="1847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0E172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E1729"/>
                </a:solidFill>
                <a:latin typeface="Aptos"/>
                <a:ea typeface="Aptos"/>
                <a:cs typeface="Aptos"/>
              </a:rPr>
              <a:t>CURRENT PLATFORM · v9.8.8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1DA19A-D6B7-4B85-BC6D-1D9E4836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000750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pwestudio.online · production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66F3AA-70F0-409C-A818-40AA553B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E1B97B-341B-4B78-8336-112AFD93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PWE Studio  ·  Powered by Paradise Production · 天域文创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23AEC4-A859-43B0-B45A-F77883FE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08 / 10</a:t>
            </a:r>
          </a:p>
        </p:txBody>
      </p:sp>
    </p:spTree>
    <p:extLst>
      <p:ext uri="{BB962C8B-B14F-4D97-AF65-F5344CB8AC3E}">
        <p14:creationId xmlns:p14="http://schemas.microsoft.com/office/powerpoint/2010/main" val="6893017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13B07F-DAB3-458D-AFFF-6373BEA8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A1620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16207"/>
                </a:solidFill>
                <a:latin typeface="Aptos"/>
                <a:ea typeface="Aptos"/>
                <a:cs typeface="Aptos"/>
              </a:rPr>
              <a:t>PWE STUDIO  ·  CUSTOMER ROADSHOW / 客户路演版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46642F-0032-4178-9971-D20BC79C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>
                <a:solidFill>
                  <a:srgbClr val="0E1729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0E1729"/>
                </a:solidFill>
                <a:latin typeface="Georgia"/>
                <a:ea typeface="Georgia"/>
                <a:cs typeface="Georgia"/>
              </a:rPr>
              <a:t>Start focused. Grow with the studio.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48D5A2-EA6B-453F-8CD8-AEFA287D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先从清晰的范围开始，再随工作室成长。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C912F1-1611-488F-B7E9-6B021712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 transparent starting point. A scoped path to launch.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E9210C-E931-4260-8319-A53522F5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清晰的订阅起点，配合按范围交付的上线路径。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548DFA-E68B-4421-B8A4-1DC976E9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3162300" cy="2266950"/>
          </a:xfrm>
          <a:prstGeom xmlns:a="http://schemas.openxmlformats.org/drawingml/2006/main" prst="roundRect">
            <a:avLst>
              <a:gd name="adj" fmla="val 84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7D4FC-DA3E-4DC0-8C05-E0CF1703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E1729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0E1729"/>
                </a:solidFill>
                <a:latin typeface="Georgia"/>
                <a:ea typeface="Georgia"/>
                <a:cs typeface="Georgia"/>
              </a:rPr>
              <a:t>Starter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CA4755-F3E2-4CD6-A30D-17561828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起步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56B9E-88F6-4017-951B-50B94832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8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E1729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E1729"/>
                </a:solidFill>
                <a:latin typeface="Aptos"/>
                <a:ea typeface="Aptos"/>
                <a:cs typeface="Aptos"/>
              </a:rPr>
              <a:t>$49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5137DE-D463-45C4-9F1C-F098B8DB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295775"/>
            <a:ext cx="1181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AUD / month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3B48AC-4201-4F69-9F44-BD23088E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21CDF2-F855-4BA7-A924-D9D49D42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006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0E172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E1729"/>
                </a:solidFill>
                <a:latin typeface="Aptos"/>
                <a:ea typeface="Aptos"/>
                <a:cs typeface="Aptos"/>
              </a:rPr>
              <a:t>100 students · 15 works · 2 GB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2F746F-4DA3-4ABF-939F-6CE688D0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100 名学员 · 15 件作品 · 2 GB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AD17A6-FDC2-4CB4-962D-1226C219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43200"/>
            <a:ext cx="3162300" cy="2266950"/>
          </a:xfrm>
          <a:prstGeom xmlns:a="http://schemas.openxmlformats.org/drawingml/2006/main" prst="roundRect">
            <a:avLst>
              <a:gd name="adj" fmla="val 8403"/>
            </a:avLst>
          </a:prstGeom>
          <a:solidFill xmlns:a="http://schemas.openxmlformats.org/drawingml/2006/main">
            <a:srgbClr val="FBF0D8"/>
          </a:solidFill>
          <a:ln xmlns:a="http://schemas.openxmlformats.org/drawingml/2006/main" w="9525">
            <a:solidFill>
              <a:srgbClr val="F5B3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B5E8E3-E4C8-4619-97CE-1C7D7BCB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33700"/>
            <a:ext cx="1676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335"/>
          </a:solidFill>
          <a:ln xmlns:a="http://schemas.openxmlformats.org/drawingml/2006/main" w="9525">
            <a:solidFill>
              <a:srgbClr val="F5B3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B12256-1A8A-493E-8872-951219B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00375"/>
            <a:ext cx="1447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0E172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E1729"/>
                </a:solidFill>
                <a:latin typeface="Aptos"/>
                <a:ea typeface="Aptos"/>
                <a:cs typeface="Aptos"/>
              </a:rPr>
              <a:t>RECOMMENDED / 推荐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379F80-D054-4E80-9A19-415970DD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71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E1729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0E1729"/>
                </a:solidFill>
                <a:latin typeface="Georgia"/>
                <a:ea typeface="Georgia"/>
                <a:cs typeface="Georgia"/>
              </a:rPr>
              <a:t>Studio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35C94B-0BF4-4451-8B58-7B3B4BF6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766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A1620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A16207"/>
                </a:solidFill>
                <a:latin typeface="PingFang SC"/>
                <a:ea typeface="PingFang SC"/>
                <a:cs typeface="PingFang SC"/>
              </a:rPr>
              <a:t>工作室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941EC4-78A7-4D4B-920C-E5498B26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957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8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E1729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E1729"/>
                </a:solidFill>
                <a:latin typeface="Aptos"/>
                <a:ea typeface="Aptos"/>
                <a:cs typeface="Aptos"/>
              </a:rPr>
              <a:t>$99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18D8FE-26D1-42B5-B660-A15AF64D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95775"/>
            <a:ext cx="1181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A1620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16207"/>
                </a:solidFill>
                <a:latin typeface="Aptos"/>
                <a:ea typeface="Aptos"/>
                <a:cs typeface="Aptos"/>
              </a:rPr>
              <a:t>AUD / month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A395D8-E82D-4A42-8EC2-58C23AE3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6725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B33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A68539-E0EB-4257-97F2-0303A0C9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006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0E172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E1729"/>
                </a:solidFill>
                <a:latin typeface="Aptos"/>
                <a:ea typeface="Aptos"/>
                <a:cs typeface="Aptos"/>
              </a:rPr>
              <a:t>500 students · 60 works · 10 GB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8CA3E0-C6AF-4F84-A6DA-C85B57E5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04825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A1620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A16207"/>
                </a:solidFill>
                <a:latin typeface="PingFang SC"/>
                <a:ea typeface="PingFang SC"/>
                <a:cs typeface="PingFang SC"/>
              </a:rPr>
              <a:t>500 名学员 · 60 件作品 · 10 GB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CB2A0F-DA2E-4512-A973-0F3576E2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43200"/>
            <a:ext cx="3162300" cy="2266950"/>
          </a:xfrm>
          <a:prstGeom xmlns:a="http://schemas.openxmlformats.org/drawingml/2006/main" prst="roundRect">
            <a:avLst>
              <a:gd name="adj" fmla="val 84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C82F1E-1C03-4C61-99E8-72404979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71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E1729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0E1729"/>
                </a:solidFill>
                <a:latin typeface="Georgia"/>
                <a:ea typeface="Georgia"/>
                <a:cs typeface="Georgia"/>
              </a:rPr>
              <a:t>Growth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8AE67D-2330-447C-8FB5-A5555FD9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766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成长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CA145F-D741-46CA-9669-6AE42BF6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957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8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E1729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E1729"/>
                </a:solidFill>
                <a:latin typeface="Aptos"/>
                <a:ea typeface="Aptos"/>
                <a:cs typeface="Aptos"/>
              </a:rPr>
              <a:t>$199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7C93A2-5DA5-46BC-941F-C3A71E63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95775"/>
            <a:ext cx="1181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AUD / month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3B4AEB-0E8F-4A0C-990F-DF8567AD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6725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60330B-AD1D-4353-BA5C-30662932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006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0E172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E1729"/>
                </a:solidFill>
                <a:latin typeface="Aptos"/>
                <a:ea typeface="Aptos"/>
                <a:cs typeface="Aptos"/>
              </a:rPr>
              <a:t>1,000 students · 150 works · 50 GB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5F7284-1848-492C-B646-3B17C6FF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4825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1,000 名学员 · 150 件作品 · 50 GB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593421-A802-4416-8F34-DDE12385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Implementation, migration and training are scoped separately. Final price, GST and terms are confirmed in the signed order form.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4C32A2-B584-461D-98FB-BD7B22DF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配置、迁移与培训按范围报价；最终价格、GST、期限与条款以签署的订单为准。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379D65-D61F-4D32-A6B2-350550B7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A1620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16207"/>
                </a:solidFill>
                <a:latin typeface="Aptos"/>
                <a:ea typeface="Aptos"/>
                <a:cs typeface="Aptos"/>
              </a:rPr>
              <a:t>Available as multi-tenant SaaS or customer-owned Edition / 可选多租户 SaaS 或客户自有 Edition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53D43F-F8A1-488B-BB9F-A21DF2A5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A7B24F-C936-4E2C-80BC-70A17088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PWE Studio  ·  Powered by Paradise Production · 天域文创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97F0D5-71E9-4937-820B-88AC5FED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09 / 10</a:t>
            </a:r>
          </a:p>
        </p:txBody>
      </p:sp>
    </p:spTree>
    <p:extLst>
      <p:ext uri="{BB962C8B-B14F-4D97-AF65-F5344CB8AC3E}">
        <p14:creationId xmlns:p14="http://schemas.microsoft.com/office/powerpoint/2010/main" val="14196357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37e28d292c4595"/>
          <a:srcRect xmlns:a="http://schemas.openxmlformats.org/drawingml/2006/main" l="16042" t="0" r="160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34275" y="0"/>
            <a:ext cx="4657725" cy="6858000"/>
          </a:xfrm>
          <a:prstGeom xmlns:a="http://schemas.openxmlformats.org/drawingml/2006/main" prst="roundRect">
            <a:avLst>
              <a:gd name="adj" fmla="val 3272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18B41-7669-4C77-BDA0-4C96C55C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0"/>
            <a:ext cx="4657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bb5b9305e64852"/>
          <a:stretch xmlns:a="http://schemas.openxmlformats.org/drawingml/2006/main"/>
        </p:blipFill>
        <p:spPr>
          <a:xfrm xmlns:a="http://schemas.openxmlformats.org/drawingml/2006/main">
            <a:off x="685800" y="523875"/>
            <a:ext cx="1714500" cy="685800"/>
          </a:xfrm>
          <a:prstGeom xmlns:a="http://schemas.openxmlformats.org/drawingml/2006/main" prst="roundRect">
            <a:avLst>
              <a:gd name="adj" fmla="val 22222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E03DFD-636E-4C50-A02A-7E0066E5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A1620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16207"/>
                </a:solidFill>
                <a:latin typeface="Aptos"/>
                <a:ea typeface="Aptos"/>
                <a:cs typeface="Aptos"/>
              </a:rPr>
              <a:t>NEXT STEP / 下一步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F0BF6E-479C-4CD4-A738-58594F51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09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8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0E1729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0E1729"/>
                </a:solidFill>
                <a:latin typeface="Georgia"/>
                <a:ea typeface="Georgia"/>
                <a:cs typeface="Georgia"/>
              </a:rPr>
              <a:t>A 30-minute walkthrough, using your studio’s name.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E3848C-EADB-4BEC-BDC7-6D327238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用你的工作室名字，走一遍 30 分钟演示。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60BF39-21D2-4F08-A6FE-522175D0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Brand · surfaces · operations · launch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7AA769-3CD0-4A2A-AB12-4C7B0F67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A1620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16207"/>
                </a:solidFill>
                <a:latin typeface="PingFang SC"/>
                <a:ea typeface="PingFang SC"/>
                <a:cs typeface="PingFang SC"/>
              </a:rPr>
              <a:t>四步确认品牌、公开入口与上线节奏。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4637EF-259E-4278-867B-7D48A4D0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F5B3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B33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B719BB-2C76-44D2-A667-85F4739D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E172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729"/>
                </a:solidFill>
                <a:latin typeface="Aptos"/>
                <a:ea typeface="Aptos"/>
                <a:cs typeface="Aptos"/>
              </a:rPr>
              <a:t>Brand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6E4994-30B1-42B8-895C-66ECE5F4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品牌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35E845-817C-4B37-BAF4-3823FA96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0482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F5B3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B33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B185B5-CF08-44BD-AD63-81175A30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267325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E172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729"/>
                </a:solidFill>
                <a:latin typeface="Aptos"/>
                <a:ea typeface="Aptos"/>
                <a:cs typeface="Aptos"/>
              </a:rPr>
              <a:t>Public surfaces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D251BB-9A5B-4A14-B9FF-60F3ED66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52450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公开入口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2E7259-8BC3-40D3-88C3-7BA66CF4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0482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F5B3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B33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118412-25A0-4AFA-A586-338994FE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267325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E172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729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3CB89C-45FB-4E5C-94C4-01A8C35F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52450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运营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C684E0-3C5C-4F73-81A3-21328036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482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F5B3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B33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923DB6-A79B-40A4-A2B7-D167B161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67325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E172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729"/>
                </a:solidFill>
                <a:latin typeface="Aptos"/>
                <a:ea typeface="Aptos"/>
                <a:cs typeface="Aptos"/>
              </a:rPr>
              <a:t>Launch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B6CFAC-380A-40E5-8FE8-A9AE29BD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2450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上线路径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718E9B-CAD0-47DA-92C7-339F1F2B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C3E167-6758-4585-A4C9-39FB61B9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1620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16207"/>
                </a:solidFill>
                <a:latin typeface="Aptos"/>
                <a:ea typeface="Aptos"/>
                <a:cs typeface="Aptos"/>
              </a:rPr>
              <a:t>pwestudio.online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CC222A-5AA9-4032-91CD-6D874638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115050"/>
            <a:ext cx="2876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让系统退到幕后，把作品放回台前。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516101-04CB-44E7-8927-DEECC63B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341730-DD04-4212-8F1C-BF530BF6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PWE Studio  ·  Powered by Paradise Production · 天域文创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635FAC-48AB-42A8-87D4-78DA52AD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6562351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2026-08-11T13:17:09.2590000Z</dcterms:created>
  <dcterms:modified xsi:type="dcterms:W3CDTF">2026-08-11T13:17:09.2590000Z</dcterms:modified>
</coreProperties>
</file>