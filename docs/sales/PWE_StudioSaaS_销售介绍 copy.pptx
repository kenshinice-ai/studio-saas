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开场:一句话定位——小型创意教育机构的一体化操作系统。强调四个界面覆盖获客到运营全流程。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共情页:先让对方点头。四个痛点分别对应后面四个产品能力页(报名→审核漏斗,课时→账本,收退费→权限,门面→门户+品牌)。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架构页:四个界面职责分明——获客(门户/报名)、运营(CMS)、品牌(Studio Admin)。平台控制台顺带引出隐私卖点。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卖点:官网不是模板站,是和运营打通的获客入口——报名直接进 CMS 审核队列,来源自动归因。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对比微信接龙:字段完整、防刷防重、有审核队列。转为学员后自动进入课时体系,是和 Excel 最大的差别。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核心差异:课时是账本不是格子。Excel 里数字可以被覆盖,这里每一笔都是流水+审计,家长质疑时可以逐条对账。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面向店主的安心感:钱和课时的动作全部有角色边界+审计。七种角色开箱即用,老师看不到财务,前台不能退费。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演示钩子:现场选行业模板,10 秒换一套主题。强调不写定制代码也能像定制——这是 setup 费能落地的原因之一。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前台最大的时间黑洞是重复答疑。访问码自助区把「还剩几节课」变成家长自己查,同时是隐私安全的:短会话+可撤销。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回答「数据安全吗」:三层——租户隔离(201 项测试)、角色权限+审计、未成年人同意链。平台方自己也被审计,这点别家很少做到。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锚定:Studio 99 是主推档。Setup 费用当场解释为「替你把系统装好、数据搬好、人教会」——见下一页流程。所有价格均为澳元。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化解 setup fee 异议:这不是软件费,是交付服务费——配置、迁移、培训都是人力交付。迁移只保留核心数据,干净上线。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收尾:演示承诺具体(30 分钟、现场生成门户)。留下试点名额稀缺感,但不过度承诺。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81160" y="960120"/>
            <a:ext cx="1737360" cy="1737360"/>
          </a:xfrm>
          <a:prstGeom prst="star4">
            <a:avLst/>
          </a:prstGeom>
          <a:solidFill>
            <a:srgbClr val="FBBF24">
              <a:alpha val="9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18520" y="2880360"/>
            <a:ext cx="777240" cy="777240"/>
          </a:xfrm>
          <a:prstGeom prst="star4">
            <a:avLst/>
          </a:prstGeom>
          <a:solidFill>
            <a:srgbClr val="FBBF24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3931920"/>
            <a:ext cx="384048" cy="384048"/>
          </a:xfrm>
          <a:prstGeom prst="star4">
            <a:avLst/>
          </a:prstGeom>
          <a:solidFill>
            <a:srgbClr val="FBBF24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3291840"/>
            <a:ext cx="237744" cy="237744"/>
          </a:xfrm>
          <a:prstGeom prst="star4">
            <a:avLst/>
          </a:prstGeom>
          <a:solidFill>
            <a:srgbClr val="FBBF24">
              <a:alpha val="45000"/>
            </a:srgbClr>
          </a:solidFill>
          <a:ln/>
        </p:spPr>
      </p:sp>
      <p:pic>
        <p:nvPicPr>
          <p:cNvPr id="6" name="Image 0" descr="/Users/llmacbookpro/Library/Mobile Documents/com~apple~CloudDocs/studiosaa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2651760" cy="6728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146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创意工作室的一体化操作系统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官网获客 · 在线报名 · 课时运营 · 品牌管理 —— 一套系统全部搞定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404164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面向美术 / 音乐 / 舞蹈工作室与培训机构的多租户 SaaS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5120640"/>
            <a:ext cx="1120140" cy="40233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120640"/>
            <a:ext cx="11201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多租户隔离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171700" y="5120640"/>
            <a:ext cx="978408" cy="40233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71700" y="512064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中英双语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378708" y="5120640"/>
            <a:ext cx="1970532" cy="40233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78708" y="5120640"/>
            <a:ext cx="19705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四个界面 · 一个后台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577840" y="5120640"/>
            <a:ext cx="1261872" cy="40233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0" y="512064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v7.7.7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PWE Studio SaaS · 销售介绍 ·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82880" cy="182880"/>
          </a:xfrm>
          <a:prstGeom prst="star4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现状与痛点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小机构的运营,散落在五个地方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4160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报名在微信群、课时在 Excel、收据在抽屉里。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机构越用心教学,行政越混乱:信息只在某个人的手机里,家长每一次询问都要人工翻记录,数据永远对不齐。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“一个老师,三四个工具,没有一个是为工作室设计的。”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换系统的目的不是数字化,是把人从行政琐事里解放出来,回到教学本身。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2103120"/>
            <a:ext cx="3246120" cy="178308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285232" y="2359152"/>
            <a:ext cx="475488" cy="47548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8859" y="2482779"/>
            <a:ext cx="228234" cy="2282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9788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报名靠微信接龙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303520" y="30175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群消息刷屏,报名字段不全,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汇总全靠手工复制粘贴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366760" y="2103120"/>
            <a:ext cx="3246120" cy="178308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8622792" y="2359152"/>
            <a:ext cx="475488" cy="47548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419" y="2482779"/>
            <a:ext cx="228234" cy="22823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23544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课时记在 Excel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8641080" y="30175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谁上过课、还剩几次,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全凭一张随时可能改乱的表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029200" y="4114800"/>
            <a:ext cx="3246120" cy="178308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18" name="Shape 14"/>
          <p:cNvSpPr/>
          <p:nvPr/>
        </p:nvSpPr>
        <p:spPr>
          <a:xfrm>
            <a:off x="5285232" y="4370832"/>
            <a:ext cx="475488" cy="47548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859" y="4494459"/>
            <a:ext cx="228234" cy="22823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897880" y="4389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收退费缺少留痕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5303520" y="50292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口头承诺多、对账困难,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退费纠纷说不清楚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366760" y="4114800"/>
            <a:ext cx="3246120" cy="178308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23" name="Shape 18"/>
          <p:cNvSpPr/>
          <p:nvPr/>
        </p:nvSpPr>
        <p:spPr>
          <a:xfrm>
            <a:off x="8622792" y="4370832"/>
            <a:ext cx="475488" cy="47548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6419" y="4494459"/>
            <a:ext cx="228234" cy="22823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35440" y="4389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线上门面缺位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8641080" y="50292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没有像样的官网与作品展示,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获客只能靠转介绍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82880" cy="182880"/>
          </a:xfrm>
          <a:prstGeom prst="star4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产品总览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每家机构开通即得四个界面,平台侧一个控制台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2560320" cy="2907792"/>
          </a:xfrm>
          <a:prstGeom prst="roundRect">
            <a:avLst>
              <a:gd name="adj" fmla="val 32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828800"/>
            <a:ext cx="512064" cy="512064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809" y="1961937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487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门户 Portal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/&lt;机构名&gt;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04672" y="3218688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公开官网:课程 · 作品集 · FAQ</a:t>
            </a:r>
            <a:endParaRPr lang="en-US" sz="10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页内直接报名,不跳转</a:t>
            </a:r>
            <a:endParaRPr lang="en-US" sz="10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学员自助区入口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92424" y="1572768"/>
            <a:ext cx="2560320" cy="2907792"/>
          </a:xfrm>
          <a:prstGeom prst="roundRect">
            <a:avLst>
              <a:gd name="adj" fmla="val 32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48456" y="1828800"/>
            <a:ext cx="512064" cy="512064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593" y="1961937"/>
            <a:ext cx="245791" cy="24579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48456" y="2487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快速报名 Register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48456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/&lt;机构名&gt;/register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648456" y="3218688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独立报名页,可扫码直达</a:t>
            </a:r>
            <a:endParaRPr lang="en-US" sz="10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机构自定义报名问题</a:t>
            </a:r>
            <a:endParaRPr lang="en-US" sz="10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与门户共用同一审核流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36208" y="1572768"/>
            <a:ext cx="2560320" cy="2907792"/>
          </a:xfrm>
          <a:prstGeom prst="roundRect">
            <a:avLst>
              <a:gd name="adj" fmla="val 32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92240" y="1828800"/>
            <a:ext cx="512064" cy="512064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377" y="1961937"/>
            <a:ext cx="245791" cy="24579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92240" y="2487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 CMS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9224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/&lt;机构名&gt;/cms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492240" y="3218688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学员 · 排课 · 签到 · 课时</a:t>
            </a:r>
            <a:endParaRPr lang="en-US" sz="10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收退费 · 报名审核 · 日志</a:t>
            </a:r>
            <a:endParaRPr lang="en-US" sz="10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作品集与数据统计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9079992" y="1572768"/>
            <a:ext cx="2560320" cy="2907792"/>
          </a:xfrm>
          <a:prstGeom prst="roundRect">
            <a:avLst>
              <a:gd name="adj" fmla="val 32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336024" y="1828800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9161" y="1961937"/>
            <a:ext cx="245791" cy="24579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336024" y="2487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品牌工作台 Studio Admin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9336024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/&lt;机构名&gt;/studio-admin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9336024" y="3218688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· 配色 · 双语文案</a:t>
            </a:r>
            <a:endParaRPr lang="en-US" sz="10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报名字段配置与预览</a:t>
            </a:r>
            <a:endParaRPr lang="en-US" sz="10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草稿 → 发布 → 版本回滚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548640" y="480060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</p:spPr>
      </p:sp>
      <p:sp>
        <p:nvSpPr>
          <p:cNvPr id="31" name="Shape 25"/>
          <p:cNvSpPr/>
          <p:nvPr/>
        </p:nvSpPr>
        <p:spPr>
          <a:xfrm>
            <a:off x="868680" y="5166360"/>
            <a:ext cx="512064" cy="512064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817" y="5299497"/>
            <a:ext cx="245791" cy="245791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600200" y="50017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· 商业控制台(平台侧)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1600200" y="5385816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租户开通 / 套餐与账单 / 用量监控 / 审计日志 —— 平台方不接触学员敏感数据,进店必须走留痕的支持模式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82880" cy="182880"/>
          </a:xfrm>
          <a:prstGeom prst="star4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获客 · 门户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一个拿得出手的官网,报名不再流失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9436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自带公开官网</a:t>
            </a:r>
            <a:endParaRPr lang="en-US" sz="135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课程介绍、师资与作品集、FAQ、联系方式,开通即上线</a:t>
            </a:r>
            <a:endParaRPr lang="en-US" sz="13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页内报名,零跳转</a:t>
            </a:r>
            <a:endParaRPr lang="en-US" sz="135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访客在官网内直接完成报名,减少流失;也可用独立报名页扫码直达</a:t>
            </a:r>
            <a:endParaRPr lang="en-US" sz="13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中英双语一键切换</a:t>
            </a:r>
            <a:endParaRPr lang="en-US" sz="135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所有公开文案双语维护,面向多语言家庭的社区尤其有效</a:t>
            </a:r>
            <a:endParaRPr lang="en-US" sz="13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来源可追踪</a:t>
            </a:r>
            <a:endParaRPr lang="en-US" sz="135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报名自动记录来源渠道与 UTM 参数,知道每个学员从哪里来</a:t>
            </a:r>
            <a:endParaRPr lang="en-US" sz="13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学员自助区入口</a:t>
            </a:r>
            <a:endParaRPr lang="en-US" sz="135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老学员凭访问码自助查询,减少前台重复答疑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903720" y="1737360"/>
            <a:ext cx="4709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03720" y="1737360"/>
            <a:ext cx="470916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7068312" y="1856232"/>
            <a:ext cx="109728" cy="10972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0" name="Shape 8"/>
          <p:cNvSpPr/>
          <p:nvPr/>
        </p:nvSpPr>
        <p:spPr>
          <a:xfrm>
            <a:off x="7269480" y="1856232"/>
            <a:ext cx="109728" cy="10972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7470648" y="1856232"/>
            <a:ext cx="109728" cy="10972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17556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yourstudio.example — 门户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32320" y="2286000"/>
            <a:ext cx="4251960" cy="1371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2450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让每个孩子爱上创作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60920" y="27980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every child learns to create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60920" y="3127248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360920" y="312724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立即报名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32320" y="3840480"/>
            <a:ext cx="1325880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42048" y="3950208"/>
            <a:ext cx="1106424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7242048" y="4498848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少儿美术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595360" y="3840480"/>
            <a:ext cx="1325880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05088" y="3950208"/>
            <a:ext cx="1106424" cy="5029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3" name="Text 21"/>
          <p:cNvSpPr/>
          <p:nvPr/>
        </p:nvSpPr>
        <p:spPr>
          <a:xfrm>
            <a:off x="8705088" y="4498848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素描进阶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058400" y="3840480"/>
            <a:ext cx="1325880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68128" y="3950208"/>
            <a:ext cx="1106424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8128" y="4498848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创意手工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32320" y="5193792"/>
            <a:ext cx="4251960" cy="749808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/>
        </p:spPr>
      </p:sp>
      <p:sp>
        <p:nvSpPr>
          <p:cNvPr id="28" name="Shape 26"/>
          <p:cNvSpPr/>
          <p:nvPr/>
        </p:nvSpPr>
        <p:spPr>
          <a:xfrm>
            <a:off x="7287768" y="5340096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5458968"/>
            <a:ext cx="219456" cy="219456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863840" y="5266944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学员自助区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姓名 + 手机号 + 访问码,查课时与作品集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82880" cy="182880"/>
          </a:xfrm>
          <a:prstGeom prst="star4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获客 · 报名审核漏斗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从访客到学员,每一步都有秩序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971800" cy="1051560"/>
          </a:xfrm>
          <a:prstGeom prst="chevron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03911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提交报名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971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门户或独立报名页,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字段由机构自定义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64408" y="1783080"/>
            <a:ext cx="2971800" cy="1051560"/>
          </a:xfrm>
          <a:prstGeom prst="chevron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3767328" y="203911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自动把关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67328" y="2971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限流防刷 + 蜜罐反机器人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重复报名检测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0176" y="1783080"/>
            <a:ext cx="2971800" cy="1051560"/>
          </a:xfrm>
          <a:prstGeom prst="chevron">
            <a:avLst/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6483096" y="203911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人工审核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83096" y="2971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待审队列,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 / 拒绝一目了然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95944" y="1783080"/>
            <a:ext cx="2971800" cy="105156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9198864" y="203911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转为学员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98864" y="2971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一键建档,进入课时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与签到体系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7178040" cy="192024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36168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自动把关,把垃圾流量挡在门外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4873752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4992624"/>
            <a:ext cx="219456" cy="21945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85800" y="5385816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限流防刷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 IP 每分钟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最多 5 次提交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154680" y="4873752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4992624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017520" y="5385816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蜜罐字段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机器人提交被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静默丢弃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5486400" y="4873752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2" y="4992624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349240" y="5385816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重复检测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疑似重复报名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自动提示,避免重复建档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8001000" y="4160520"/>
            <a:ext cx="3639312" cy="1920240"/>
          </a:xfrm>
          <a:prstGeom prst="roundRect">
            <a:avLst>
              <a:gd name="adj" fmla="val 4286"/>
            </a:avLst>
          </a:prstGeom>
          <a:solidFill>
            <a:srgbClr val="0F172A"/>
          </a:solidFill>
          <a:ln/>
        </p:spPr>
      </p:sp>
      <p:sp>
        <p:nvSpPr>
          <p:cNvPr id="30" name="Shape 25"/>
          <p:cNvSpPr/>
          <p:nvPr/>
        </p:nvSpPr>
        <p:spPr>
          <a:xfrm>
            <a:off x="8275320" y="4398264"/>
            <a:ext cx="457200" cy="45720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4517136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275320" y="4946904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全程留痕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谁审核、何时通过或拒绝,全部写入审计日志;来源与渠道随学员档案沉淀。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82880" cy="182880"/>
          </a:xfrm>
          <a:prstGeom prst="star4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 · CMS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签到即扣课时,每一节课都有账可查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40680" cy="452628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93392"/>
            <a:ext cx="475488" cy="47548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587" y="2117019"/>
            <a:ext cx="228234" cy="2282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44752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今日排课与签到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2697480"/>
            <a:ext cx="489204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852928"/>
            <a:ext cx="274320" cy="27432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2" name="Text 9"/>
          <p:cNvSpPr/>
          <p:nvPr/>
        </p:nvSpPr>
        <p:spPr>
          <a:xfrm>
            <a:off x="1417320" y="274320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小雨 · 少儿美术 16:00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840480" y="2743200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已签到 · 扣 1 课时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22960" y="3410712"/>
            <a:ext cx="489204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87552" y="3566160"/>
            <a:ext cx="274320" cy="27432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6" name="Text 13"/>
          <p:cNvSpPr/>
          <p:nvPr/>
        </p:nvSpPr>
        <p:spPr>
          <a:xfrm>
            <a:off x="1417320" y="345643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· 素描进阶 16:00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840480" y="3456432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已签到 · 扣 1 课时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22960" y="4123944"/>
            <a:ext cx="489204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87552" y="427939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1417320" y="41696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朵朵 · 创意手工 17:30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840480" y="4169664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余额不足 · 已拦截并提醒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22960" y="493776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签到自动扣减课时,余额不足当场拦截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老师用平板即可点名,前台无需二次录入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缺勤 / 补课情况在日志中可追溯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63640" y="1737360"/>
            <a:ext cx="5376672" cy="452628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37960" y="1993392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587" y="2117019"/>
            <a:ext cx="228234" cy="22823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159752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课时账本(流水式)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6537960" y="273405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03-02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7269480" y="27340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购买 10 次课包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10424160" y="27340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537960" y="3264408"/>
            <a:ext cx="48280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537960" y="330098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03-09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7269480" y="33009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到店签到(少儿美术)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10424160" y="33009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6537960" y="3831336"/>
            <a:ext cx="48280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537960" y="386791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03-16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7269480" y="38679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到店签到(少儿美术)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10424160" y="38679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</a:t>
            </a:r>
            <a:endParaRPr lang="en-US" sz="1250" dirty="0"/>
          </a:p>
        </p:txBody>
      </p:sp>
      <p:sp>
        <p:nvSpPr>
          <p:cNvPr id="38" name="Shape 34"/>
          <p:cNvSpPr/>
          <p:nvPr/>
        </p:nvSpPr>
        <p:spPr>
          <a:xfrm>
            <a:off x="6537960" y="4398264"/>
            <a:ext cx="48280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537960" y="44348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04-01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7269480" y="4434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退费冲减 · 店长操作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10424160" y="4434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</a:t>
            </a:r>
            <a:endParaRPr lang="en-US" sz="1250" dirty="0"/>
          </a:p>
        </p:txBody>
      </p:sp>
      <p:sp>
        <p:nvSpPr>
          <p:cNvPr id="42" name="Shape 38"/>
          <p:cNvSpPr/>
          <p:nvPr/>
        </p:nvSpPr>
        <p:spPr>
          <a:xfrm>
            <a:off x="6537960" y="5138928"/>
            <a:ext cx="4828032" cy="868680"/>
          </a:xfrm>
          <a:prstGeom prst="roundRect">
            <a:avLst>
              <a:gd name="adj" fmla="val 6316"/>
            </a:avLst>
          </a:prstGeom>
          <a:solidFill>
            <a:srgbClr val="FEF3C7"/>
          </a:solidFill>
          <a:ln/>
        </p:spPr>
      </p:sp>
      <p:sp>
        <p:nvSpPr>
          <p:cNvPr id="43" name="Text 39"/>
          <p:cNvSpPr/>
          <p:nvPr/>
        </p:nvSpPr>
        <p:spPr>
          <a:xfrm>
            <a:off x="6720840" y="5212080"/>
            <a:ext cx="4462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余额 = 每一笔流水之和。不是一个可以随手改掉的数字,每次变动都记录操作人、时间与原因。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82880" cy="182880"/>
          </a:xfrm>
          <a:prstGeom prst="star4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 · 收费与退费管控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谁能退费,系统说了算,不靠口头约定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044952"/>
                <a:gridCol w="1609344"/>
                <a:gridCol w="1609344"/>
                <a:gridCol w="1609344"/>
                <a:gridCol w="1609344"/>
                <a:gridCol w="1609344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操作 / 角色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店主 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店长 manager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老师 teacher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前台 front desk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员工 staff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收费与课时录入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课时退费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作品集对外分享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数据导出 / 经营报表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系统设置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98348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5202936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357" y="5317053"/>
            <a:ext cx="210678" cy="21067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53312" y="5148072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高危动作系统级上锁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退费与对外分享仅限店主/店长,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权限写死在后端,前端绕不过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34256" y="498348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562856" y="5202936"/>
            <a:ext cx="438912" cy="438912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973" y="5317053"/>
            <a:ext cx="210678" cy="21067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38928" y="5148072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前台能收不能退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前台可录入收费与课时,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退费必须升级到管理层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119872" y="498348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16" name="Shape 11"/>
          <p:cNvSpPr/>
          <p:nvPr/>
        </p:nvSpPr>
        <p:spPr>
          <a:xfrm>
            <a:off x="8348472" y="5202936"/>
            <a:ext cx="438912" cy="438912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589" y="5317053"/>
            <a:ext cx="210678" cy="21067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24544" y="5148072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每一步有审计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谁在何时退了几节课,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审计日志一查便知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82880" cy="182880"/>
          </a:xfrm>
          <a:prstGeom prst="star4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 · 个性化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你的机构,长你自己的样子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8521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套行业模板一键套用</a:t>
            </a:r>
            <a:endParaRPr lang="en-US" sz="135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美术 / 音乐 / 数学 / 舞蹈 / 语言 / 运动 / 编程 / 通用——含行业文案、报名问题与推荐主题,可一键撤销</a:t>
            </a:r>
            <a:endParaRPr lang="en-US" sz="13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套专业配色主题 · 15 个明暗变体</a:t>
            </a:r>
            <a:endParaRPr lang="en-US" sz="135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每个颜色值按 WCAG 无障碍对比度逐值求解,不是随手挑的</a:t>
            </a:r>
            <a:endParaRPr lang="en-US" sz="13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中英双语全覆盖</a:t>
            </a:r>
            <a:endParaRPr lang="en-US" sz="135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公开页所有文案两种语言分别维护</a:t>
            </a:r>
            <a:endParaRPr lang="en-US" sz="13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报名字段自定义</a:t>
            </a:r>
            <a:endParaRPr lang="en-US" sz="135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想问什么就问什么:年龄、经验、过敏史……</a:t>
            </a:r>
            <a:endParaRPr lang="en-US" sz="13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草稿 → 预览 → 发布 → 版本回滚</a:t>
            </a:r>
            <a:endParaRPr lang="en-US" sz="135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改错了随时回到上一版,不影响线上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12280" y="1783080"/>
            <a:ext cx="2395728" cy="969264"/>
          </a:xfrm>
          <a:prstGeom prst="roundRect">
            <a:avLst>
              <a:gd name="adj" fmla="val 7547"/>
            </a:avLst>
          </a:prstGeom>
          <a:solidFill>
            <a:srgbClr val="F3EC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95160" y="2066544"/>
            <a:ext cx="402336" cy="402336"/>
          </a:xfrm>
          <a:prstGeom prst="ellipse">
            <a:avLst/>
          </a:prstGeom>
          <a:solidFill>
            <a:srgbClr val="CE9985"/>
          </a:solidFill>
          <a:ln/>
        </p:spPr>
      </p:sp>
      <p:sp>
        <p:nvSpPr>
          <p:cNvPr id="9" name="Text 7"/>
          <p:cNvSpPr/>
          <p:nvPr/>
        </p:nvSpPr>
        <p:spPr>
          <a:xfrm>
            <a:off x="7525512" y="192938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陶土工坊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525512" y="22860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明暗双模式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372600" y="1783080"/>
            <a:ext cx="2395728" cy="969264"/>
          </a:xfrm>
          <a:prstGeom prst="roundRect">
            <a:avLst>
              <a:gd name="adj" fmla="val 7547"/>
            </a:avLst>
          </a:prstGeom>
          <a:solidFill>
            <a:srgbClr val="F3EF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55480" y="2066544"/>
            <a:ext cx="402336" cy="402336"/>
          </a:xfrm>
          <a:prstGeom prst="ellipse">
            <a:avLst/>
          </a:prstGeom>
          <a:solidFill>
            <a:srgbClr val="C49F74"/>
          </a:solidFill>
          <a:ln/>
        </p:spPr>
      </p:sp>
      <p:sp>
        <p:nvSpPr>
          <p:cNvPr id="13" name="Text 11"/>
          <p:cNvSpPr/>
          <p:nvPr/>
        </p:nvSpPr>
        <p:spPr>
          <a:xfrm>
            <a:off x="10085832" y="192938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复古印刷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85832" y="22860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明暗双模式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12280" y="2898648"/>
            <a:ext cx="2395728" cy="969264"/>
          </a:xfrm>
          <a:prstGeom prst="roundRect">
            <a:avLst>
              <a:gd name="adj" fmla="val 7547"/>
            </a:avLst>
          </a:prstGeom>
          <a:solidFill>
            <a:srgbClr val="EFEE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3182112"/>
            <a:ext cx="402336" cy="402336"/>
          </a:xfrm>
          <a:prstGeom prst="ellipse">
            <a:avLst/>
          </a:prstGeom>
          <a:solidFill>
            <a:srgbClr val="8A8580"/>
          </a:solidFill>
          <a:ln/>
        </p:spPr>
      </p:sp>
      <p:sp>
        <p:nvSpPr>
          <p:cNvPr id="17" name="Text 15"/>
          <p:cNvSpPr/>
          <p:nvPr/>
        </p:nvSpPr>
        <p:spPr>
          <a:xfrm>
            <a:off x="7525512" y="304495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黑白纸墨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25512" y="34015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明暗双模式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372600" y="2898648"/>
            <a:ext cx="2395728" cy="969264"/>
          </a:xfrm>
          <a:prstGeom prst="roundRect">
            <a:avLst>
              <a:gd name="adj" fmla="val 7547"/>
            </a:avLst>
          </a:prstGeom>
          <a:solidFill>
            <a:srgbClr val="E9EF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55480" y="3182112"/>
            <a:ext cx="402336" cy="402336"/>
          </a:xfrm>
          <a:prstGeom prst="ellipse">
            <a:avLst/>
          </a:prstGeom>
          <a:solidFill>
            <a:srgbClr val="5B95B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85832" y="304495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静谧海港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085832" y="34015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明暗双模式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12280" y="4014216"/>
            <a:ext cx="2395728" cy="969264"/>
          </a:xfrm>
          <a:prstGeom prst="roundRect">
            <a:avLst>
              <a:gd name="adj" fmla="val 7547"/>
            </a:avLst>
          </a:prstGeom>
          <a:solidFill>
            <a:srgbClr val="EBF2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95160" y="4297680"/>
            <a:ext cx="402336" cy="402336"/>
          </a:xfrm>
          <a:prstGeom prst="ellipse">
            <a:avLst/>
          </a:prstGeom>
          <a:solidFill>
            <a:srgbClr val="4F9E77"/>
          </a:solidFill>
          <a:ln/>
        </p:spPr>
      </p:sp>
      <p:sp>
        <p:nvSpPr>
          <p:cNvPr id="25" name="Text 23"/>
          <p:cNvSpPr/>
          <p:nvPr/>
        </p:nvSpPr>
        <p:spPr>
          <a:xfrm>
            <a:off x="7525512" y="416052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雪松林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25512" y="4517136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明暗双模式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372600" y="4014216"/>
            <a:ext cx="2395728" cy="969264"/>
          </a:xfrm>
          <a:prstGeom prst="roundRect">
            <a:avLst>
              <a:gd name="adj" fmla="val 7547"/>
            </a:avLst>
          </a:prstGeom>
          <a:solidFill>
            <a:srgbClr val="F0EB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55480" y="4297680"/>
            <a:ext cx="402336" cy="402336"/>
          </a:xfrm>
          <a:prstGeom prst="ellipse">
            <a:avLst/>
          </a:prstGeom>
          <a:solidFill>
            <a:srgbClr val="A97DB8"/>
          </a:solidFill>
          <a:ln/>
        </p:spPr>
      </p:sp>
      <p:sp>
        <p:nvSpPr>
          <p:cNvPr id="29" name="Text 27"/>
          <p:cNvSpPr/>
          <p:nvPr/>
        </p:nvSpPr>
        <p:spPr>
          <a:xfrm>
            <a:off x="10085832" y="416052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独奏紫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085832" y="4517136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明暗双模式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12280" y="5129784"/>
            <a:ext cx="2395728" cy="969264"/>
          </a:xfrm>
          <a:prstGeom prst="roundRect">
            <a:avLst>
              <a:gd name="adj" fmla="val 7547"/>
            </a:avLst>
          </a:prstGeom>
          <a:solidFill>
            <a:srgbClr val="F3EA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95160" y="5413248"/>
            <a:ext cx="402336" cy="402336"/>
          </a:xfrm>
          <a:prstGeom prst="ellipse">
            <a:avLst/>
          </a:prstGeom>
          <a:solidFill>
            <a:srgbClr val="C0788D"/>
          </a:solidFill>
          <a:ln/>
        </p:spPr>
      </p:sp>
      <p:sp>
        <p:nvSpPr>
          <p:cNvPr id="33" name="Text 31"/>
          <p:cNvSpPr/>
          <p:nvPr/>
        </p:nvSpPr>
        <p:spPr>
          <a:xfrm>
            <a:off x="7525512" y="527608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排练玫瑰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25512" y="563270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明暗双模式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372600" y="5129784"/>
            <a:ext cx="2395728" cy="969264"/>
          </a:xfrm>
          <a:prstGeom prst="roundRect">
            <a:avLst>
              <a:gd name="adj" fmla="val 7547"/>
            </a:avLst>
          </a:prstGeom>
          <a:solidFill>
            <a:srgbClr val="12180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55480" y="5413248"/>
            <a:ext cx="402336" cy="402336"/>
          </a:xfrm>
          <a:prstGeom prst="ellipse">
            <a:avLst/>
          </a:prstGeom>
          <a:solidFill>
            <a:srgbClr val="75B926"/>
          </a:solidFill>
          <a:ln/>
        </p:spPr>
      </p:sp>
      <p:sp>
        <p:nvSpPr>
          <p:cNvPr id="37" name="Text 35"/>
          <p:cNvSpPr/>
          <p:nvPr/>
        </p:nvSpPr>
        <p:spPr>
          <a:xfrm>
            <a:off x="10085832" y="527608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街机青柠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085832" y="563270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深色模式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12280" y="6263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内置主题实拍色 · 全部通过 WCAG AA 对比度校验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82880" cy="182880"/>
          </a:xfrm>
          <a:prstGeom prst="star4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家庭端 · 自助查询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家长不用装 App,也不用再问前台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6217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一个访问码,查清所有事</a:t>
            </a:r>
            <a:endParaRPr lang="en-US" sz="135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机构签发 6 位访问码,家长用 姓名 + 手机号 + 访问码 登入自助区</a:t>
            </a:r>
            <a:endParaRPr lang="en-US" sz="13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无需注册、无需下载</a:t>
            </a:r>
            <a:endParaRPr lang="en-US" sz="135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手机浏览器直接用,对家长零门槛</a:t>
            </a:r>
            <a:endParaRPr lang="en-US" sz="13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课时余额与消课记录</a:t>
            </a:r>
            <a:endParaRPr lang="en-US" sz="135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还剩几次课、每次课扣在哪一天,一目了然</a:t>
            </a:r>
            <a:endParaRPr lang="en-US" sz="13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孩子的作品集</a:t>
            </a:r>
            <a:endParaRPr lang="en-US" sz="135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机构上传的作品与成长记录,家长随时可看</a:t>
            </a:r>
            <a:endParaRPr lang="en-US" sz="13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安全的短时会话</a:t>
            </a:r>
            <a:endParaRPr lang="en-US" sz="135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会话一小时自动过期;访问码可随时撤销重发,错试有锁定保护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863840" y="1600200"/>
            <a:ext cx="2880360" cy="4663440"/>
          </a:xfrm>
          <a:prstGeom prst="roundRect">
            <a:avLst>
              <a:gd name="adj" fmla="val 6984"/>
            </a:avLst>
          </a:prstGeom>
          <a:solidFill>
            <a:srgbClr val="FFFFFF"/>
          </a:solidFill>
          <a:ln w="3175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69680" y="1728216"/>
            <a:ext cx="86868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8138160" y="198424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学员中心 · Student Area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38160" y="237744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2468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281160" y="262432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剩余课时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少儿美术 · 10 次卡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38160" y="3648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最近消课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0" y="3941064"/>
            <a:ext cx="2331720" cy="36576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8247888" y="39410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03-16 周六 16:00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829800" y="39410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38160" y="4398264"/>
            <a:ext cx="2331720" cy="36576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8247888" y="43982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03-09 周六 16:00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829800" y="43982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138160" y="4946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作品集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38160" y="5239512"/>
            <a:ext cx="512064" cy="512064"/>
          </a:xfrm>
          <a:prstGeom prst="roundRect">
            <a:avLst>
              <a:gd name="adj" fmla="val 8929"/>
            </a:avLst>
          </a:prstGeom>
          <a:solidFill>
            <a:srgbClr val="CE9985">
              <a:alpha val="7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741664" y="5239512"/>
            <a:ext cx="512064" cy="512064"/>
          </a:xfrm>
          <a:prstGeom prst="roundRect">
            <a:avLst>
              <a:gd name="adj" fmla="val 8929"/>
            </a:avLst>
          </a:prstGeom>
          <a:solidFill>
            <a:srgbClr val="77ABCF">
              <a:alpha val="7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345168" y="5239512"/>
            <a:ext cx="512064" cy="512064"/>
          </a:xfrm>
          <a:prstGeom prst="roundRect">
            <a:avLst>
              <a:gd name="adj" fmla="val 8929"/>
            </a:avLst>
          </a:prstGeom>
          <a:solidFill>
            <a:srgbClr val="F59E0B">
              <a:alpha val="7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948672" y="5239512"/>
            <a:ext cx="512064" cy="512064"/>
          </a:xfrm>
          <a:prstGeom prst="roundRect">
            <a:avLst>
              <a:gd name="adj" fmla="val 8929"/>
            </a:avLst>
          </a:prstGeom>
          <a:solidFill>
            <a:srgbClr val="6FB48F">
              <a:alpha val="7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5349240"/>
            <a:ext cx="6583680" cy="868680"/>
          </a:xfrm>
          <a:prstGeom prst="roundRect">
            <a:avLst>
              <a:gd name="adj" fmla="val 9474"/>
            </a:avLst>
          </a:prstGeom>
          <a:solidFill>
            <a:srgbClr val="FEF3C7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34924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省下来的,是前台每天几十次「还剩几节课」的重复回答,和家长等待答复的耐心。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82880" cy="182880"/>
          </a:xfrm>
          <a:prstGeom prst="star4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数据安全与隐私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孩子的数据,值得机构级的保护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31536" cy="2121408"/>
          </a:xfrm>
          <a:prstGeom prst="roundRect">
            <a:avLst>
              <a:gd name="adj" fmla="val 387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1572768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6596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 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60320" y="2002536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租户隔离自动化检查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2715768"/>
            <a:ext cx="4864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每家机构的数据严格隔离,跨店访问必须失败——每次发版 201 项隔离测试全绿才允许上线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08776" y="1691640"/>
            <a:ext cx="5431536" cy="2121408"/>
          </a:xfrm>
          <a:prstGeom prst="roundRect">
            <a:avLst>
              <a:gd name="adj" fmla="val 387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83096" y="1965960"/>
            <a:ext cx="157276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483096" y="196596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同意链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0456" y="2002536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未成年人照片保护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83096" y="2715768"/>
            <a:ext cx="4864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作品公开须记录监护人同意;同意与撤回是只增不改的事件链,撤回立即从公开区下线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87368"/>
            <a:ext cx="5431536" cy="2121408"/>
          </a:xfrm>
          <a:prstGeom prst="roundRect">
            <a:avLst>
              <a:gd name="adj" fmla="val 387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361688"/>
            <a:ext cx="1572768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6168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全程留痕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60320" y="439826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平台方进店必须亮牌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22960" y="5111496"/>
            <a:ext cx="4864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平台人员查看机构数据必须开启支持模式:填写原因、写入审计日志、页面横幅明示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08776" y="4087368"/>
            <a:ext cx="5431536" cy="2121408"/>
          </a:xfrm>
          <a:prstGeom prst="roundRect">
            <a:avLst>
              <a:gd name="adj" fmla="val 387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83096" y="4361688"/>
            <a:ext cx="1572768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6483096" y="436168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1–90 天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0456" y="439826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分享链接强制到期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83096" y="5111496"/>
            <a:ext cx="4864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作品集对外分享链接必须设定有效期,可随时撤销;失效链接立即拒绝访问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82880" cy="182880"/>
          </a:xfrm>
          <a:prstGeom prst="star4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定价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按机构规模选择,随时可以升级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91640"/>
          <a:ext cx="10543032" cy="914400"/>
        </p:xfrm>
        <a:graphic>
          <a:graphicData uri="http://schemas.openxmlformats.org/drawingml/2006/table">
            <a:tbl>
              <a:tblPr/>
              <a:tblGrid>
                <a:gridCol w="3410712"/>
                <a:gridCol w="2377440"/>
                <a:gridCol w="2377440"/>
                <a:gridCol w="2377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 49 / 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Studio · 推荐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 99 / 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 199 / 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学员上限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团队账号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存储空间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GB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GB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GB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公开官网 + 在线报名 + 作品集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邮件通知模板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数据导出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优先支持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适合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个人老师 / 起步工作室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主力档 · 成熟单店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多校区 / 扩张期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870448"/>
            <a:ext cx="10543032" cy="713232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587044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一次性 Setup 服务费 AUD 299–999:</a:t>
            </a:r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品牌配置 + 数据迁移 + 团队培训,按机构规模与迁移量一次报价,上线即可用。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82880" cy="182880"/>
          </a:xfrm>
          <a:prstGeom prst="star4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上线流程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从签约到开门营业,四步交付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37944" y="2103120"/>
            <a:ext cx="85039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1865376"/>
            <a:ext cx="475488" cy="47548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2578608" cy="233172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63624" y="2761488"/>
            <a:ext cx="548640" cy="54864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270" y="2904134"/>
            <a:ext cx="263347" cy="26334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342900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品牌配置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49808" y="3913632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套用行业模板,配好 Logo、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配色、双语文案与报名问题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434840" y="1865376"/>
            <a:ext cx="475488" cy="47548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2"/>
          <p:cNvSpPr/>
          <p:nvPr/>
        </p:nvSpPr>
        <p:spPr>
          <a:xfrm>
            <a:off x="4434840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383280" y="2468880"/>
            <a:ext cx="2578608" cy="233172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98264" y="2761488"/>
            <a:ext cx="548640" cy="54864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910" y="2904134"/>
            <a:ext cx="263347" cy="26334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342900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数据导入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584448" y="3913632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学员名单与课时余额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Excel 一次性迁入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269480" y="1865376"/>
            <a:ext cx="475488" cy="47548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2" name="Text 18"/>
          <p:cNvSpPr/>
          <p:nvPr/>
        </p:nvSpPr>
        <p:spPr>
          <a:xfrm>
            <a:off x="7269480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6217920" y="2468880"/>
            <a:ext cx="2578608" cy="233172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232904" y="2761488"/>
            <a:ext cx="548640" cy="54864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550" y="2904134"/>
            <a:ext cx="263347" cy="263347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00800" y="342900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团队培训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419088" y="3913632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按角色各教各的:前台收费、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老师签到、店长看账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10104120" y="1865376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4"/>
          <p:cNvSpPr/>
          <p:nvPr/>
        </p:nvSpPr>
        <p:spPr>
          <a:xfrm>
            <a:off x="10104120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5"/>
          <p:cNvSpPr/>
          <p:nvPr/>
        </p:nvSpPr>
        <p:spPr>
          <a:xfrm>
            <a:off x="9052560" y="2468880"/>
            <a:ext cx="2578608" cy="233172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10067544" y="2761488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190" y="2904134"/>
            <a:ext cx="263347" cy="263347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235440" y="342900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正式上线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9253728" y="3913632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官网、报名、运营同日切换,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上线首周伴随支持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1F5F9"/>
          </a:solidFill>
          <a:ln/>
        </p:spPr>
      </p:sp>
      <p:sp>
        <p:nvSpPr>
          <p:cNvPr id="36" name="Text 30"/>
          <p:cNvSpPr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四步全部包含在一次性 Setup 服务费内(AUD 299–999)。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机构不需要懂技术:你提供名单和素材,我们负责让系统开门迎客。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822960"/>
            <a:ext cx="1371600" cy="1371600"/>
          </a:xfrm>
          <a:prstGeom prst="star4">
            <a:avLst/>
          </a:prstGeom>
          <a:solidFill>
            <a:srgbClr val="FBBF24">
              <a:alpha val="9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2377440"/>
            <a:ext cx="640080" cy="640080"/>
          </a:xfrm>
          <a:prstGeom prst="star4">
            <a:avLst/>
          </a:prstGeom>
          <a:solidFill>
            <a:srgbClr val="FBBF24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2651760"/>
            <a:ext cx="320040" cy="320040"/>
          </a:xfrm>
          <a:prstGeom prst="star4">
            <a:avLst/>
          </a:prstGeom>
          <a:solidFill>
            <a:srgbClr val="FBBF24">
              <a:alpha val="50000"/>
            </a:srgbClr>
          </a:solidFill>
          <a:ln/>
        </p:spPr>
      </p:sp>
      <p:pic>
        <p:nvPicPr>
          <p:cNvPr id="5" name="Image 0" descr="/Users/llmacbookpro/Library/Mobile Documents/com~apple~CloudDocs/studiosaa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2103120" cy="5336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把工作室搬进一个系统。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22960" y="33832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预约一次 30 分钟演示:用你机构的名字、品牌和课程,现场生成一个可预览的门户。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4297680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4206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在线演示环境 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studiosaas.cc.cd(试点环境,按需开放)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68680" y="4864608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47731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商务联系 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lee.liu@icloud.com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68680" y="5431536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534009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试点合作 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首批机构享受上线陪跑与优先反馈通道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296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PWE Studio SaaS · 多租户创意工作室操作系统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2026-07-26T16:32:11Z</dcterms:created>
  <dcterms:modified xsi:type="dcterms:W3CDTF">2026-07-26T16:32:11Z</dcterms:modified>
</cp:coreProperties>
</file>